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7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63" r:id="rId13"/>
    <p:sldId id="264" r:id="rId14"/>
    <p:sldId id="266" r:id="rId16"/>
    <p:sldId id="271" r:id="rId21"/>
    <p:sldId id="282" r:id="rId32"/>
    <p:sldId id="268" r:id="rId18"/>
    <p:sldId id="269" r:id="rId19"/>
    <p:sldId id="281" r:id="rId31"/>
    <p:sldId id="279" r:id="rId29"/>
    <p:sldId id="272" r:id="rId22"/>
    <p:sldId id="270" r:id="rId20"/>
    <p:sldId id="277" r:id="rId27"/>
    <p:sldId id="276" r:id="rId26"/>
    <p:sldId id="273" r:id="rId23"/>
    <p:sldId id="274" r:id="rId24"/>
    <p:sldId id="286" r:id="rId36"/>
  </p:sldIdLst>
  <p:sldSz cy="10287000" cx="18288000"/>
  <p:notesSz cx="6858000" cy="9144000"/>
  <p:embeddedFontLst>
    <p:embeddedFont>
      <p:font typeface="Urbanist"/>
      <p:regular r:id="rId37"/>
      <p:bold r:id="rId38"/>
      <p:italic r:id="rId39"/>
      <p:boldItalic r:id="rId40"/>
    </p:embeddedFont>
    <p:embeddedFont>
      <p:font typeface="Readex Pro Medium"/>
      <p:regular r:id="rId41"/>
      <p:bold r:id="rId42"/>
    </p:embeddedFont>
    <p:embeddedFont>
      <p:font typeface="Readex Pro SemiBold"/>
      <p:regular r:id="rId43"/>
      <p:bold r:id="rId44"/>
    </p:embeddedFont>
    <p:embeddedFont>
      <p:font typeface="Readex Pro"/>
      <p:regular r:id="rId45"/>
      <p:bold r:id="rId46"/>
    </p:embeddedFont>
    <p:embeddedFont>
      <p:font typeface="Readex Pro Light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h1GeQrG1kO//gaBT9ZQp796F1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ED9858-D163-4338-9E88-1F424354888F}">
  <a:tblStyle styleId="{B8ED9858-D163-4338-9E88-1F42435488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Urbanist-boldItalic.fntdata"/><Relationship Id="rId42" Type="http://schemas.openxmlformats.org/officeDocument/2006/relationships/font" Target="fonts/ReadexProMedium-bold.fntdata"/><Relationship Id="rId41" Type="http://schemas.openxmlformats.org/officeDocument/2006/relationships/font" Target="fonts/ReadexProMedium-regular.fntdata"/><Relationship Id="rId44" Type="http://schemas.openxmlformats.org/officeDocument/2006/relationships/font" Target="fonts/ReadexProSemiBold-bold.fntdata"/><Relationship Id="rId43" Type="http://schemas.openxmlformats.org/officeDocument/2006/relationships/font" Target="fonts/ReadexProSemiBold-regular.fntdata"/><Relationship Id="rId46" Type="http://schemas.openxmlformats.org/officeDocument/2006/relationships/font" Target="fonts/ReadexPro-bold.fntdata"/><Relationship Id="rId45" Type="http://schemas.openxmlformats.org/officeDocument/2006/relationships/font" Target="fonts/ReadexPr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48" Type="http://schemas.openxmlformats.org/officeDocument/2006/relationships/font" Target="fonts/ReadexProLight-bold.fntdata"/><Relationship Id="rId47" Type="http://schemas.openxmlformats.org/officeDocument/2006/relationships/font" Target="fonts/ReadexProLight-regular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7" Type="http://schemas.openxmlformats.org/officeDocument/2006/relationships/font" Target="fonts/Urbanist-regular.fntdata"/><Relationship Id="rId36" Type="http://schemas.openxmlformats.org/officeDocument/2006/relationships/slide" Target="slides/slide31.xml"/><Relationship Id="rId39" Type="http://schemas.openxmlformats.org/officeDocument/2006/relationships/font" Target="fonts/Urbanist-italic.fntdata"/><Relationship Id="rId38" Type="http://schemas.openxmlformats.org/officeDocument/2006/relationships/font" Target="fonts/Urbanist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السلام عليكم. نقدّم «رتّل»: منصة لتعلّم تلاوة القرآن الكريم برواية قالون عن نافع.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الفكرة في جملة: المتعلّم يتلو، والنموذج يستمع ويحدّد الكلمة الصحيحة والكلمة المتروكة لحظة بلحظة.</a:t>
            </a:r>
            <a:endParaRPr/>
          </a:p>
        </p:txBody>
      </p:sp>
      <p:sp>
        <p:nvSpPr>
          <p:cNvPr id="482" name="Google Shape;48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ستة أقسام: المشكلة، ثم الحل، ثم عرض التجربة الفعلية، ثم كيف تعمل النماذج، ثم النتائج والتزامنا بالمعيار العلمي للحزمة، وأخيراً الخطة والفريق.</a:t>
            </a:r>
            <a:endParaRPr/>
          </a:p>
        </p:txBody>
      </p:sp>
      <p:sp>
        <p:nvSpPr>
          <p:cNvPr id="496" name="Google Shape;49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رواية قالون عن نافع يقرأ بها أهل ليبيا وأجزاء من شمال أفريقيا وغربها، لكن أغلب أدوات التلاوة الذكية مبنية على رواية حفص.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اختبرنا النماذج الصوتية العامة على الكلمات التي تختلف فيها الروايتان: كتبت صيغة قالون في 47 إلى 68% فقط من الحالات.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والمبتدئ، كالمسلم الجديد، لا يقرأ العربية أصلاً، فيحتاج أن يبدأ من الحرف.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وأخطر ما في الأدوات الذكية أن تكمل النص من ذاكرتها فتعرض آية لم يتلُها المتعلّم على أنها صحيحة.</a:t>
            </a:r>
            <a:endParaRPr/>
          </a:p>
        </p:txBody>
      </p:sp>
      <p:sp>
        <p:nvSpPr>
          <p:cNvPr id="534" name="Google Shape;53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هذه لقطة حقيقية من التطبيق، لا تصميماً توضيحياً.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رفعنا تسجيلاً لسورة الإخلاص بصوت الشيخ وليد، وهو صوت لم يُستخدم في التدريب، وحذفنا منه الآية الثالثة عمداً.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النتيجة: الآيات الأولى والثانية والرابعة بالأخضر، والآية المتروكة بالأحمر، وفي الأسفل يظهر ما سمعه النموذج حرفياً.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يمكن تجربة ذلك مباشرة بالميكروفون أثناء العرض.</a:t>
            </a:r>
            <a:endParaRPr/>
          </a:p>
        </p:txBody>
      </p:sp>
      <p:sp>
        <p:nvSpPr>
          <p:cNvPr id="568" name="Google Shape;56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البحث بالصوت: يتلو المستخدم بضع كلمات أو يشغّل تسجيلاً، فنحدد السورة والآية.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في اختبارنا على 36 مقطعاً من ستة قرّاء، كانت الآية الصحيحة في النتيجة الأولى في كل الحالات، ومتوسط الزمن 0.18 ثانية على معالج عادي.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وإذا جاءت المطابقة خارج نطاق السور المدرّبة نعرضها «للاسترشاد» فقط.</a:t>
            </a:r>
            <a:endParaRPr/>
          </a:p>
        </p:txBody>
      </p:sp>
      <p:sp>
        <p:nvSpPr>
          <p:cNvPr id="584" name="Google Shape;58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كل الأرقام هنا مقيسة على صوت الشيخ وليد، ولم نستخدمه في التدريب إطلاقاً.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الخطأ في الكلمات 2% بسرعة عادية، مقابل نحو 25% لنموذجنا الأول.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في الكلمات الخاصة بقالون كتب النموذج صيغة قالون في كل الحالات.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دقة رصد التجويد 0.99 والاستدعاء 0.94، ولم يختلق النموذج أي آية متروكة.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للأمانة: عند التلاوة السريعة (1.25×) يرتفع الخطأ إلى 11.9%، ونعمل على تحسينه.</a:t>
            </a:r>
            <a:endParaRPr/>
          </a:p>
        </p:txBody>
      </p:sp>
      <p:sp>
        <p:nvSpPr>
          <p:cNvPr id="599" name="Google Shape;59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3" name="Google Shape;62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رتّل لا يحلّ محلّ الشيخ. هو شريك تدريب بين الحلقات، يستمع ويشير إلى موضع الخطأ، والحكم النهائي للمعلّم المُجاز.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مصادرنا من المراجع المعتمدة في الحزمة: نص قالون من مجمع الملك فهد، والتلاوات من mp3quran.net، وأحكام التجويد من منهج الهيئة العامة للأوقاف الليبية «المنهج العلمي في أحكام التجويد وأصول رواية الإمام قالون» (2022).</a:t>
            </a:r>
            <a:endParaRPr/>
          </a:p>
        </p:txBody>
      </p:sp>
      <p:sp>
        <p:nvSpPr>
          <p:cNvPr id="624" name="Google Shape;62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النموذج الأساسي rattil-qaloon-v4 بدأ من نموذج Whisper مدرّب مسبقاً على القرآن، ثم ضبطناه بالكامل على عشرة قرّاء لرواية قالون من mp3quran.net، بنحو 7,853 مقطعاً.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نموذج التجويد يبدأ من v4 ويضيف تسع علامات تجويد، ودرّبناه أيضاً على قراءة مجرّدة من الأحكام حتى يتعلّم ألا يختلق علامة لم تُنطق.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والنموذج الثالث نموذج تضمين دلالي يختار البدائل في التحديات.</a:t>
            </a:r>
            <a:endParaRPr/>
          </a:p>
        </p:txBody>
      </p:sp>
      <p:sp>
        <p:nvSpPr>
          <p:cNvPr id="635" name="Google Shape;63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7" name="Google Shape;64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الإصدار الحالي يغطي الفاتحة وجزء عمّ، أي 38 سورة في نطاق التعرّف.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الخطوة التالية مراجعة شرعية: لم يعتمد معلّم مُجاز ألوان التجويد بعد، ولذلك نعرضها على أنها مساعدة آلية.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ثم تسجيل أصوات متعلّمين حقيقيين بموافقتهم، لأن اختباراتنا حتى الآن على قرّاء محترفين.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ثم تعليم نموذج التجويد على أخطاء حقيقية، وأخيراً توسيع النطاق للقرآن كاملاً مع ترجمات معتمدة.</a:t>
            </a:r>
            <a:endParaRPr/>
          </a:p>
        </p:txBody>
      </p:sp>
      <p:sp>
        <p:nvSpPr>
          <p:cNvPr id="648" name="Google Shape;64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[عرّف بالفريق: الأسماء والأدوار والصور. الأدوار المكتوبة مستنتجة من سجل المستودع، فراجعها.]</a:t>
            </a:r>
            <a:endParaRPr/>
          </a:p>
        </p:txBody>
      </p:sp>
      <p:sp>
        <p:nvSpPr>
          <p:cNvPr id="684" name="Google Shape;68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5" name="Google Shape;72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راجعنا بنود المعيار العلمي في الحزمة واحداً واحداً.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الموثوقية: النص من مجمع الملك فهد، والتلاوات من mp3quran.net، وكلاهما مذكور في الحزمة.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مقاومة الهلوسة: النموذج لا يرى النص المتوقع، وعند الشك يقول «غير متأكد».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الشفافية: الواجهة تقول صراحة إنها أداة تدريب آلية، والكلمة الأخيرة للمعلّم المُجاز.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وبصراحة: مصدر التفسير الحالي ليس في القائمة المعتمدة، ونحن ننقله إلى موسوعة القرآن الكريم quranenc.com.</a:t>
            </a:r>
            <a:endParaRPr/>
          </a:p>
        </p:txBody>
      </p:sp>
      <p:sp>
        <p:nvSpPr>
          <p:cNvPr id="726" name="Google Shape;72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fa608e3085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8" name="Google Shape;738;g3fa608e3085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هذا هو المسار: نموذجنا الأول كان يخطئ في نحو ربع الكلمات.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أفضل نموذج قرآني عام دون تدريبنا: 4.36%.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بعد تدريبنا على قرّاء قالون المعتمدين نزل الخطأ إلى 2.64% ثم إلى 2% في الإصدار الحالي.</a:t>
            </a:r>
            <a:endParaRPr/>
          </a:p>
        </p:txBody>
      </p:sp>
      <p:sp>
        <p:nvSpPr>
          <p:cNvPr id="739" name="Google Shape;739;g3fa608e3085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4" name="Google Shape;81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أربع خطوات: الصوت يصل من المتصفح إلى خادم المشروع بتردد 16 كيلوهرتز.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النموذج يكتب ما سمعه «أعمى»، أي دون أن نعطيه النص المتوقع، حتى لا يكمل الآية من ذاكرته.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ثم نطابق ما سمعه مع نص مصحف قالون كلمة بكلمة. الكلمة لا تُعلَّم متروكة إلا بعد ملاحظتين متسقتين، والصمت وحده لا يُعدّ خطأ.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وعند ضعف الثقة تعرض الواجهة «التعرّف غير مؤكد» بدل حكم قد يكون خاطئاً.</a:t>
            </a:r>
            <a:endParaRPr/>
          </a:p>
        </p:txBody>
      </p:sp>
      <p:sp>
        <p:nvSpPr>
          <p:cNvPr id="815" name="Google Shape;81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9" name="Google Shape;839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من اليمين: مسار الدروس الذي يبدأ بالحروف وأصواتها، ثم صفحة التجويد على رواية قالون، ثم التحديات مثل «ما الآية التالية؟».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البدائل الخاطئة في التحديات يختارها نموذج دلالي حتى تكون متقاربة في المعنى، لا عشوائية.</a:t>
            </a:r>
            <a:endParaRPr/>
          </a:p>
        </p:txBody>
      </p:sp>
      <p:sp>
        <p:nvSpPr>
          <p:cNvPr id="840" name="Google Shape;840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5" name="Google Shape;85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المنصة فيها أربع تجارب: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تعلّم القراءة: خمس وحدات واثنان وعشرون درساً (نحو 270 خطوة) تبدأ من الحرف وصوته.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استوديو التلاوة: يستمع أثناء التلاوة ويلوّن كل كلمة.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التجويد برواية قالون: سبعة عشر مخرجاً، وصفات الحروف، وأحكام قالون، وخيار «افحص أحكامي».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والتحديات مع البحث عن آية بالصوت.</a:t>
            </a:r>
            <a:endParaRPr/>
          </a:p>
        </p:txBody>
      </p:sp>
      <p:sp>
        <p:nvSpPr>
          <p:cNvPr id="856" name="Google Shape;85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1" name="Google Shape;911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شكراً لكم. يسعدنا أن نعرض التطبيق مباشرة بالميكروفون والإجابة عن أسئلتكم.</a:t>
            </a:r>
            <a:endParaRPr/>
          </a:p>
        </p:txBody>
      </p:sp>
      <p:sp>
        <p:nvSpPr>
          <p:cNvPr id="912" name="Google Shape;912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غلاف المشروع">
  <p:cSld name="غلاف المشروع">
    <p:bg>
      <p:bgPr>
        <a:solidFill>
          <a:srgbClr val="12183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876872"/>
            <a:ext cx="6572250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8" y="3190875"/>
            <a:ext cx="6701734" cy="61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4"/>
          <p:cNvSpPr txBox="1"/>
          <p:nvPr>
            <p:ph type="title"/>
          </p:nvPr>
        </p:nvSpPr>
        <p:spPr>
          <a:xfrm>
            <a:off x="8096250" y="3524250"/>
            <a:ext cx="904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" name="Google Shape;17;p34"/>
          <p:cNvSpPr txBox="1"/>
          <p:nvPr>
            <p:ph idx="1" type="body"/>
          </p:nvPr>
        </p:nvSpPr>
        <p:spPr>
          <a:xfrm>
            <a:off x="8096250" y="5334000"/>
            <a:ext cx="904875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" name="Google Shape;18;p34"/>
          <p:cNvSpPr txBox="1"/>
          <p:nvPr>
            <p:ph idx="2" type="body"/>
          </p:nvPr>
        </p:nvSpPr>
        <p:spPr>
          <a:xfrm>
            <a:off x="8953500" y="7762875"/>
            <a:ext cx="8191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" name="Google Shape;19;p34"/>
          <p:cNvSpPr txBox="1"/>
          <p:nvPr>
            <p:ph idx="3" type="body"/>
          </p:nvPr>
        </p:nvSpPr>
        <p:spPr>
          <a:xfrm>
            <a:off x="1066800" y="9391650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يات العرض">
  <p:cSld name="محتويات العرض">
    <p:bg>
      <p:bgPr>
        <a:solidFill>
          <a:srgbClr val="12183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" name="Google Shape;24;p3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" name="Google Shape;25;p3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5"/>
          <p:cNvSpPr txBox="1"/>
          <p:nvPr>
            <p:ph idx="2" type="body"/>
          </p:nvPr>
        </p:nvSpPr>
        <p:spPr>
          <a:xfrm>
            <a:off x="12382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" name="Google Shape;28;p35"/>
          <p:cNvSpPr txBox="1"/>
          <p:nvPr>
            <p:ph idx="3" type="body"/>
          </p:nvPr>
        </p:nvSpPr>
        <p:spPr>
          <a:xfrm>
            <a:off x="12382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" name="Google Shape;29;p35"/>
          <p:cNvSpPr txBox="1"/>
          <p:nvPr>
            <p:ph idx="4" type="body"/>
          </p:nvPr>
        </p:nvSpPr>
        <p:spPr>
          <a:xfrm>
            <a:off x="12382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5" type="body"/>
          </p:nvPr>
        </p:nvSpPr>
        <p:spPr>
          <a:xfrm>
            <a:off x="7048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" name="Google Shape;31;p35"/>
          <p:cNvSpPr txBox="1"/>
          <p:nvPr>
            <p:ph idx="6" type="body"/>
          </p:nvPr>
        </p:nvSpPr>
        <p:spPr>
          <a:xfrm>
            <a:off x="7048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2" name="Google Shape;32;p35"/>
          <p:cNvSpPr txBox="1"/>
          <p:nvPr>
            <p:ph idx="7" type="body"/>
          </p:nvPr>
        </p:nvSpPr>
        <p:spPr>
          <a:xfrm>
            <a:off x="7048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3" name="Google Shape;33;p35"/>
          <p:cNvSpPr txBox="1"/>
          <p:nvPr>
            <p:ph idx="8" type="body"/>
          </p:nvPr>
        </p:nvSpPr>
        <p:spPr>
          <a:xfrm>
            <a:off x="1714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9" type="body"/>
          </p:nvPr>
        </p:nvSpPr>
        <p:spPr>
          <a:xfrm>
            <a:off x="1714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5" name="Google Shape;35;p35"/>
          <p:cNvSpPr txBox="1"/>
          <p:nvPr>
            <p:ph idx="13" type="body"/>
          </p:nvPr>
        </p:nvSpPr>
        <p:spPr>
          <a:xfrm>
            <a:off x="1714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4" type="body"/>
          </p:nvPr>
        </p:nvSpPr>
        <p:spPr>
          <a:xfrm>
            <a:off x="12382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5" type="body"/>
          </p:nvPr>
        </p:nvSpPr>
        <p:spPr>
          <a:xfrm>
            <a:off x="12382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6" type="body"/>
          </p:nvPr>
        </p:nvSpPr>
        <p:spPr>
          <a:xfrm>
            <a:off x="12382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9" name="Google Shape;39;p35"/>
          <p:cNvSpPr txBox="1"/>
          <p:nvPr>
            <p:ph idx="17" type="body"/>
          </p:nvPr>
        </p:nvSpPr>
        <p:spPr>
          <a:xfrm>
            <a:off x="7048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0" name="Google Shape;40;p35"/>
          <p:cNvSpPr txBox="1"/>
          <p:nvPr>
            <p:ph idx="18" type="body"/>
          </p:nvPr>
        </p:nvSpPr>
        <p:spPr>
          <a:xfrm>
            <a:off x="7048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1" name="Google Shape;41;p35"/>
          <p:cNvSpPr txBox="1"/>
          <p:nvPr>
            <p:ph idx="19" type="body"/>
          </p:nvPr>
        </p:nvSpPr>
        <p:spPr>
          <a:xfrm>
            <a:off x="7048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2" name="Google Shape;42;p35"/>
          <p:cNvSpPr txBox="1"/>
          <p:nvPr>
            <p:ph idx="20" type="body"/>
          </p:nvPr>
        </p:nvSpPr>
        <p:spPr>
          <a:xfrm>
            <a:off x="1714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3" name="Google Shape;43;p35"/>
          <p:cNvSpPr txBox="1"/>
          <p:nvPr>
            <p:ph idx="21" type="body"/>
          </p:nvPr>
        </p:nvSpPr>
        <p:spPr>
          <a:xfrm>
            <a:off x="1714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22" type="body"/>
          </p:nvPr>
        </p:nvSpPr>
        <p:spPr>
          <a:xfrm>
            <a:off x="1714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صل قسم">
  <p:cSld name="فاصل قسم">
    <p:bg>
      <p:bgPr>
        <a:solidFill>
          <a:srgbClr val="12183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87391"/>
            <a:ext cx="4000500" cy="102551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6"/>
          <p:cNvSpPr txBox="1"/>
          <p:nvPr>
            <p:ph idx="1" type="body"/>
          </p:nvPr>
        </p:nvSpPr>
        <p:spPr>
          <a:xfrm>
            <a:off x="13430250" y="3143250"/>
            <a:ext cx="36195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9" name="Google Shape;49;p36"/>
          <p:cNvSpPr txBox="1"/>
          <p:nvPr>
            <p:ph type="title"/>
          </p:nvPr>
        </p:nvSpPr>
        <p:spPr>
          <a:xfrm>
            <a:off x="4953000" y="4810125"/>
            <a:ext cx="12096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6667500" y="6572250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">
  <p:cSld name="أربع نقاط">
    <p:bg>
      <p:bgPr>
        <a:solidFill>
          <a:srgbClr val="12183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5" name="Google Shape;55;p3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6" name="Google Shape;56;p3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7" name="Google Shape;57;p3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58" name="Google Shape;58;p3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7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0" name="Google Shape;60;p37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1" name="Google Shape;61;p37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2" name="Google Shape;62;p37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3" name="Google Shape;63;p37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4" name="Google Shape;64;p37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5" name="Google Shape;65;p37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6" name="Google Shape;66;p37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رئيسي">
  <p:cSld name="نص رئيسي">
    <p:bg>
      <p:bgPr>
        <a:solidFill>
          <a:srgbClr val="12183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1" name="Google Shape;71;p3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2" name="Google Shape;72;p3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8"/>
          <p:cNvSpPr txBox="1"/>
          <p:nvPr>
            <p:ph idx="2" type="body"/>
          </p:nvPr>
        </p:nvSpPr>
        <p:spPr>
          <a:xfrm>
            <a:off x="6191250" y="4000500"/>
            <a:ext cx="1095375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5" name="Google Shape;75;p38"/>
          <p:cNvSpPr txBox="1"/>
          <p:nvPr>
            <p:ph idx="3" type="body"/>
          </p:nvPr>
        </p:nvSpPr>
        <p:spPr>
          <a:xfrm>
            <a:off x="6191250" y="7239000"/>
            <a:ext cx="1095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6" name="Google Shape;76;p38"/>
          <p:cNvSpPr txBox="1"/>
          <p:nvPr>
            <p:ph idx="4" type="body"/>
          </p:nvPr>
        </p:nvSpPr>
        <p:spPr>
          <a:xfrm>
            <a:off x="6191250" y="8001000"/>
            <a:ext cx="10953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عريضة">
  <p:cSld name="نص وصورة عريضة">
    <p:bg>
      <p:bgPr>
        <a:solidFill>
          <a:srgbClr val="12183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1" name="Google Shape;81;p3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2" name="Google Shape;82;p3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9"/>
          <p:cNvSpPr/>
          <p:nvPr>
            <p:ph idx="2" type="pic"/>
          </p:nvPr>
        </p:nvSpPr>
        <p:spPr>
          <a:xfrm>
            <a:off x="1428750" y="4048125"/>
            <a:ext cx="8382000" cy="4714875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9"/>
          <p:cNvSpPr txBox="1"/>
          <p:nvPr>
            <p:ph idx="3" type="body"/>
          </p:nvPr>
        </p:nvSpPr>
        <p:spPr>
          <a:xfrm>
            <a:off x="10763250" y="409575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idx="4" type="body"/>
          </p:nvPr>
        </p:nvSpPr>
        <p:spPr>
          <a:xfrm>
            <a:off x="10763250" y="480060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7" name="Google Shape;87;p39"/>
          <p:cNvSpPr txBox="1"/>
          <p:nvPr>
            <p:ph idx="5" type="body"/>
          </p:nvPr>
        </p:nvSpPr>
        <p:spPr>
          <a:xfrm>
            <a:off x="10763250" y="666750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8" name="Google Shape;88;p39"/>
          <p:cNvSpPr txBox="1"/>
          <p:nvPr>
            <p:ph idx="6" type="body"/>
          </p:nvPr>
        </p:nvSpPr>
        <p:spPr>
          <a:xfrm>
            <a:off x="10763250" y="737235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مربعة">
  <p:cSld name="نص وصورة مربعة">
    <p:bg>
      <p:bgPr>
        <a:solidFill>
          <a:srgbClr val="12183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3" name="Google Shape;93;p4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4" name="Google Shape;94;p4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95" name="Google Shape;95;p4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0"/>
          <p:cNvSpPr/>
          <p:nvPr>
            <p:ph idx="2" type="pic"/>
          </p:nvPr>
        </p:nvSpPr>
        <p:spPr>
          <a:xfrm>
            <a:off x="2190750" y="3476625"/>
            <a:ext cx="5715000" cy="571500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0"/>
          <p:cNvSpPr txBox="1"/>
          <p:nvPr>
            <p:ph idx="3" type="body"/>
          </p:nvPr>
        </p:nvSpPr>
        <p:spPr>
          <a:xfrm>
            <a:off x="10001250" y="3905250"/>
            <a:ext cx="7143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8" name="Google Shape;98;p40"/>
          <p:cNvSpPr txBox="1"/>
          <p:nvPr>
            <p:ph idx="4" type="body"/>
          </p:nvPr>
        </p:nvSpPr>
        <p:spPr>
          <a:xfrm>
            <a:off x="10001250" y="5191125"/>
            <a:ext cx="714375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9" name="Google Shape;99;p40"/>
          <p:cNvSpPr txBox="1"/>
          <p:nvPr>
            <p:ph idx="5" type="body"/>
          </p:nvPr>
        </p:nvSpPr>
        <p:spPr>
          <a:xfrm>
            <a:off x="10001250" y="8048625"/>
            <a:ext cx="7143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ؤشرات">
  <p:cSld name="مؤشرات">
    <p:bg>
      <p:bgPr>
        <a:solidFill>
          <a:srgbClr val="12183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1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4" name="Google Shape;104;p41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5" name="Google Shape;105;p41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6" name="Google Shape;106;p4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07" name="Google Shape;107;p4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9" name="Google Shape;109;p41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0" name="Google Shape;110;p41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3" name="Google Shape;113;p41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4" name="Google Shape;114;p41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5" name="Google Shape;115;p41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6" name="Google Shape;116;p41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7" name="Google Shape;117;p41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8" name="Google Shape;118;p41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9" name="Google Shape;119;p41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0" name="Google Shape;120;p41"/>
          <p:cNvSpPr txBox="1"/>
          <p:nvPr>
            <p:ph idx="18" type="body"/>
          </p:nvPr>
        </p:nvSpPr>
        <p:spPr>
          <a:xfrm>
            <a:off x="1714500" y="8763000"/>
            <a:ext cx="1543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رسالة رئيسية">
  <p:cSld name="رسالة رئيسية">
    <p:bg>
      <p:bgPr>
        <a:solidFill>
          <a:srgbClr val="F2F4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73" y="685800"/>
            <a:ext cx="399435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25" name="Google Shape;125;p4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2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7" name="Google Shape;127;p42"/>
          <p:cNvSpPr txBox="1"/>
          <p:nvPr>
            <p:ph idx="1" type="body"/>
          </p:nvPr>
        </p:nvSpPr>
        <p:spPr>
          <a:xfrm>
            <a:off x="3333750" y="6905625"/>
            <a:ext cx="1162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8" name="Google Shape;128;p42"/>
          <p:cNvSpPr txBox="1"/>
          <p:nvPr>
            <p:ph idx="2" type="body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داكن">
  <p:cSld name="جدول داكن">
    <p:bg>
      <p:bgPr>
        <a:solidFill>
          <a:srgbClr val="12183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3" name="Google Shape;133;p4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4" name="Google Shape;134;p4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5" name="Google Shape;135;p4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36" name="Google Shape;136;p4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3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8" name="Google Shape;138;p43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ط زمني">
  <p:cSld name="خط زمني">
    <p:bg>
      <p:bgPr>
        <a:solidFill>
          <a:srgbClr val="12183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4"/>
          <p:cNvSpPr/>
          <p:nvPr/>
        </p:nvSpPr>
        <p:spPr>
          <a:xfrm>
            <a:off x="14287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4"/>
          <p:cNvSpPr/>
          <p:nvPr/>
        </p:nvSpPr>
        <p:spPr>
          <a:xfrm>
            <a:off x="111442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80010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4"/>
          <p:cNvSpPr/>
          <p:nvPr/>
        </p:nvSpPr>
        <p:spPr>
          <a:xfrm>
            <a:off x="48577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4"/>
          <p:cNvSpPr/>
          <p:nvPr/>
        </p:nvSpPr>
        <p:spPr>
          <a:xfrm>
            <a:off x="1714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8" name="Google Shape;148;p4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9" name="Google Shape;149;p4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0" name="Google Shape;150;p4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51" name="Google Shape;151;p4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4"/>
          <p:cNvSpPr txBox="1"/>
          <p:nvPr>
            <p:ph idx="3" type="body"/>
          </p:nvPr>
        </p:nvSpPr>
        <p:spPr>
          <a:xfrm>
            <a:off x="14287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3" name="Google Shape;153;p44"/>
          <p:cNvSpPr txBox="1"/>
          <p:nvPr>
            <p:ph idx="4" type="body"/>
          </p:nvPr>
        </p:nvSpPr>
        <p:spPr>
          <a:xfrm>
            <a:off x="14287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4" name="Google Shape;154;p44"/>
          <p:cNvSpPr txBox="1"/>
          <p:nvPr>
            <p:ph idx="5" type="body"/>
          </p:nvPr>
        </p:nvSpPr>
        <p:spPr>
          <a:xfrm>
            <a:off x="14287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5" name="Google Shape;155;p44"/>
          <p:cNvSpPr txBox="1"/>
          <p:nvPr>
            <p:ph idx="6" type="body"/>
          </p:nvPr>
        </p:nvSpPr>
        <p:spPr>
          <a:xfrm>
            <a:off x="14287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6" name="Google Shape;156;p44"/>
          <p:cNvSpPr txBox="1"/>
          <p:nvPr>
            <p:ph idx="7" type="body"/>
          </p:nvPr>
        </p:nvSpPr>
        <p:spPr>
          <a:xfrm>
            <a:off x="111442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7" name="Google Shape;157;p44"/>
          <p:cNvSpPr txBox="1"/>
          <p:nvPr>
            <p:ph idx="8" type="body"/>
          </p:nvPr>
        </p:nvSpPr>
        <p:spPr>
          <a:xfrm>
            <a:off x="111442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8" name="Google Shape;158;p44"/>
          <p:cNvSpPr txBox="1"/>
          <p:nvPr>
            <p:ph idx="9" type="body"/>
          </p:nvPr>
        </p:nvSpPr>
        <p:spPr>
          <a:xfrm>
            <a:off x="111442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9" name="Google Shape;159;p44"/>
          <p:cNvSpPr txBox="1"/>
          <p:nvPr>
            <p:ph idx="13" type="body"/>
          </p:nvPr>
        </p:nvSpPr>
        <p:spPr>
          <a:xfrm>
            <a:off x="111442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0" name="Google Shape;160;p44"/>
          <p:cNvSpPr txBox="1"/>
          <p:nvPr>
            <p:ph idx="14" type="body"/>
          </p:nvPr>
        </p:nvSpPr>
        <p:spPr>
          <a:xfrm>
            <a:off x="80010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1" name="Google Shape;161;p44"/>
          <p:cNvSpPr txBox="1"/>
          <p:nvPr>
            <p:ph idx="15" type="body"/>
          </p:nvPr>
        </p:nvSpPr>
        <p:spPr>
          <a:xfrm>
            <a:off x="80010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2" name="Google Shape;162;p44"/>
          <p:cNvSpPr txBox="1"/>
          <p:nvPr>
            <p:ph idx="16" type="body"/>
          </p:nvPr>
        </p:nvSpPr>
        <p:spPr>
          <a:xfrm>
            <a:off x="80010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3" name="Google Shape;163;p44"/>
          <p:cNvSpPr txBox="1"/>
          <p:nvPr>
            <p:ph idx="17" type="body"/>
          </p:nvPr>
        </p:nvSpPr>
        <p:spPr>
          <a:xfrm>
            <a:off x="80010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4" name="Google Shape;164;p44"/>
          <p:cNvSpPr txBox="1"/>
          <p:nvPr>
            <p:ph idx="18" type="body"/>
          </p:nvPr>
        </p:nvSpPr>
        <p:spPr>
          <a:xfrm>
            <a:off x="48577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5" name="Google Shape;165;p44"/>
          <p:cNvSpPr txBox="1"/>
          <p:nvPr>
            <p:ph idx="19" type="body"/>
          </p:nvPr>
        </p:nvSpPr>
        <p:spPr>
          <a:xfrm>
            <a:off x="48577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6" name="Google Shape;166;p44"/>
          <p:cNvSpPr txBox="1"/>
          <p:nvPr>
            <p:ph idx="20" type="body"/>
          </p:nvPr>
        </p:nvSpPr>
        <p:spPr>
          <a:xfrm>
            <a:off x="48577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7" name="Google Shape;167;p44"/>
          <p:cNvSpPr txBox="1"/>
          <p:nvPr>
            <p:ph idx="21" type="body"/>
          </p:nvPr>
        </p:nvSpPr>
        <p:spPr>
          <a:xfrm>
            <a:off x="48577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8" name="Google Shape;168;p44"/>
          <p:cNvSpPr txBox="1"/>
          <p:nvPr>
            <p:ph idx="22" type="body"/>
          </p:nvPr>
        </p:nvSpPr>
        <p:spPr>
          <a:xfrm>
            <a:off x="1714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9" name="Google Shape;169;p44"/>
          <p:cNvSpPr txBox="1"/>
          <p:nvPr>
            <p:ph idx="23" type="body"/>
          </p:nvPr>
        </p:nvSpPr>
        <p:spPr>
          <a:xfrm>
            <a:off x="1714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0" name="Google Shape;170;p44"/>
          <p:cNvSpPr txBox="1"/>
          <p:nvPr>
            <p:ph idx="24" type="body"/>
          </p:nvPr>
        </p:nvSpPr>
        <p:spPr>
          <a:xfrm>
            <a:off x="1714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1" name="Google Shape;171;p44"/>
          <p:cNvSpPr txBox="1"/>
          <p:nvPr>
            <p:ph idx="25" type="body"/>
          </p:nvPr>
        </p:nvSpPr>
        <p:spPr>
          <a:xfrm>
            <a:off x="1714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ريق العمل">
  <p:cSld name="فريق العمل">
    <p:bg>
      <p:bgPr>
        <a:solidFill>
          <a:srgbClr val="12183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6" name="Google Shape;176;p4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7" name="Google Shape;177;p45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8" name="Google Shape;178;p4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79" name="Google Shape;179;p4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5"/>
          <p:cNvSpPr/>
          <p:nvPr>
            <p:ph idx="3" type="pic"/>
          </p:nvPr>
        </p:nvSpPr>
        <p:spPr>
          <a:xfrm>
            <a:off x="14192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5"/>
          <p:cNvSpPr txBox="1"/>
          <p:nvPr>
            <p:ph idx="4" type="body"/>
          </p:nvPr>
        </p:nvSpPr>
        <p:spPr>
          <a:xfrm>
            <a:off x="13716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2" name="Google Shape;182;p45"/>
          <p:cNvSpPr txBox="1"/>
          <p:nvPr>
            <p:ph idx="5" type="body"/>
          </p:nvPr>
        </p:nvSpPr>
        <p:spPr>
          <a:xfrm>
            <a:off x="13716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3" name="Google Shape;183;p45"/>
          <p:cNvSpPr/>
          <p:nvPr>
            <p:ph idx="6" type="pic"/>
          </p:nvPr>
        </p:nvSpPr>
        <p:spPr>
          <a:xfrm>
            <a:off x="10191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45"/>
          <p:cNvSpPr txBox="1"/>
          <p:nvPr>
            <p:ph idx="7" type="body"/>
          </p:nvPr>
        </p:nvSpPr>
        <p:spPr>
          <a:xfrm>
            <a:off x="9715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5" name="Google Shape;185;p45"/>
          <p:cNvSpPr txBox="1"/>
          <p:nvPr>
            <p:ph idx="8" type="body"/>
          </p:nvPr>
        </p:nvSpPr>
        <p:spPr>
          <a:xfrm>
            <a:off x="9715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6" name="Google Shape;186;p45"/>
          <p:cNvSpPr/>
          <p:nvPr>
            <p:ph idx="9" type="pic"/>
          </p:nvPr>
        </p:nvSpPr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45"/>
          <p:cNvSpPr txBox="1"/>
          <p:nvPr>
            <p:ph idx="13" type="body"/>
          </p:nvPr>
        </p:nvSpPr>
        <p:spPr>
          <a:xfrm>
            <a:off x="5715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8" name="Google Shape;188;p45"/>
          <p:cNvSpPr txBox="1"/>
          <p:nvPr>
            <p:ph idx="14" type="body"/>
          </p:nvPr>
        </p:nvSpPr>
        <p:spPr>
          <a:xfrm>
            <a:off x="5715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9" name="Google Shape;189;p45"/>
          <p:cNvSpPr/>
          <p:nvPr>
            <p:ph idx="15" type="pic"/>
          </p:nvPr>
        </p:nvSpPr>
        <p:spPr>
          <a:xfrm>
            <a:off x="2190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5"/>
          <p:cNvSpPr txBox="1"/>
          <p:nvPr>
            <p:ph idx="16" type="body"/>
          </p:nvPr>
        </p:nvSpPr>
        <p:spPr>
          <a:xfrm>
            <a:off x="1714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1" name="Google Shape;191;p45"/>
          <p:cNvSpPr txBox="1"/>
          <p:nvPr>
            <p:ph idx="17" type="body"/>
          </p:nvPr>
        </p:nvSpPr>
        <p:spPr>
          <a:xfrm>
            <a:off x="1714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 فاتحة">
  <p:cSld name="أربع نقاط فاتحة">
    <p:bg>
      <p:bgPr>
        <a:solidFill>
          <a:srgbClr val="F2F4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6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6" name="Google Shape;196;p46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7" name="Google Shape;197;p46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8" name="Google Shape;198;p4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99" name="Google Shape;199;p4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6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1" name="Google Shape;201;p46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2" name="Google Shape;202;p46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3" name="Google Shape;203;p46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4" name="Google Shape;204;p46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5" name="Google Shape;205;p46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6" name="Google Shape;206;p46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7" name="Google Shape;207;p46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فاتح">
  <p:cSld name="جدول فاتح">
    <p:bg>
      <p:bgPr>
        <a:solidFill>
          <a:srgbClr val="F2F4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2" name="Google Shape;212;p4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3" name="Google Shape;213;p4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4" name="Google Shape;214;p4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15" name="Google Shape;215;p4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7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7" name="Google Shape;217;p47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بالأعمدة">
  <p:cSld name="مقارنة بالأعمدة">
    <p:bg>
      <p:bgPr>
        <a:solidFill>
          <a:srgbClr val="12183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2" name="Google Shape;222;p4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3" name="Google Shape;223;p48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4" name="Google Shape;224;p4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25" name="Google Shape;225;p4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8"/>
          <p:cNvSpPr txBox="1"/>
          <p:nvPr>
            <p:ph idx="3" type="body"/>
          </p:nvPr>
        </p:nvSpPr>
        <p:spPr>
          <a:xfrm>
            <a:off x="2095500" y="8905875"/>
            <a:ext cx="1419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7" name="Google Shape;227;p48"/>
          <p:cNvSpPr/>
          <p:nvPr>
            <p:ph idx="4" type="chart"/>
          </p:nvPr>
        </p:nvSpPr>
        <p:spPr>
          <a:xfrm>
            <a:off x="2095500" y="3905250"/>
            <a:ext cx="1419225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توزيع نسبي">
  <p:cSld name="توزيع نسبي">
    <p:bg>
      <p:bgPr>
        <a:solidFill>
          <a:srgbClr val="12183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2" name="Google Shape;232;p4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3" name="Google Shape;233;p49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4" name="Google Shape;234;p4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9"/>
          <p:cNvSpPr txBox="1"/>
          <p:nvPr>
            <p:ph idx="3" type="body"/>
          </p:nvPr>
        </p:nvSpPr>
        <p:spPr>
          <a:xfrm>
            <a:off x="1714500" y="890587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7" name="Google Shape;237;p49"/>
          <p:cNvSpPr/>
          <p:nvPr>
            <p:ph idx="4" type="chart"/>
          </p:nvPr>
        </p:nvSpPr>
        <p:spPr>
          <a:xfrm>
            <a:off x="2095500" y="3619500"/>
            <a:ext cx="14097000" cy="538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آلية العمل">
  <p:cSld name="آلية العمل">
    <p:bg>
      <p:bgPr>
        <a:solidFill>
          <a:srgbClr val="12183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2" name="Google Shape;242;p5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3" name="Google Shape;243;p50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4" name="Google Shape;244;p5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45" name="Google Shape;245;p5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0"/>
          <p:cNvSpPr txBox="1"/>
          <p:nvPr>
            <p:ph idx="3" type="body"/>
          </p:nvPr>
        </p:nvSpPr>
        <p:spPr>
          <a:xfrm>
            <a:off x="13716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7" name="Google Shape;247;p50"/>
          <p:cNvSpPr txBox="1"/>
          <p:nvPr>
            <p:ph idx="4" type="body"/>
          </p:nvPr>
        </p:nvSpPr>
        <p:spPr>
          <a:xfrm>
            <a:off x="9715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8" name="Google Shape;248;p50"/>
          <p:cNvSpPr txBox="1"/>
          <p:nvPr>
            <p:ph idx="5" type="body"/>
          </p:nvPr>
        </p:nvSpPr>
        <p:spPr>
          <a:xfrm>
            <a:off x="5715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9" name="Google Shape;249;p50"/>
          <p:cNvSpPr txBox="1"/>
          <p:nvPr>
            <p:ph idx="6" type="body"/>
          </p:nvPr>
        </p:nvSpPr>
        <p:spPr>
          <a:xfrm>
            <a:off x="1714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صورة كبيرة">
  <p:cSld name="صورة كبيرة">
    <p:bg>
      <p:bgPr>
        <a:solidFill>
          <a:srgbClr val="12183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53" name="Google Shape;253;p5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1"/>
          <p:cNvSpPr/>
          <p:nvPr>
            <p:ph idx="2" type="pic"/>
          </p:nvPr>
        </p:nvSpPr>
        <p:spPr>
          <a:xfrm>
            <a:off x="1047750" y="666750"/>
            <a:ext cx="16192500" cy="6953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51"/>
          <p:cNvSpPr txBox="1"/>
          <p:nvPr>
            <p:ph type="title"/>
          </p:nvPr>
        </p:nvSpPr>
        <p:spPr>
          <a:xfrm>
            <a:off x="2190750" y="7962900"/>
            <a:ext cx="14763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6" name="Google Shape;256;p51"/>
          <p:cNvSpPr txBox="1"/>
          <p:nvPr>
            <p:ph idx="1" type="body"/>
          </p:nvPr>
        </p:nvSpPr>
        <p:spPr>
          <a:xfrm>
            <a:off x="2190750" y="8896350"/>
            <a:ext cx="14763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عرض الصور">
  <p:cSld name="معرض الصور">
    <p:bg>
      <p:bgPr>
        <a:solidFill>
          <a:srgbClr val="12183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2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1" name="Google Shape;261;p52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2" name="Google Shape;262;p5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2"/>
          <p:cNvSpPr/>
          <p:nvPr>
            <p:ph idx="2" type="pic"/>
          </p:nvPr>
        </p:nvSpPr>
        <p:spPr>
          <a:xfrm>
            <a:off x="12382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52"/>
          <p:cNvSpPr txBox="1"/>
          <p:nvPr>
            <p:ph idx="3" type="body"/>
          </p:nvPr>
        </p:nvSpPr>
        <p:spPr>
          <a:xfrm>
            <a:off x="12382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6" name="Google Shape;266;p52"/>
          <p:cNvSpPr/>
          <p:nvPr>
            <p:ph idx="4" type="pic"/>
          </p:nvPr>
        </p:nvSpPr>
        <p:spPr>
          <a:xfrm>
            <a:off x="7048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52"/>
          <p:cNvSpPr txBox="1"/>
          <p:nvPr>
            <p:ph idx="5" type="body"/>
          </p:nvPr>
        </p:nvSpPr>
        <p:spPr>
          <a:xfrm>
            <a:off x="7048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8" name="Google Shape;268;p52"/>
          <p:cNvSpPr/>
          <p:nvPr>
            <p:ph idx="6" type="pic"/>
          </p:nvPr>
        </p:nvSpPr>
        <p:spPr>
          <a:xfrm>
            <a:off x="1714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52"/>
          <p:cNvSpPr txBox="1"/>
          <p:nvPr>
            <p:ph idx="7" type="body"/>
          </p:nvPr>
        </p:nvSpPr>
        <p:spPr>
          <a:xfrm>
            <a:off x="1714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يقونات الهوية">
  <p:cSld name="أيقونات الهوية">
    <p:bg>
      <p:bgPr>
        <a:solidFill>
          <a:srgbClr val="12183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4" name="Google Shape;274;p5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5" name="Google Shape;275;p5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6" name="Google Shape;276;p5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77" name="Google Shape;277;p5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3"/>
          <p:cNvSpPr txBox="1"/>
          <p:nvPr>
            <p:ph idx="3" type="body"/>
          </p:nvPr>
        </p:nvSpPr>
        <p:spPr>
          <a:xfrm>
            <a:off x="13716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9" name="Google Shape;279;p53"/>
          <p:cNvSpPr txBox="1"/>
          <p:nvPr>
            <p:ph idx="4" type="body"/>
          </p:nvPr>
        </p:nvSpPr>
        <p:spPr>
          <a:xfrm>
            <a:off x="13716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0" name="Google Shape;280;p53"/>
          <p:cNvSpPr txBox="1"/>
          <p:nvPr>
            <p:ph idx="5" type="body"/>
          </p:nvPr>
        </p:nvSpPr>
        <p:spPr>
          <a:xfrm>
            <a:off x="9715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1" name="Google Shape;281;p53"/>
          <p:cNvSpPr txBox="1"/>
          <p:nvPr>
            <p:ph idx="6" type="body"/>
          </p:nvPr>
        </p:nvSpPr>
        <p:spPr>
          <a:xfrm>
            <a:off x="9715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2" name="Google Shape;282;p53"/>
          <p:cNvSpPr txBox="1"/>
          <p:nvPr>
            <p:ph idx="7" type="body"/>
          </p:nvPr>
        </p:nvSpPr>
        <p:spPr>
          <a:xfrm>
            <a:off x="5715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3" name="Google Shape;283;p53"/>
          <p:cNvSpPr txBox="1"/>
          <p:nvPr>
            <p:ph idx="8" type="body"/>
          </p:nvPr>
        </p:nvSpPr>
        <p:spPr>
          <a:xfrm>
            <a:off x="5715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4" name="Google Shape;284;p53"/>
          <p:cNvSpPr txBox="1"/>
          <p:nvPr>
            <p:ph idx="9" type="body"/>
          </p:nvPr>
        </p:nvSpPr>
        <p:spPr>
          <a:xfrm>
            <a:off x="1714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5" name="Google Shape;285;p53"/>
          <p:cNvSpPr txBox="1"/>
          <p:nvPr>
            <p:ph idx="13" type="body"/>
          </p:nvPr>
        </p:nvSpPr>
        <p:spPr>
          <a:xfrm>
            <a:off x="1714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خيارين">
  <p:cSld name="مقارنة خيارين">
    <p:bg>
      <p:bgPr>
        <a:solidFill>
          <a:srgbClr val="12183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0" name="Google Shape;290;p5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1" name="Google Shape;291;p5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2" name="Google Shape;292;p5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93" name="Google Shape;293;p5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 txBox="1"/>
          <p:nvPr>
            <p:ph idx="3" type="body"/>
          </p:nvPr>
        </p:nvSpPr>
        <p:spPr>
          <a:xfrm>
            <a:off x="1000125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5" name="Google Shape;295;p54"/>
          <p:cNvSpPr txBox="1"/>
          <p:nvPr>
            <p:ph idx="4" type="body"/>
          </p:nvPr>
        </p:nvSpPr>
        <p:spPr>
          <a:xfrm>
            <a:off x="1000125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6" name="Google Shape;296;p54"/>
          <p:cNvSpPr txBox="1"/>
          <p:nvPr>
            <p:ph idx="5" type="body"/>
          </p:nvPr>
        </p:nvSpPr>
        <p:spPr>
          <a:xfrm>
            <a:off x="171450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7" name="Google Shape;297;p54"/>
          <p:cNvSpPr txBox="1"/>
          <p:nvPr>
            <p:ph idx="6" type="body"/>
          </p:nvPr>
        </p:nvSpPr>
        <p:spPr>
          <a:xfrm>
            <a:off x="171450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8" name="Google Shape;298;p54"/>
          <p:cNvSpPr txBox="1"/>
          <p:nvPr>
            <p:ph idx="7" type="body"/>
          </p:nvPr>
        </p:nvSpPr>
        <p:spPr>
          <a:xfrm>
            <a:off x="1000125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9" name="Google Shape;299;p54"/>
          <p:cNvSpPr txBox="1"/>
          <p:nvPr>
            <p:ph idx="8" type="body"/>
          </p:nvPr>
        </p:nvSpPr>
        <p:spPr>
          <a:xfrm>
            <a:off x="171450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داكنة">
  <p:cSld name="فارغة داكنة">
    <p:bg>
      <p:bgPr>
        <a:solidFill>
          <a:srgbClr val="12183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722542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4" name="Google Shape;304;p5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فاتحة">
  <p:cSld name="فارغة فاتحة">
    <p:bg>
      <p:bgPr>
        <a:solidFill>
          <a:srgbClr val="F2F4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010" y="685800"/>
            <a:ext cx="3072581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9" name="Google Shape;309;p5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تام العرض">
  <p:cSld name="ختام العرض">
    <p:bg>
      <p:bgPr>
        <a:solidFill>
          <a:srgbClr val="12183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0" y="1336151"/>
            <a:ext cx="6667500" cy="1709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9485" y="8524875"/>
            <a:ext cx="3045029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7"/>
          <p:cNvPicPr preferRelativeResize="0"/>
          <p:nvPr/>
        </p:nvPicPr>
        <p:blipFill rotWithShape="1">
          <a:blip r:embed="rId5">
            <a:alphaModFix/>
          </a:blip>
          <a:srcRect b="16000" l="4300" r="69700" t="16000"/>
          <a:stretch/>
        </p:blipFill>
        <p:spPr>
          <a:xfrm>
            <a:off x="4857750" y="8629650"/>
            <a:ext cx="3810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7"/>
          <p:cNvSpPr txBox="1"/>
          <p:nvPr>
            <p:ph type="title"/>
          </p:nvPr>
        </p:nvSpPr>
        <p:spPr>
          <a:xfrm>
            <a:off x="3810000" y="4048125"/>
            <a:ext cx="10668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6" name="Google Shape;316;p57"/>
          <p:cNvSpPr txBox="1"/>
          <p:nvPr>
            <p:ph idx="1" type="body"/>
          </p:nvPr>
        </p:nvSpPr>
        <p:spPr>
          <a:xfrm>
            <a:off x="3810000" y="5905500"/>
            <a:ext cx="10668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7" name="Google Shape;317;p57"/>
          <p:cNvSpPr txBox="1"/>
          <p:nvPr>
            <p:ph idx="2" type="body"/>
          </p:nvPr>
        </p:nvSpPr>
        <p:spPr>
          <a:xfrm>
            <a:off x="3810000" y="7000875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rattil_studio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rattil_search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rattil_learn.png"/><Relationship Id="rId6" Type="http://schemas.openxmlformats.org/officeDocument/2006/relationships/image" Target="../media/rattil_tajweed.png"/><Relationship Id="rId7" Type="http://schemas.openxmlformats.org/officeDocument/2006/relationships/image" Target="../media/rattil_games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Relationship Id="rId10" Type="http://schemas.openxmlformats.org/officeDocument/2006/relationships/image" Target="../media/image20.png"/></Relationships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8" title="الصورة الرئيسية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75" y="1103475"/>
            <a:ext cx="9312476" cy="860312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"/>
          <p:cNvSpPr txBox="1"/>
          <p:nvPr>
            <p:ph type="title"/>
          </p:nvPr>
        </p:nvSpPr>
        <p:spPr>
          <a:xfrm>
            <a:off x="7791450" y="3524250"/>
            <a:ext cx="9048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0"/>
              <a:buNone/>
            </a:pPr>
            <a:r>
              <a:rPr b="1" lang="ar-SA" sz="64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رتّل · Rattil</a:t>
            </a:r>
            <a:endParaRPr/>
          </a:p>
        </p:txBody>
      </p:sp>
      <p:sp>
        <p:nvSpPr>
          <p:cNvPr id="487" name="Google Shape;487;p8"/>
          <p:cNvSpPr txBox="1"/>
          <p:nvPr>
            <p:ph idx="1" type="body"/>
          </p:nvPr>
        </p:nvSpPr>
        <p:spPr>
          <a:xfrm>
            <a:off x="7791450" y="5334000"/>
            <a:ext cx="90489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b="0" lang="ar-SA" sz="33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تعلّم تلاوة القرآن الكريم برواية قالون عن نافع، من الحرف الأول إلى السورة، مع نموذج صوتي يستمع إليك ويصحّح كلمة بكلمة</a:t>
            </a:r>
            <a:endParaRPr/>
          </a:p>
        </p:txBody>
      </p:sp>
      <p:sp>
        <p:nvSpPr>
          <p:cNvPr id="488" name="Google Shape;488;p8"/>
          <p:cNvSpPr/>
          <p:nvPr/>
        </p:nvSpPr>
        <p:spPr>
          <a:xfrm>
            <a:off x="1143000" y="8843963"/>
            <a:ext cx="16002000" cy="9600"/>
          </a:xfrm>
          <a:prstGeom prst="rect">
            <a:avLst/>
          </a:prstGeom>
          <a:solidFill>
            <a:srgbClr val="FFFFFF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8"/>
          <p:cNvSpPr/>
          <p:nvPr/>
        </p:nvSpPr>
        <p:spPr>
          <a:xfrm>
            <a:off x="14472130" y="9120188"/>
            <a:ext cx="2358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[اسم الفريق]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1397000" y="9120188"/>
            <a:ext cx="2765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1448هـ · 2026م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pic>
        <p:nvPicPr>
          <p:cNvPr id="491" name="Google Shape;4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0" y="691134"/>
            <a:ext cx="6572252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9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رتّل</a:t>
            </a:r>
            <a:endParaRPr/>
          </a:p>
        </p:txBody>
      </p:sp>
      <p:sp>
        <p:nvSpPr>
          <p:cNvPr id="501" name="Google Shape;501;p9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محتويات العرض</a:t>
            </a:r>
            <a:endParaRPr/>
          </a:p>
        </p:txBody>
      </p:sp>
      <p:sp>
        <p:nvSpPr>
          <p:cNvPr id="502" name="Google Shape;502;p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03" name="Google Shape;503;p9"/>
          <p:cNvSpPr txBox="1"/>
          <p:nvPr>
            <p:ph idx="2" type="body"/>
          </p:nvPr>
        </p:nvSpPr>
        <p:spPr>
          <a:xfrm>
            <a:off x="12077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504" name="Google Shape;504;p9"/>
          <p:cNvSpPr txBox="1"/>
          <p:nvPr>
            <p:ph idx="3" type="body"/>
          </p:nvPr>
        </p:nvSpPr>
        <p:spPr>
          <a:xfrm>
            <a:off x="12077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/>
          </a:p>
        </p:txBody>
      </p:sp>
      <p:sp>
        <p:nvSpPr>
          <p:cNvPr id="505" name="Google Shape;505;p9"/>
          <p:cNvSpPr txBox="1"/>
          <p:nvPr>
            <p:ph idx="4" type="body"/>
          </p:nvPr>
        </p:nvSpPr>
        <p:spPr>
          <a:xfrm>
            <a:off x="12077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متعلّم قالون بلا شريك يستمع إليه</a:t>
            </a:r>
            <a:endParaRPr/>
          </a:p>
        </p:txBody>
      </p:sp>
      <p:sp>
        <p:nvSpPr>
          <p:cNvPr id="506" name="Google Shape;506;p9"/>
          <p:cNvSpPr txBox="1"/>
          <p:nvPr>
            <p:ph idx="5" type="body"/>
          </p:nvPr>
        </p:nvSpPr>
        <p:spPr>
          <a:xfrm>
            <a:off x="6743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/>
          </a:p>
        </p:txBody>
      </p:sp>
      <p:sp>
        <p:nvSpPr>
          <p:cNvPr id="507" name="Google Shape;507;p9"/>
          <p:cNvSpPr txBox="1"/>
          <p:nvPr>
            <p:ph idx="6" type="body"/>
          </p:nvPr>
        </p:nvSpPr>
        <p:spPr>
          <a:xfrm>
            <a:off x="6743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الحل</a:t>
            </a:r>
            <a:endParaRPr/>
          </a:p>
        </p:txBody>
      </p:sp>
      <p:sp>
        <p:nvSpPr>
          <p:cNvPr id="508" name="Google Shape;508;p9"/>
          <p:cNvSpPr txBox="1"/>
          <p:nvPr>
            <p:ph idx="7" type="body"/>
          </p:nvPr>
        </p:nvSpPr>
        <p:spPr>
          <a:xfrm>
            <a:off x="6743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من الحرف الأول إلى السورة كاملة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09" name="Google Shape;509;p9"/>
          <p:cNvSpPr txBox="1"/>
          <p:nvPr>
            <p:ph idx="8" type="body"/>
          </p:nvPr>
        </p:nvSpPr>
        <p:spPr>
          <a:xfrm>
            <a:off x="1409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/>
          </a:p>
        </p:txBody>
      </p:sp>
      <p:sp>
        <p:nvSpPr>
          <p:cNvPr id="510" name="Google Shape;510;p9"/>
          <p:cNvSpPr txBox="1"/>
          <p:nvPr>
            <p:ph idx="9" type="body"/>
          </p:nvPr>
        </p:nvSpPr>
        <p:spPr>
          <a:xfrm>
            <a:off x="1409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التجربة</a:t>
            </a:r>
            <a:endParaRPr/>
          </a:p>
        </p:txBody>
      </p:sp>
      <p:sp>
        <p:nvSpPr>
          <p:cNvPr id="511" name="Google Shape;511;p9"/>
          <p:cNvSpPr txBox="1"/>
          <p:nvPr>
            <p:ph idx="13" type="body"/>
          </p:nvPr>
        </p:nvSpPr>
        <p:spPr>
          <a:xfrm>
            <a:off x="1409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الاستوديو، والبحث بالصوت، والدروس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2" name="Google Shape;512;p9"/>
          <p:cNvSpPr txBox="1"/>
          <p:nvPr>
            <p:ph idx="14" type="body"/>
          </p:nvPr>
        </p:nvSpPr>
        <p:spPr>
          <a:xfrm>
            <a:off x="12077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513" name="Google Shape;513;p9"/>
          <p:cNvSpPr txBox="1"/>
          <p:nvPr>
            <p:ph idx="15" type="body"/>
          </p:nvPr>
        </p:nvSpPr>
        <p:spPr>
          <a:xfrm>
            <a:off x="12077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آلية العمل</a:t>
            </a:r>
            <a:endParaRPr/>
          </a:p>
        </p:txBody>
      </p:sp>
      <p:sp>
        <p:nvSpPr>
          <p:cNvPr id="514" name="Google Shape;514;p9"/>
          <p:cNvSpPr txBox="1"/>
          <p:nvPr>
            <p:ph idx="16" type="body"/>
          </p:nvPr>
        </p:nvSpPr>
        <p:spPr>
          <a:xfrm>
            <a:off x="12077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ثلاثة نماذج مدرّبة على رواية قالون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5" name="Google Shape;515;p9"/>
          <p:cNvSpPr txBox="1"/>
          <p:nvPr>
            <p:ph idx="17" type="body"/>
          </p:nvPr>
        </p:nvSpPr>
        <p:spPr>
          <a:xfrm>
            <a:off x="6743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/>
          </a:p>
        </p:txBody>
      </p:sp>
      <p:sp>
        <p:nvSpPr>
          <p:cNvPr id="516" name="Google Shape;516;p9"/>
          <p:cNvSpPr txBox="1"/>
          <p:nvPr>
            <p:ph idx="18" type="body"/>
          </p:nvPr>
        </p:nvSpPr>
        <p:spPr>
          <a:xfrm>
            <a:off x="6743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النتائج والمعيار العلمي</a:t>
            </a:r>
            <a:endParaRPr/>
          </a:p>
        </p:txBody>
      </p:sp>
      <p:sp>
        <p:nvSpPr>
          <p:cNvPr id="517" name="Google Shape;517;p9"/>
          <p:cNvSpPr txBox="1"/>
          <p:nvPr>
            <p:ph idx="19" type="body"/>
          </p:nvPr>
        </p:nvSpPr>
        <p:spPr>
          <a:xfrm>
            <a:off x="6743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قياس على صوت لم يسمعه النموذج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8" name="Google Shape;518;p9"/>
          <p:cNvSpPr txBox="1"/>
          <p:nvPr>
            <p:ph idx="20" type="body"/>
          </p:nvPr>
        </p:nvSpPr>
        <p:spPr>
          <a:xfrm>
            <a:off x="1409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06</a:t>
            </a:r>
            <a:endParaRPr/>
          </a:p>
        </p:txBody>
      </p:sp>
      <p:sp>
        <p:nvSpPr>
          <p:cNvPr id="519" name="Google Shape;519;p9"/>
          <p:cNvSpPr txBox="1"/>
          <p:nvPr>
            <p:ph idx="21" type="body"/>
          </p:nvPr>
        </p:nvSpPr>
        <p:spPr>
          <a:xfrm>
            <a:off x="1409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الخطة والفريق</a:t>
            </a:r>
            <a:endParaRPr/>
          </a:p>
        </p:txBody>
      </p:sp>
      <p:sp>
        <p:nvSpPr>
          <p:cNvPr id="520" name="Google Shape;520;p9"/>
          <p:cNvSpPr txBox="1"/>
          <p:nvPr>
            <p:ph idx="22" type="body"/>
          </p:nvPr>
        </p:nvSpPr>
        <p:spPr>
          <a:xfrm>
            <a:off x="1409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الخطوات التالية نحو الاعتماد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/>
          </a:p>
        </p:txBody>
      </p:sp>
      <p:sp>
        <p:nvSpPr>
          <p:cNvPr id="538" name="Google Shape;538;p1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متعلّم قالون بلا شريك يستمع إليه</a:t>
            </a:r>
            <a:endParaRPr/>
          </a:p>
        </p:txBody>
      </p:sp>
      <p:sp>
        <p:nvSpPr>
          <p:cNvPr id="539" name="Google Shape;539;p1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قالون رواية أهل ليبيا وأجزاء من شمال أفريقيا وغربها، وأدوات التلاوة الذكية مبنية على حفص</a:t>
            </a:r>
            <a:endParaRPr/>
          </a:p>
        </p:txBody>
      </p:sp>
      <p:sp>
        <p:nvSpPr>
          <p:cNvPr id="540" name="Google Shape;540;p1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41" name="Google Shape;541;p11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النماذج العامة لا تعرف قالون</a:t>
            </a:r>
            <a:endParaRPr/>
          </a:p>
        </p:txBody>
      </p:sp>
      <p:sp>
        <p:nvSpPr>
          <p:cNvPr id="542" name="Google Shape;542;p11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في الكلمات التي تختلف فيها قالون عن حفص، تكتب النماذج العامة صيغة قالون في 47% إلى 68% فقط من الحالات.</a:t>
            </a:r>
            <a:endParaRPr/>
          </a:p>
        </p:txBody>
      </p:sp>
      <p:sp>
        <p:nvSpPr>
          <p:cNvPr id="543" name="Google Shape;543;p11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المبتدئ لا يقرأ العربية بعد</a:t>
            </a:r>
            <a:endParaRPr/>
          </a:p>
        </p:txBody>
      </p:sp>
      <p:sp>
        <p:nvSpPr>
          <p:cNvPr id="544" name="Google Shape;544;p11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المهتمّ بالإسلام والمسلم الجديد يحتاج أن يبدأ من الحرف وصوته، لا من المصحف مباشرة.</a:t>
            </a:r>
            <a:endParaRPr/>
          </a:p>
        </p:txBody>
      </p:sp>
      <p:sp>
        <p:nvSpPr>
          <p:cNvPr id="545" name="Google Shape;545;p11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تدرّب ذاتي بلا تغذية راجعة</a:t>
            </a:r>
            <a:endParaRPr/>
          </a:p>
        </p:txBody>
      </p:sp>
      <p:sp>
        <p:nvSpPr>
          <p:cNvPr id="546" name="Google Shape;546;p11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بين حلقات المعلّم لا أحد ينبّه المتعلّم إلى الكلمة التي أسقطها أو الآية التي تجاوزها.</a:t>
            </a:r>
            <a:endParaRPr/>
          </a:p>
        </p:txBody>
      </p:sp>
      <p:sp>
        <p:nvSpPr>
          <p:cNvPr id="547" name="Google Shape;547;p11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خطر الهلوسة في الأدوات الذكية</a:t>
            </a:r>
            <a:endParaRPr/>
          </a:p>
        </p:txBody>
      </p:sp>
      <p:sp>
        <p:nvSpPr>
          <p:cNvPr id="548" name="Google Shape;548;p11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نموذج يكمل النص من ذاكرته قد يُظهر آية لم تُتلَ على أنها صحيحة، فيضلّل المتعلّم.</a:t>
            </a: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50" name="Google Shape;5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3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72" name="Google Shape;5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3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التجربة</a:t>
            </a:r>
            <a:endParaRPr/>
          </a:p>
        </p:txBody>
      </p:sp>
      <p:sp>
        <p:nvSpPr>
          <p:cNvPr id="574" name="Google Shape;574;p13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استوديو التلاوة: يرى المتعلّم موضع خطئه فوراً</a:t>
            </a:r>
            <a:endParaRPr/>
          </a:p>
        </p:txBody>
      </p:sp>
      <p:sp>
        <p:nvSpPr>
          <p:cNvPr id="575" name="Google Shape;575;p1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576" name="Google Shape;576;p13"/>
          <p:cNvPicPr>
            <a:picLocks noGrp="1"/>
          </p:cNvPicPr>
          <p:nvPr>
            <p:ph idx="2" type="pic"/>
          </p:nvPr>
        </p:nvPicPr>
        <p:blipFill>
          <a:blip r:embed="rId5"/>
          <a:stretch>
            <a:fillRect/>
          </a:stretch>
        </p:blipFill>
        <p:spPr>
          <a:xfrm>
            <a:off x="1428750" y="4048125"/>
            <a:ext cx="8382000" cy="4714800"/>
          </a:xfrm>
          <a:prstGeom prst="rect">
            <a:avLst/>
          </a:prstGeom>
        </p:spPr>
      </p:pic>
      <p:sp>
        <p:nvSpPr>
          <p:cNvPr id="577" name="Google Shape;577;p13"/>
          <p:cNvSpPr txBox="1"/>
          <p:nvPr>
            <p:ph idx="3" type="body"/>
          </p:nvPr>
        </p:nvSpPr>
        <p:spPr>
          <a:xfrm>
            <a:off x="10458450" y="409575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الذي نراه؟</a:t>
            </a:r>
            <a:endParaRPr/>
          </a:p>
        </p:txBody>
      </p:sp>
      <p:sp>
        <p:nvSpPr>
          <p:cNvPr id="578" name="Google Shape;578;p13"/>
          <p:cNvSpPr txBox="1"/>
          <p:nvPr>
            <p:ph idx="4" type="body"/>
          </p:nvPr>
        </p:nvSpPr>
        <p:spPr>
          <a:xfrm>
            <a:off x="10458450" y="4800600"/>
            <a:ext cx="63819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تلاوة لسورة الإخلاص بصوت قارئ لم يسمعه النموذج، حُذفت منها الآية 3 عمداً. الصحيح بالأخضر، والمتروك بالأحمر.</a:t>
            </a:r>
            <a:endParaRPr/>
          </a:p>
        </p:txBody>
      </p:sp>
      <p:sp>
        <p:nvSpPr>
          <p:cNvPr id="579" name="Google Shape;579;p13"/>
          <p:cNvSpPr txBox="1"/>
          <p:nvPr>
            <p:ph idx="5" type="body"/>
          </p:nvPr>
        </p:nvSpPr>
        <p:spPr>
          <a:xfrm>
            <a:off x="10458450" y="690372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الذي يهم المستخدم؟</a:t>
            </a:r>
            <a:endParaRPr/>
          </a:p>
        </p:txBody>
      </p:sp>
      <p:sp>
        <p:nvSpPr>
          <p:cNvPr id="580" name="Google Shape;580;p13"/>
          <p:cNvSpPr txBox="1"/>
          <p:nvPr>
            <p:ph idx="6" type="body"/>
          </p:nvPr>
        </p:nvSpPr>
        <p:spPr>
          <a:xfrm>
            <a:off x="10458450" y="7607808"/>
            <a:ext cx="638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يعرف الكلمة أو الآية التي أسقطها، ويعيد التلاوة من موضعها دون انتظار المعلّم.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14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88" name="Google Shape;5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4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التجربة</a:t>
            </a:r>
            <a:endParaRPr/>
          </a:p>
        </p:txBody>
      </p:sp>
      <p:sp>
        <p:nvSpPr>
          <p:cNvPr id="590" name="Google Shape;590;p14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ابحث عن آية بصوتك</a:t>
            </a:r>
            <a:endParaRPr/>
          </a:p>
        </p:txBody>
      </p:sp>
      <p:sp>
        <p:nvSpPr>
          <p:cNvPr id="591" name="Google Shape;591;p1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592" name="Google Shape;592;p14"/>
          <p:cNvPicPr>
            <a:picLocks noGrp="1"/>
          </p:cNvPicPr>
          <p:nvPr>
            <p:ph idx="2" type="pic"/>
          </p:nvPr>
        </p:nvPicPr>
        <p:blipFill>
          <a:blip r:embed="rId5"/>
          <a:stretch>
            <a:fillRect/>
          </a:stretch>
        </p:blipFill>
        <p:spPr>
          <a:xfrm>
            <a:off x="2190750" y="2999025"/>
            <a:ext cx="5715000" cy="5715000"/>
          </a:xfrm>
          <a:prstGeom prst="roundRect">
            <a:avLst>
              <a:gd fmla="val 4285" name="adj"/>
            </a:avLst>
          </a:prstGeom>
        </p:spPr>
      </p:pic>
      <p:sp>
        <p:nvSpPr>
          <p:cNvPr id="593" name="Google Shape;593;p14"/>
          <p:cNvSpPr txBox="1"/>
          <p:nvPr>
            <p:ph idx="3" type="body"/>
          </p:nvPr>
        </p:nvSpPr>
        <p:spPr>
          <a:xfrm>
            <a:off x="9696450" y="3905250"/>
            <a:ext cx="7143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b="1" lang="ar-SA" sz="34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تلاوة بضع كلمات تكفي</a:t>
            </a:r>
            <a:endParaRPr/>
          </a:p>
        </p:txBody>
      </p:sp>
      <p:sp>
        <p:nvSpPr>
          <p:cNvPr id="594" name="Google Shape;594;p14"/>
          <p:cNvSpPr txBox="1"/>
          <p:nvPr>
            <p:ph idx="4" type="body"/>
          </p:nvPr>
        </p:nvSpPr>
        <p:spPr>
          <a:xfrm>
            <a:off x="9696450" y="5191125"/>
            <a:ext cx="71439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>
                <a:solidFill>
                  <a:srgbClr val="F2F4FF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سجّل أو ارفع مقطعاً، فيحدّد رتّل السورة والآية ويعرض ما سمعه النموذج. في اختبارنا جاءت الآية الصحيحة أولاً في 36 من 36 مقطعاً.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95" name="Google Shape;595;p14"/>
          <p:cNvSpPr txBox="1"/>
          <p:nvPr>
            <p:ph idx="5" type="body"/>
          </p:nvPr>
        </p:nvSpPr>
        <p:spPr>
          <a:xfrm>
            <a:off x="9696450" y="7863840"/>
            <a:ext cx="71439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b="0" lang="ar-SA" sz="19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لقطة حقيقية: البيّنة، الآية 5، بصوت لم يسمعه النموذج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15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603" name="Google Shape;6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5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النتائج</a:t>
            </a:r>
            <a:endParaRPr/>
          </a:p>
        </p:txBody>
      </p:sp>
      <p:sp>
        <p:nvSpPr>
          <p:cNvPr id="605" name="Google Shape;605;p15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أرقام مقيسة على صوت لم يسمعه النموذج</a:t>
            </a:r>
            <a:endParaRPr/>
          </a:p>
        </p:txBody>
      </p:sp>
      <p:sp>
        <p:nvSpPr>
          <p:cNvPr id="606" name="Google Shape;606;p15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صوت الشيخ وليد (nquran.com)، لم يُستخدم في التدريب · 562 مقطعاً</a:t>
            </a:r>
            <a:endParaRPr/>
          </a:p>
        </p:txBody>
      </p:sp>
      <p:sp>
        <p:nvSpPr>
          <p:cNvPr id="607" name="Google Shape;607;p1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08" name="Google Shape;608;p15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2.0%</a:t>
            </a:r>
            <a:endParaRPr/>
          </a:p>
        </p:txBody>
      </p:sp>
      <p:sp>
        <p:nvSpPr>
          <p:cNvPr id="609" name="Google Shape;609;p15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الخطأ في الكلمات</a:t>
            </a:r>
            <a:endParaRPr/>
          </a:p>
        </p:txBody>
      </p:sp>
      <p:sp>
        <p:nvSpPr>
          <p:cNvPr id="610" name="Google Shape;610;p15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بسرعة تلاوة عادية (النموذج السابق: نحو 25%)</a:t>
            </a:r>
            <a:endParaRPr/>
          </a:p>
        </p:txBody>
      </p:sp>
      <p:sp>
        <p:nvSpPr>
          <p:cNvPr id="611" name="Google Shape;611;p15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100%</a:t>
            </a:r>
            <a:endParaRPr/>
          </a:p>
        </p:txBody>
      </p:sp>
      <p:sp>
        <p:nvSpPr>
          <p:cNvPr id="612" name="Google Shape;612;p15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كلمات قالون الخاصة</a:t>
            </a:r>
            <a:endParaRPr/>
          </a:p>
        </p:txBody>
      </p:sp>
      <p:sp>
        <p:nvSpPr>
          <p:cNvPr id="613" name="Google Shape;613;p15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تُكتب بصيغة قالون (النماذج العامة: 47% إلى 68%)</a:t>
            </a:r>
            <a:endParaRPr/>
          </a:p>
        </p:txBody>
      </p:sp>
      <p:sp>
        <p:nvSpPr>
          <p:cNvPr id="614" name="Google Shape;614;p15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0.99</a:t>
            </a:r>
            <a:endParaRPr/>
          </a:p>
        </p:txBody>
      </p:sp>
      <p:sp>
        <p:nvSpPr>
          <p:cNvPr id="615" name="Google Shape;615;p15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دقة رصد التجويد</a:t>
            </a:r>
            <a:endParaRPr/>
          </a:p>
        </p:txBody>
      </p:sp>
      <p:sp>
        <p:nvSpPr>
          <p:cNvPr id="616" name="Google Shape;616;p15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والاستدعاء 0.94 لعلامات التجويد التسع</a:t>
            </a:r>
            <a:endParaRPr/>
          </a:p>
        </p:txBody>
      </p:sp>
      <p:sp>
        <p:nvSpPr>
          <p:cNvPr id="617" name="Google Shape;617;p15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0%</a:t>
            </a:r>
            <a:endParaRPr/>
          </a:p>
        </p:txBody>
      </p:sp>
      <p:sp>
        <p:nvSpPr>
          <p:cNvPr id="618" name="Google Shape;618;p15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آيات مختلَقة</a:t>
            </a:r>
            <a:endParaRPr/>
          </a:p>
        </p:txBody>
      </p:sp>
      <p:sp>
        <p:nvSpPr>
          <p:cNvPr id="619" name="Google Shape;619;p15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لم يكتب النموذج آية متروكة على أنها تُليت</a:t>
            </a:r>
            <a:endParaRPr/>
          </a:p>
        </p:txBody>
      </p:sp>
      <p:sp>
        <p:nvSpPr>
          <p:cNvPr id="620" name="Google Shape;620;p15"/>
          <p:cNvSpPr txBox="1"/>
          <p:nvPr>
            <p:ph idx="18" type="body"/>
          </p:nvPr>
        </p:nvSpPr>
        <p:spPr>
          <a:xfrm>
            <a:off x="8381075" y="8763000"/>
            <a:ext cx="8459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المصدر: docs/QALOON_MODEL_V2.md و docs/QALOON_TAJWEED.md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F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16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28" name="Google Shape;628;p16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50"/>
              <a:buNone/>
            </a:pPr>
            <a:r>
              <a:rPr b="1" lang="ar-SA" sz="55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رتّل شريك تدريب يستمع إليك،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50"/>
              <a:buNone/>
            </a:pPr>
            <a:r>
              <a:rPr b="1" lang="ar-SA" sz="55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والكلمة الأخيرة للمعلّم المُجاز</a:t>
            </a:r>
            <a:endParaRPr/>
          </a:p>
        </p:txBody>
      </p:sp>
      <p:sp>
        <p:nvSpPr>
          <p:cNvPr id="629" name="Google Shape;629;p16"/>
          <p:cNvSpPr txBox="1"/>
          <p:nvPr>
            <p:ph idx="1" type="body"/>
          </p:nvPr>
        </p:nvSpPr>
        <p:spPr>
          <a:xfrm>
            <a:off x="4202375" y="6905625"/>
            <a:ext cx="107520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lang="ar-SA" sz="27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من الحرف الأول إلى السورة · برواية قالون عن نافع · بالعربية والإنجليزية</a:t>
            </a:r>
            <a:endParaRPr/>
          </a:p>
        </p:txBody>
      </p:sp>
      <p:sp>
        <p:nvSpPr>
          <p:cNvPr id="630" name="Google Shape;630;p16"/>
          <p:cNvSpPr txBox="1"/>
          <p:nvPr>
            <p:ph idx="2" type="body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b="0" lang="ar-SA" sz="19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نص المصحف من مجمع الملك فهد · التلاوات من mp3quran.net · أحكام التجويد من منهج الأوقاف الليبية لرواية قالون</a:t>
            </a:r>
            <a:endParaRPr/>
          </a:p>
        </p:txBody>
      </p:sp>
      <p:pic>
        <p:nvPicPr>
          <p:cNvPr id="631" name="Google Shape;631;p16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آلية العمل</a:t>
            </a:r>
            <a:endParaRPr/>
          </a:p>
        </p:txBody>
      </p:sp>
      <p:sp>
        <p:nvSpPr>
          <p:cNvPr id="640" name="Google Shape;640;p1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ثلاثة نماذج مدرّبة خصيصاً لرتّل</a:t>
            </a:r>
            <a:endParaRPr/>
          </a:p>
        </p:txBody>
      </p:sp>
      <p:sp>
        <p:nvSpPr>
          <p:cNvPr id="641" name="Google Shape;641;p1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كلها منشورة بشكل خاص على Hugging Face، وتعمل على خادم المشروع</a:t>
            </a:r>
            <a:endParaRPr/>
          </a:p>
        </p:txBody>
      </p:sp>
      <p:sp>
        <p:nvSpPr>
          <p:cNvPr id="642" name="Google Shape;642;p1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graphicFrame>
        <p:nvGraphicFramePr>
          <p:cNvPr id="643" name="Google Shape;643;p17"/>
          <p:cNvGraphicFramePr/>
          <p:nvPr/>
        </p:nvGraphicFramePr>
        <p:xfrm>
          <a:off x="1314450" y="39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{B8ED9858-D163-4338-9E88-1F424354888F}</a:tableStyleId>
              </a:tblPr>
              <a:tblGrid>
                <a:gridCol w="2286000"/>
                <a:gridCol w="3238500"/>
                <a:gridCol w="6191250"/>
                <a:gridCol w="3714750"/>
              </a:tblGrid>
              <a:tr h="7810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19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بيانات التدريب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19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يبدأ من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19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ما يفعله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19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النموذج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10 قرّاء · 7,853 مقطعاً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Whisper-base قرآني (ضبط كامل)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يتعرّف على التلاوة كلمة بكلمة في الاستوديو والبحث والتحديات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rattil-qaloon-v4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5,036 مقطعاً + 973 قراءة مجرّدة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rattil-qaloon-v4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يرصد 9 علامات: الإخفاء والغنة والإدغام بغنة والقلقلة والمد والتسهيل والصلة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rattil-qaloon-tajweed-v2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1,645 زوج آيات (QurSim)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Arabic Triplet Matryoshka V2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يختار بدائل متقاربة المعنى في تحديات الحفظ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9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rattil-ayah-embed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</a:tbl>
          </a:graphicData>
        </a:graphic>
      </p:graphicFrame>
      <p:sp>
        <p:nvSpPr>
          <p:cNvPr id="644" name="Google Shape;644;p17"/>
          <p:cNvSpPr txBox="1"/>
          <p:nvPr>
            <p:ph idx="3" type="body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القراءة المجرّدة: تلاوة صناعية بلا أحكام، تعلّم نموذج التجويد ألا يختلق علامات لم تُنطق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52" name="Google Shape;652;p1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الخطة</a:t>
            </a:r>
            <a:endParaRPr/>
          </a:p>
        </p:txBody>
      </p:sp>
      <p:sp>
        <p:nvSpPr>
          <p:cNvPr id="653" name="Google Shape;653;p1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الطريق إلى أداة معتمدة</a:t>
            </a:r>
            <a:endParaRPr/>
          </a:p>
        </p:txBody>
      </p:sp>
      <p:sp>
        <p:nvSpPr>
          <p:cNvPr id="654" name="Google Shape;654;p1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ما أنجزناه، وما نحتاجه قبل التوسّع</a:t>
            </a:r>
            <a:endParaRPr/>
          </a:p>
        </p:txBody>
      </p:sp>
      <p:sp>
        <p:nvSpPr>
          <p:cNvPr id="655" name="Google Shape;655;p18"/>
          <p:cNvSpPr txBox="1"/>
          <p:nvPr>
            <p:ph idx="3" type="body"/>
          </p:nvPr>
        </p:nvSpPr>
        <p:spPr>
          <a:xfrm>
            <a:off x="13982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656" name="Google Shape;656;p18"/>
          <p:cNvSpPr txBox="1"/>
          <p:nvPr>
            <p:ph idx="4" type="body"/>
          </p:nvPr>
        </p:nvSpPr>
        <p:spPr>
          <a:xfrm>
            <a:off x="13982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الإصدار الحالي</a:t>
            </a:r>
            <a:endParaRPr/>
          </a:p>
        </p:txBody>
      </p:sp>
      <p:sp>
        <p:nvSpPr>
          <p:cNvPr id="657" name="Google Shape;657;p18"/>
          <p:cNvSpPr txBox="1"/>
          <p:nvPr>
            <p:ph idx="5" type="body"/>
          </p:nvPr>
        </p:nvSpPr>
        <p:spPr>
          <a:xfrm>
            <a:off x="13982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منجز</a:t>
            </a:r>
            <a:endParaRPr/>
          </a:p>
        </p:txBody>
      </p:sp>
      <p:sp>
        <p:nvSpPr>
          <p:cNvPr id="658" name="Google Shape;658;p18"/>
          <p:cNvSpPr txBox="1"/>
          <p:nvPr>
            <p:ph idx="6" type="body"/>
          </p:nvPr>
        </p:nvSpPr>
        <p:spPr>
          <a:xfrm>
            <a:off x="13982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الفاتحة وجزء عمّ: تصحيح الكلمات وفحص الأحكام</a:t>
            </a:r>
            <a:endParaRPr/>
          </a:p>
        </p:txBody>
      </p:sp>
      <p:sp>
        <p:nvSpPr>
          <p:cNvPr id="659" name="Google Shape;659;p18"/>
          <p:cNvSpPr txBox="1"/>
          <p:nvPr>
            <p:ph idx="7" type="body"/>
          </p:nvPr>
        </p:nvSpPr>
        <p:spPr>
          <a:xfrm>
            <a:off x="108394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/>
          </a:p>
        </p:txBody>
      </p:sp>
      <p:sp>
        <p:nvSpPr>
          <p:cNvPr id="660" name="Google Shape;660;p18"/>
          <p:cNvSpPr txBox="1"/>
          <p:nvPr>
            <p:ph idx="8" type="body"/>
          </p:nvPr>
        </p:nvSpPr>
        <p:spPr>
          <a:xfrm>
            <a:off x="108394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مراجعة شرعية</a:t>
            </a:r>
            <a:endParaRPr/>
          </a:p>
        </p:txBody>
      </p:sp>
      <p:sp>
        <p:nvSpPr>
          <p:cNvPr id="661" name="Google Shape;661;p18"/>
          <p:cNvSpPr txBox="1"/>
          <p:nvPr>
            <p:ph idx="9" type="body"/>
          </p:nvPr>
        </p:nvSpPr>
        <p:spPr>
          <a:xfrm>
            <a:off x="108394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التالي</a:t>
            </a:r>
            <a:endParaRPr/>
          </a:p>
        </p:txBody>
      </p:sp>
      <p:sp>
        <p:nvSpPr>
          <p:cNvPr id="662" name="Google Shape;662;p18"/>
          <p:cNvSpPr txBox="1"/>
          <p:nvPr>
            <p:ph idx="13" type="body"/>
          </p:nvPr>
        </p:nvSpPr>
        <p:spPr>
          <a:xfrm>
            <a:off x="108394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اعتماد ألوان التجويد من معلّم مُجاز في قالون</a:t>
            </a:r>
            <a:endParaRPr/>
          </a:p>
        </p:txBody>
      </p:sp>
      <p:sp>
        <p:nvSpPr>
          <p:cNvPr id="663" name="Google Shape;663;p18"/>
          <p:cNvSpPr txBox="1"/>
          <p:nvPr>
            <p:ph idx="14" type="body"/>
          </p:nvPr>
        </p:nvSpPr>
        <p:spPr>
          <a:xfrm>
            <a:off x="76962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/>
          </a:p>
        </p:txBody>
      </p:sp>
      <p:sp>
        <p:nvSpPr>
          <p:cNvPr id="664" name="Google Shape;664;p18"/>
          <p:cNvSpPr txBox="1"/>
          <p:nvPr>
            <p:ph idx="15" type="body"/>
          </p:nvPr>
        </p:nvSpPr>
        <p:spPr>
          <a:xfrm>
            <a:off x="76962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أصوات متعلّمين</a:t>
            </a:r>
            <a:endParaRPr/>
          </a:p>
        </p:txBody>
      </p:sp>
      <p:sp>
        <p:nvSpPr>
          <p:cNvPr id="665" name="Google Shape;665;p18"/>
          <p:cNvSpPr txBox="1"/>
          <p:nvPr>
            <p:ph idx="16" type="body"/>
          </p:nvPr>
        </p:nvSpPr>
        <p:spPr>
          <a:xfrm>
            <a:off x="76962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التالي</a:t>
            </a:r>
            <a:endParaRPr/>
          </a:p>
        </p:txBody>
      </p:sp>
      <p:sp>
        <p:nvSpPr>
          <p:cNvPr id="666" name="Google Shape;666;p18"/>
          <p:cNvSpPr txBox="1"/>
          <p:nvPr>
            <p:ph idx="17" type="body"/>
          </p:nvPr>
        </p:nvSpPr>
        <p:spPr>
          <a:xfrm>
            <a:off x="76962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تسجيل 20 إلى 30 متعلّماً بموافقتهم لقياس الدقة</a:t>
            </a:r>
            <a:endParaRPr/>
          </a:p>
        </p:txBody>
      </p:sp>
      <p:sp>
        <p:nvSpPr>
          <p:cNvPr id="667" name="Google Shape;667;p18"/>
          <p:cNvSpPr txBox="1"/>
          <p:nvPr>
            <p:ph idx="18" type="body"/>
          </p:nvPr>
        </p:nvSpPr>
        <p:spPr>
          <a:xfrm>
            <a:off x="45529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668" name="Google Shape;668;p18"/>
          <p:cNvSpPr txBox="1"/>
          <p:nvPr>
            <p:ph idx="19" type="body"/>
          </p:nvPr>
        </p:nvSpPr>
        <p:spPr>
          <a:xfrm>
            <a:off x="45529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أخطاء حقيقية</a:t>
            </a:r>
            <a:endParaRPr/>
          </a:p>
        </p:txBody>
      </p:sp>
      <p:sp>
        <p:nvSpPr>
          <p:cNvPr id="669" name="Google Shape;669;p18"/>
          <p:cNvSpPr txBox="1"/>
          <p:nvPr>
            <p:ph idx="20" type="body"/>
          </p:nvPr>
        </p:nvSpPr>
        <p:spPr>
          <a:xfrm>
            <a:off x="45529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لاحقاً</a:t>
            </a:r>
            <a:endParaRPr/>
          </a:p>
        </p:txBody>
      </p:sp>
      <p:sp>
        <p:nvSpPr>
          <p:cNvPr id="670" name="Google Shape;670;p18"/>
          <p:cNvSpPr txBox="1"/>
          <p:nvPr>
            <p:ph idx="21" type="body"/>
          </p:nvPr>
        </p:nvSpPr>
        <p:spPr>
          <a:xfrm>
            <a:off x="45529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تدريب التجويد على أخطاء شائعة كنمط حفص</a:t>
            </a:r>
            <a:endParaRPr/>
          </a:p>
        </p:txBody>
      </p:sp>
      <p:sp>
        <p:nvSpPr>
          <p:cNvPr id="671" name="Google Shape;671;p18"/>
          <p:cNvSpPr txBox="1"/>
          <p:nvPr>
            <p:ph idx="22" type="body"/>
          </p:nvPr>
        </p:nvSpPr>
        <p:spPr>
          <a:xfrm>
            <a:off x="1409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/>
          </a:p>
        </p:txBody>
      </p:sp>
      <p:sp>
        <p:nvSpPr>
          <p:cNvPr id="672" name="Google Shape;672;p18"/>
          <p:cNvSpPr txBox="1"/>
          <p:nvPr>
            <p:ph idx="23" type="body"/>
          </p:nvPr>
        </p:nvSpPr>
        <p:spPr>
          <a:xfrm>
            <a:off x="1409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توسيع النطاق</a:t>
            </a:r>
            <a:endParaRPr/>
          </a:p>
        </p:txBody>
      </p:sp>
      <p:sp>
        <p:nvSpPr>
          <p:cNvPr id="673" name="Google Shape;673;p18"/>
          <p:cNvSpPr txBox="1"/>
          <p:nvPr>
            <p:ph idx="24" type="body"/>
          </p:nvPr>
        </p:nvSpPr>
        <p:spPr>
          <a:xfrm>
            <a:off x="1409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لاحقاً</a:t>
            </a:r>
            <a:endParaRPr/>
          </a:p>
        </p:txBody>
      </p:sp>
      <p:sp>
        <p:nvSpPr>
          <p:cNvPr id="674" name="Google Shape;674;p18"/>
          <p:cNvSpPr txBox="1"/>
          <p:nvPr>
            <p:ph idx="25" type="body"/>
          </p:nvPr>
        </p:nvSpPr>
        <p:spPr>
          <a:xfrm>
            <a:off x="1409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القرآن كاملاً وترجمات من quranenc.com</a:t>
            </a:r>
            <a:endParaRPr/>
          </a:p>
        </p:txBody>
      </p:sp>
      <p:cxnSp>
        <p:nvCxnSpPr>
          <p:cNvPr id="675" name="Google Shape;675;p18"/>
          <p:cNvCxnSpPr/>
          <p:nvPr/>
        </p:nvCxnSpPr>
        <p:spPr>
          <a:xfrm rot="10800000">
            <a:off x="139923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6" name="Google Shape;6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7" name="Google Shape;677;p18"/>
          <p:cNvCxnSpPr/>
          <p:nvPr/>
        </p:nvCxnSpPr>
        <p:spPr>
          <a:xfrm rot="10800000">
            <a:off x="108300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18"/>
          <p:cNvCxnSpPr/>
          <p:nvPr/>
        </p:nvCxnSpPr>
        <p:spPr>
          <a:xfrm rot="10800000">
            <a:off x="76677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8"/>
          <p:cNvCxnSpPr/>
          <p:nvPr/>
        </p:nvCxnSpPr>
        <p:spPr>
          <a:xfrm rot="10800000">
            <a:off x="45054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8"/>
          <p:cNvCxnSpPr/>
          <p:nvPr/>
        </p:nvCxnSpPr>
        <p:spPr>
          <a:xfrm rot="10800000">
            <a:off x="13431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9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الفريق</a:t>
            </a:r>
            <a:endParaRPr/>
          </a:p>
        </p:txBody>
      </p:sp>
      <p:sp>
        <p:nvSpPr>
          <p:cNvPr id="689" name="Google Shape;689;p19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فريق العمل</a:t>
            </a:r>
            <a:endParaRPr/>
          </a:p>
        </p:txBody>
      </p:sp>
      <p:sp>
        <p:nvSpPr>
          <p:cNvPr id="690" name="Google Shape;690;p19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[اسم الفريق]</a:t>
            </a:r>
            <a:endParaRPr/>
          </a:p>
        </p:txBody>
      </p:sp>
      <p:sp>
        <p:nvSpPr>
          <p:cNvPr id="691" name="Google Shape;691;p1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92" name="Google Shape;692;p19"/>
          <p:cNvSpPr/>
          <p:nvPr>
            <p:ph idx="3" type="pic"/>
          </p:nvPr>
        </p:nvSpPr>
        <p:spPr>
          <a:xfrm>
            <a:off x="12193524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19"/>
          <p:cNvSpPr txBox="1"/>
          <p:nvPr>
            <p:ph idx="4" type="body"/>
          </p:nvPr>
        </p:nvSpPr>
        <p:spPr>
          <a:xfrm>
            <a:off x="11718036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أبوبكر ناجي</a:t>
            </a:r>
            <a:endParaRPr/>
          </a:p>
        </p:txBody>
      </p:sp>
      <p:sp>
        <p:nvSpPr>
          <p:cNvPr id="694" name="Google Shape;694;p19"/>
          <p:cNvSpPr txBox="1"/>
          <p:nvPr>
            <p:ph idx="5" type="body"/>
          </p:nvPr>
        </p:nvSpPr>
        <p:spPr>
          <a:xfrm>
            <a:off x="11718036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تطبيق الويب والبث المباشر والتجويد</a:t>
            </a:r>
            <a:endParaRPr/>
          </a:p>
        </p:txBody>
      </p:sp>
      <p:sp>
        <p:nvSpPr>
          <p:cNvPr id="695" name="Google Shape;695;p19"/>
          <p:cNvSpPr/>
          <p:nvPr>
            <p:ph idx="6" type="pic"/>
          </p:nvPr>
        </p:nvSpPr>
        <p:spPr>
          <a:xfrm>
            <a:off x="8193024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19"/>
          <p:cNvSpPr txBox="1"/>
          <p:nvPr>
            <p:ph idx="7" type="body"/>
          </p:nvPr>
        </p:nvSpPr>
        <p:spPr>
          <a:xfrm>
            <a:off x="7717536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بدر</a:t>
            </a:r>
            <a:endParaRPr/>
          </a:p>
        </p:txBody>
      </p:sp>
      <p:sp>
        <p:nvSpPr>
          <p:cNvPr id="697" name="Google Shape;697;p19"/>
          <p:cNvSpPr txBox="1"/>
          <p:nvPr>
            <p:ph idx="8" type="body"/>
          </p:nvPr>
        </p:nvSpPr>
        <p:spPr>
          <a:xfrm>
            <a:off x="7717536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جمع البيانات وتدريب النماذج</a:t>
            </a:r>
            <a:endParaRPr/>
          </a:p>
        </p:txBody>
      </p:sp>
      <p:sp>
        <p:nvSpPr>
          <p:cNvPr id="698" name="Google Shape;698;p19"/>
          <p:cNvSpPr/>
          <p:nvPr>
            <p:ph idx="9" type="pic"/>
          </p:nvPr>
        </p:nvSpPr>
        <p:spPr>
          <a:xfrm>
            <a:off x="4192524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p19"/>
          <p:cNvSpPr txBox="1"/>
          <p:nvPr>
            <p:ph idx="13" type="body"/>
          </p:nvPr>
        </p:nvSpPr>
        <p:spPr>
          <a:xfrm>
            <a:off x="3717036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طه</a:t>
            </a:r>
            <a:endParaRPr/>
          </a:p>
        </p:txBody>
      </p:sp>
      <p:sp>
        <p:nvSpPr>
          <p:cNvPr id="700" name="Google Shape;700;p19"/>
          <p:cNvSpPr txBox="1"/>
          <p:nvPr>
            <p:ph idx="14" type="body"/>
          </p:nvPr>
        </p:nvSpPr>
        <p:spPr>
          <a:xfrm>
            <a:off x="3717036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تدريب النماذج وتحسينها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21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21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2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graphicFrame>
        <p:nvGraphicFramePr>
          <p:cNvPr id="731" name="Google Shape;731;p21"/>
          <p:cNvGraphicFramePr/>
          <p:nvPr/>
        </p:nvGraphicFramePr>
        <p:xfrm>
          <a:off x="1714500" y="3611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{B8ED9858-D163-4338-9E88-1F424354888F}</a:tableStyleId>
              </a:tblPr>
              <a:tblGrid>
                <a:gridCol w="2286000"/>
                <a:gridCol w="3238500"/>
                <a:gridCol w="6191250"/>
                <a:gridCol w="3714750"/>
              </a:tblGrid>
              <a:tr h="64008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180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الحالة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180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الدليل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180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كيف يطبّقه رتّل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180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المعيار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مطبّق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مطابقة النص آيةً آيةً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نص قالون من مجمع الملك فهد (6,214 آية)، والتلاوات المرجعية من mp3quran.net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الموثوقية والإسناد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مطبّق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0% آيات مختلَقة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 يُعطى النموذج النص المتوقع، وعند ضعف الثقة يعرض «التعرّف غير مؤكد» بدل الحكم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مقاومة الهلوسة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مطبّق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نصوص الواجهة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تصرّح الواجهة بأنها أداة تدريب آلية لا تُجيز، والكلمة الأخيرة للمعلّم المُجاز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الشفافية وعدم الاستقلال بالحكم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مطبّق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README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 يُحفظ الصوت، ويُعالج على خادم المشروع دون خدمات سحابية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الخصوصية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قيد التنفيذ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وثائق المستودع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التفسير والترجمة الحاليان من api.quran-tafseer.com، وننقلهما إلى quranenc.com المعتمدة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180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اعتماد مصادر التفسير والترجمة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</a:tbl>
          </a:graphicData>
        </a:graphic>
      </p:graphicFrame>
      <p:sp>
        <p:nvSpPr>
          <p:cNvPr id="732" name="Google Shape;732;p2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المعيار العلمي</a:t>
            </a:r>
            <a:endParaRPr/>
          </a:p>
        </p:txBody>
      </p:sp>
      <p:sp>
        <p:nvSpPr>
          <p:cNvPr id="733" name="Google Shape;733;p2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كيف يلتزم رتّل بالمعيار العلمي للحزمة</a:t>
            </a:r>
            <a:endParaRPr/>
          </a:p>
        </p:txBody>
      </p:sp>
      <p:sp>
        <p:nvSpPr>
          <p:cNvPr id="734" name="Google Shape;734;p2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مطابقة لبنود «المعيار العلمي الملزم لمخرجات الحلول»</a:t>
            </a:r>
            <a:endParaRPr/>
          </a:p>
        </p:txBody>
      </p:sp>
      <p:sp>
        <p:nvSpPr>
          <p:cNvPr id="735" name="Google Shape;735;p21"/>
          <p:cNvSpPr txBox="1"/>
          <p:nvPr>
            <p:ph idx="3" type="body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«مطبّق» يعني موجوداً في الإصدار الحالي من المستودع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g3fa608e308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g3fa608e3085_0_0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النتائج</a:t>
            </a:r>
            <a:endParaRPr/>
          </a:p>
        </p:txBody>
      </p:sp>
      <p:sp>
        <p:nvSpPr>
          <p:cNvPr id="743" name="Google Shape;743;g3fa608e3085_0_0"/>
          <p:cNvSpPr txBox="1"/>
          <p:nvPr>
            <p:ph type="title"/>
          </p:nvPr>
        </p:nvSpPr>
        <p:spPr>
          <a:xfrm>
            <a:off x="1409700" y="15811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الخطأ في الكلمات: من نحو 25% إلى 2%</a:t>
            </a:r>
            <a:endParaRPr/>
          </a:p>
        </p:txBody>
      </p:sp>
      <p:sp>
        <p:nvSpPr>
          <p:cNvPr id="744" name="Google Shape;744;g3fa608e3085_0_0"/>
          <p:cNvSpPr txBox="1"/>
          <p:nvPr>
            <p:ph idx="2" type="body"/>
          </p:nvPr>
        </p:nvSpPr>
        <p:spPr>
          <a:xfrm>
            <a:off x="1409700" y="23241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صوت لم يسمعه النموذج، بسرعة تلاوة عادية · كلما قلّ العمود كان أفضل</a:t>
            </a:r>
            <a:endParaRPr/>
          </a:p>
        </p:txBody>
      </p:sp>
      <p:sp>
        <p:nvSpPr>
          <p:cNvPr id="745" name="Google Shape;745;g3fa608e3085_0_0"/>
          <p:cNvSpPr txBox="1"/>
          <p:nvPr>
            <p:ph idx="12" type="sldNum"/>
          </p:nvPr>
        </p:nvSpPr>
        <p:spPr>
          <a:xfrm>
            <a:off x="1066800" y="9467850"/>
            <a:ext cx="95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746" name="Google Shape;746;g3fa608e3085_0_0"/>
          <p:cNvSpPr txBox="1"/>
          <p:nvPr>
            <p:ph idx="3" type="body"/>
          </p:nvPr>
        </p:nvSpPr>
        <p:spPr>
          <a:xfrm>
            <a:off x="2095500" y="8905875"/>
            <a:ext cx="1419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الوحدة: نسبة الخطأ في الكلمات (WER) · المصدر: docs/QALOON_MODEL_V2.md</a:t>
            </a:r>
            <a:endParaRPr/>
          </a:p>
        </p:txBody>
      </p:sp>
      <p:cxnSp>
        <p:nvCxnSpPr>
          <p:cNvPr id="773" name="Google Shape;773;g3fa608e3085_0_0"/>
          <p:cNvCxnSpPr/>
          <p:nvPr/>
        </p:nvCxnSpPr>
        <p:spPr>
          <a:xfrm flipH="1" rot="10800000">
            <a:off x="2011600" y="3016275"/>
            <a:ext cx="24000" cy="4866600"/>
          </a:xfrm>
          <a:prstGeom prst="straightConnector1">
            <a:avLst/>
          </a:prstGeom>
          <a:noFill/>
          <a:ln cap="flat" cmpd="sng" w="9525">
            <a:solidFill>
              <a:srgbClr val="FAF9FF"/>
            </a:solidFill>
            <a:prstDash val="solid"/>
            <a:round/>
            <a:headEnd len="med" w="med" type="diamond"/>
            <a:tailEnd len="med" w="med" type="triangle"/>
          </a:ln>
        </p:spPr>
      </p:cxnSp>
      <p:pic>
        <p:nvPicPr>
          <p:cNvPr id="785" name="Google Shape;785;g3fa608e308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6" name="Google Shape;786;g3fa608e3085_0_0"/>
          <p:cNvCxnSpPr/>
          <p:nvPr/>
        </p:nvCxnSpPr>
        <p:spPr>
          <a:xfrm rot="10800000">
            <a:off x="2289875" y="7941775"/>
            <a:ext cx="14453700" cy="0"/>
          </a:xfrm>
          <a:prstGeom prst="straightConnector1">
            <a:avLst/>
          </a:prstGeom>
          <a:noFill/>
          <a:ln cap="flat" cmpd="sng" w="9525">
            <a:solidFill>
              <a:srgbClr val="8E99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7" name="Axis 787"/>
          <p:cNvSpPr txBox="1"/>
          <p:nvPr/>
        </p:nvSpPr>
        <p:spPr>
          <a:xfrm>
            <a:off x="1325880" y="78089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rtl="1" algn="ctr"/>
            <a:r>
              <a:rPr lang="ar-SA" sz="1000" b="0">
                <a:solidFill>
                  <a:srgbClr val="F2F4FF"/>
                </a:solidFill>
                <a:latin typeface="Readex Pro"/>
                <a:ea typeface="Readex Pro"/>
                <a:cs typeface="Readex Pro"/>
              </a:rPr>
              <a:t>0</a:t>
            </a:r>
          </a:p>
        </p:txBody>
      </p:sp>
      <p:sp>
        <p:nvSpPr>
          <p:cNvPr id="788" name="Axis 788"/>
          <p:cNvSpPr txBox="1"/>
          <p:nvPr/>
        </p:nvSpPr>
        <p:spPr>
          <a:xfrm>
            <a:off x="1325880" y="70469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rtl="1" algn="ctr"/>
            <a:r>
              <a:rPr lang="ar-SA" sz="1000" b="0">
                <a:solidFill>
                  <a:srgbClr val="F2F4FF"/>
                </a:solidFill>
                <a:latin typeface="Readex Pro"/>
                <a:ea typeface="Readex Pro"/>
                <a:cs typeface="Readex Pro"/>
              </a:rPr>
              <a:t>5</a:t>
            </a:r>
          </a:p>
        </p:txBody>
      </p:sp>
      <p:sp>
        <p:nvSpPr>
          <p:cNvPr id="789" name="Axis 789"/>
          <p:cNvSpPr txBox="1"/>
          <p:nvPr/>
        </p:nvSpPr>
        <p:spPr>
          <a:xfrm>
            <a:off x="1325880" y="62849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rtl="1" algn="ctr"/>
            <a:r>
              <a:rPr lang="ar-SA" sz="1000" b="0">
                <a:solidFill>
                  <a:srgbClr val="F2F4FF"/>
                </a:solidFill>
                <a:latin typeface="Readex Pro"/>
                <a:ea typeface="Readex Pro"/>
                <a:cs typeface="Readex Pro"/>
              </a:rPr>
              <a:t>10</a:t>
            </a:r>
          </a:p>
        </p:txBody>
      </p:sp>
      <p:sp>
        <p:nvSpPr>
          <p:cNvPr id="790" name="Axis 790"/>
          <p:cNvSpPr txBox="1"/>
          <p:nvPr/>
        </p:nvSpPr>
        <p:spPr>
          <a:xfrm>
            <a:off x="1325880" y="55229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rtl="1" algn="ctr"/>
            <a:r>
              <a:rPr lang="ar-SA" sz="1000" b="0">
                <a:solidFill>
                  <a:srgbClr val="F2F4FF"/>
                </a:solidFill>
                <a:latin typeface="Readex Pro"/>
                <a:ea typeface="Readex Pro"/>
                <a:cs typeface="Readex Pro"/>
              </a:rPr>
              <a:t>15</a:t>
            </a:r>
          </a:p>
        </p:txBody>
      </p:sp>
      <p:sp>
        <p:nvSpPr>
          <p:cNvPr id="791" name="Axis 791"/>
          <p:cNvSpPr txBox="1"/>
          <p:nvPr/>
        </p:nvSpPr>
        <p:spPr>
          <a:xfrm>
            <a:off x="1325880" y="47609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rtl="1" algn="ctr"/>
            <a:r>
              <a:rPr lang="ar-SA" sz="1000" b="0">
                <a:solidFill>
                  <a:srgbClr val="F2F4FF"/>
                </a:solidFill>
                <a:latin typeface="Readex Pro"/>
                <a:ea typeface="Readex Pro"/>
                <a:cs typeface="Readex Pro"/>
              </a:rPr>
              <a:t>20</a:t>
            </a:r>
          </a:p>
        </p:txBody>
      </p:sp>
      <p:sp>
        <p:nvSpPr>
          <p:cNvPr id="792" name="Axis 792"/>
          <p:cNvSpPr txBox="1"/>
          <p:nvPr/>
        </p:nvSpPr>
        <p:spPr>
          <a:xfrm>
            <a:off x="1325880" y="39989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rtl="1" algn="ctr"/>
            <a:r>
              <a:rPr lang="ar-SA" sz="1000" b="0">
                <a:solidFill>
                  <a:srgbClr val="F2F4FF"/>
                </a:solidFill>
                <a:latin typeface="Readex Pro"/>
                <a:ea typeface="Readex Pro"/>
                <a:cs typeface="Readex Pro"/>
              </a:rPr>
              <a:t>25</a:t>
            </a:r>
          </a:p>
        </p:txBody>
      </p:sp>
      <p:sp>
        <p:nvSpPr>
          <p:cNvPr id="793" name="Axis 793"/>
          <p:cNvSpPr txBox="1"/>
          <p:nvPr/>
        </p:nvSpPr>
        <p:spPr>
          <a:xfrm>
            <a:off x="1325880" y="32369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rtl="1" algn="ctr"/>
            <a:r>
              <a:rPr lang="ar-SA" sz="1000" b="0">
                <a:solidFill>
                  <a:srgbClr val="F2F4FF"/>
                </a:solidFill>
                <a:latin typeface="Readex Pro"/>
                <a:ea typeface="Readex Pro"/>
                <a:cs typeface="Readex Pro"/>
              </a:rPr>
              <a:t>30</a:t>
            </a:r>
          </a:p>
        </p:txBody>
      </p:sp>
      <p:sp>
        <p:nvSpPr>
          <p:cNvPr id="794" name="Bar 794"/>
          <p:cNvSpPr/>
          <p:nvPr/>
        </p:nvSpPr>
        <p:spPr>
          <a:xfrm>
            <a:off x="14070330" y="4136136"/>
            <a:ext cx="1737360" cy="3810000"/>
          </a:xfrm>
          <a:prstGeom prst="roundRect">
            <a:avLst>
              <a:gd name="adj" fmla="val 12000"/>
            </a:avLst>
          </a:prstGeom>
          <a:solidFill>
            <a:srgbClr val="8E99CC"/>
          </a:solidFill>
          <a:ln>
            <a:noFill/>
          </a:ln>
        </p:spPr>
      </p:sp>
      <p:sp>
        <p:nvSpPr>
          <p:cNvPr id="795" name="Value 795"/>
          <p:cNvSpPr txBox="1"/>
          <p:nvPr/>
        </p:nvSpPr>
        <p:spPr>
          <a:xfrm>
            <a:off x="13567410" y="35692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rtl="1" algn="ctr"/>
            <a:r>
              <a:rPr lang="ar-SA" sz="2200" b="1">
                <a:solidFill>
                  <a:srgbClr val="F2F4FF"/>
                </a:solidFill>
                <a:latin typeface="Readex Pro"/>
                <a:ea typeface="Readex Pro"/>
                <a:cs typeface="Readex Pro"/>
              </a:rPr>
              <a:t>نحو 25%</a:t>
            </a:r>
          </a:p>
        </p:txBody>
      </p:sp>
      <p:sp>
        <p:nvSpPr>
          <p:cNvPr id="796" name="Category 796"/>
          <p:cNvSpPr txBox="1"/>
          <p:nvPr/>
        </p:nvSpPr>
        <p:spPr>
          <a:xfrm>
            <a:off x="13201650" y="8055864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rtl="1" algn="ctr"/>
            <a:r>
              <a:rPr lang="ar-SA" sz="1500" b="0">
                <a:solidFill>
                  <a:srgbClr val="F2F4FF"/>
                </a:solidFill>
                <a:latin typeface="Readex Pro"/>
                <a:ea typeface="Readex Pro"/>
                <a:cs typeface="Readex Pro"/>
              </a:rPr>
              <a:t>النموذج السابق للفريق</a:t>
            </a:r>
          </a:p>
        </p:txBody>
      </p:sp>
      <p:sp>
        <p:nvSpPr>
          <p:cNvPr id="797" name="Bar 797"/>
          <p:cNvSpPr/>
          <p:nvPr/>
        </p:nvSpPr>
        <p:spPr>
          <a:xfrm>
            <a:off x="10481310" y="7281672"/>
            <a:ext cx="1737360" cy="664464"/>
          </a:xfrm>
          <a:prstGeom prst="roundRect">
            <a:avLst>
              <a:gd name="adj" fmla="val 12000"/>
            </a:avLst>
          </a:prstGeom>
          <a:solidFill>
            <a:srgbClr val="E0D9FB"/>
          </a:solidFill>
          <a:ln>
            <a:noFill/>
          </a:ln>
        </p:spPr>
      </p:sp>
      <p:sp>
        <p:nvSpPr>
          <p:cNvPr id="798" name="Value 798"/>
          <p:cNvSpPr txBox="1"/>
          <p:nvPr/>
        </p:nvSpPr>
        <p:spPr>
          <a:xfrm>
            <a:off x="9978390" y="6714744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rtl="1" algn="ctr"/>
            <a:r>
              <a:rPr lang="ar-SA" sz="2200" b="1">
                <a:solidFill>
                  <a:srgbClr val="F2F4FF"/>
                </a:solidFill>
                <a:latin typeface="Readex Pro"/>
                <a:ea typeface="Readex Pro"/>
                <a:cs typeface="Readex Pro"/>
              </a:rPr>
              <a:t>4.36%</a:t>
            </a:r>
          </a:p>
        </p:txBody>
      </p:sp>
      <p:sp>
        <p:nvSpPr>
          <p:cNvPr id="799" name="Category 799"/>
          <p:cNvSpPr txBox="1"/>
          <p:nvPr/>
        </p:nvSpPr>
        <p:spPr>
          <a:xfrm>
            <a:off x="9612630" y="8055864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rtl="1" algn="ctr"/>
            <a:r>
              <a:rPr lang="ar-SA" sz="1500" b="0">
                <a:solidFill>
                  <a:srgbClr val="F2F4FF"/>
                </a:solidFill>
                <a:latin typeface="Readex Pro"/>
                <a:ea typeface="Readex Pro"/>
                <a:cs typeface="Readex Pro"/>
              </a:rPr>
              <a:t>نموذج Whisper قرآني عام</a:t>
            </a:r>
          </a:p>
        </p:txBody>
      </p:sp>
      <p:sp>
        <p:nvSpPr>
          <p:cNvPr id="800" name="Bar 800"/>
          <p:cNvSpPr/>
          <p:nvPr/>
        </p:nvSpPr>
        <p:spPr>
          <a:xfrm>
            <a:off x="6892290" y="7543800"/>
            <a:ext cx="1737360" cy="402336"/>
          </a:xfrm>
          <a:prstGeom prst="roundRect">
            <a:avLst>
              <a:gd name="adj" fmla="val 12000"/>
            </a:avLst>
          </a:prstGeom>
          <a:solidFill>
            <a:srgbClr val="6150EA"/>
          </a:solidFill>
          <a:ln>
            <a:noFill/>
          </a:ln>
        </p:spPr>
      </p:sp>
      <p:sp>
        <p:nvSpPr>
          <p:cNvPr id="801" name="Value 801"/>
          <p:cNvSpPr txBox="1"/>
          <p:nvPr/>
        </p:nvSpPr>
        <p:spPr>
          <a:xfrm>
            <a:off x="6389370" y="697687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rtl="1" algn="ctr"/>
            <a:r>
              <a:rPr lang="ar-SA" sz="2200" b="1">
                <a:solidFill>
                  <a:srgbClr val="F2F4FF"/>
                </a:solidFill>
                <a:latin typeface="Readex Pro"/>
                <a:ea typeface="Readex Pro"/>
                <a:cs typeface="Readex Pro"/>
              </a:rPr>
              <a:t>2.64%</a:t>
            </a:r>
          </a:p>
        </p:txBody>
      </p:sp>
      <p:sp>
        <p:nvSpPr>
          <p:cNvPr id="802" name="Category 802"/>
          <p:cNvSpPr txBox="1"/>
          <p:nvPr/>
        </p:nvSpPr>
        <p:spPr>
          <a:xfrm>
            <a:off x="6023610" y="8055864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rtl="1" algn="ctr"/>
            <a:r>
              <a:rPr lang="ar-SA" sz="1500" b="0">
                <a:solidFill>
                  <a:srgbClr val="F2F4FF"/>
                </a:solidFill>
                <a:latin typeface="Readex Pro"/>
                <a:ea typeface="Readex Pro"/>
                <a:cs typeface="Readex Pro"/>
              </a:rPr>
              <a:t>رتّل v1</a:t>
            </a:r>
          </a:p>
        </p:txBody>
      </p:sp>
      <p:sp>
        <p:nvSpPr>
          <p:cNvPr id="803" name="Bar 803"/>
          <p:cNvSpPr/>
          <p:nvPr/>
        </p:nvSpPr>
        <p:spPr>
          <a:xfrm>
            <a:off x="3303270" y="7641336"/>
            <a:ext cx="1737360" cy="304800"/>
          </a:xfrm>
          <a:prstGeom prst="roundRect">
            <a:avLst>
              <a:gd name="adj" fmla="val 12000"/>
            </a:avLst>
          </a:prstGeom>
          <a:solidFill>
            <a:srgbClr val="2EF2C2"/>
          </a:solidFill>
          <a:ln>
            <a:noFill/>
          </a:ln>
        </p:spPr>
      </p:sp>
      <p:sp>
        <p:nvSpPr>
          <p:cNvPr id="804" name="Value 804"/>
          <p:cNvSpPr txBox="1"/>
          <p:nvPr/>
        </p:nvSpPr>
        <p:spPr>
          <a:xfrm>
            <a:off x="2800350" y="70744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rtl="1" algn="ctr"/>
            <a:r>
              <a:rPr lang="ar-SA" sz="2200" b="1">
                <a:solidFill>
                  <a:srgbClr val="F2F4FF"/>
                </a:solidFill>
                <a:latin typeface="Readex Pro"/>
                <a:ea typeface="Readex Pro"/>
                <a:cs typeface="Readex Pro"/>
              </a:rPr>
              <a:t>2.0%</a:t>
            </a:r>
          </a:p>
        </p:txBody>
      </p:sp>
      <p:sp>
        <p:nvSpPr>
          <p:cNvPr id="805" name="Category 805"/>
          <p:cNvSpPr txBox="1"/>
          <p:nvPr/>
        </p:nvSpPr>
        <p:spPr>
          <a:xfrm>
            <a:off x="2434590" y="8055864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rtl="1" algn="ctr"/>
            <a:r>
              <a:rPr lang="ar-SA" sz="1500" b="0">
                <a:solidFill>
                  <a:srgbClr val="F2F4FF"/>
                </a:solidFill>
                <a:latin typeface="Readex Pro"/>
                <a:ea typeface="Readex Pro"/>
                <a:cs typeface="Readex Pro"/>
              </a:rPr>
              <a:t>رتّل v4 (الحالي)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4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آلية العمل</a:t>
            </a:r>
            <a:endParaRPr/>
          </a:p>
        </p:txBody>
      </p:sp>
      <p:sp>
        <p:nvSpPr>
          <p:cNvPr id="819" name="Google Shape;819;p24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 صوت المتعلّم إلى تصحيح كلمة بكلمة</a:t>
            </a:r>
            <a:endParaRPr/>
          </a:p>
        </p:txBody>
      </p:sp>
      <p:sp>
        <p:nvSpPr>
          <p:cNvPr id="820" name="Google Shape;820;p24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يُحدَّث أثناء التلاوة كل 1.2 ثانية تقريباً، ولا يُحفظ الصوت</a:t>
            </a:r>
            <a:endParaRPr/>
          </a:p>
        </p:txBody>
      </p:sp>
      <p:sp>
        <p:nvSpPr>
          <p:cNvPr id="821" name="Google Shape;821;p2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822" name="Google Shape;822;p24"/>
          <p:cNvSpPr/>
          <p:nvPr/>
        </p:nvSpPr>
        <p:spPr>
          <a:xfrm>
            <a:off x="13716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400" lIns="78400" spcFirstLastPara="1" rIns="78400" wrap="square" tIns="78400">
            <a:noAutofit/>
          </a:bodyPr>
          <a:lstStyle/>
          <a:p>
            <a:pPr indent="0" lvl="0" marL="0" marR="23867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المدخلات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صوت المتعلّم من الميكروفون أو ملف مرفوع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يصل مباشرة إلى خادم المشروع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1"/>
          </a:p>
        </p:txBody>
      </p:sp>
      <p:sp>
        <p:nvSpPr>
          <p:cNvPr id="823" name="Google Shape;823;p24"/>
          <p:cNvSpPr/>
          <p:nvPr/>
        </p:nvSpPr>
        <p:spPr>
          <a:xfrm>
            <a:off x="9715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المعالجة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نموذج Whisper مدرّب على قالون يكتب ما سمعه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دون أن يُعطى النص المتوقع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5715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400" lIns="78400" spcFirstLastPara="1" rIns="78400" wrap="square" tIns="78400">
            <a:noAutofit/>
          </a:bodyPr>
          <a:lstStyle/>
          <a:p>
            <a:pPr indent="0" lvl="0" marL="0" marR="238125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المخرجات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مطابقة كلمة بكلمة مع مصحف قالون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أخضر صحيح، أحمر متروك، أو «غير متأكد»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1714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الأثر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يصحّح المتعلّم في الحال من موضع الخطأ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نقيسه بالخطأ في الكلمات على أصوات جديدة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pic>
        <p:nvPicPr>
          <p:cNvPr id="826" name="Google Shape;8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Google Shape;842;p26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26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التجربة</a:t>
            </a:r>
            <a:endParaRPr/>
          </a:p>
        </p:txBody>
      </p:sp>
      <p:sp>
        <p:nvSpPr>
          <p:cNvPr id="844" name="Google Shape;844;p26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 الحرف الأول إلى الحفظ</a:t>
            </a:r>
            <a:endParaRPr/>
          </a:p>
        </p:txBody>
      </p:sp>
      <p:sp>
        <p:nvSpPr>
          <p:cNvPr id="845" name="Google Shape;845;p2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46" name="Google Shape;846;p26"/>
          <p:cNvPicPr>
            <a:picLocks noGrp="1"/>
          </p:cNvPicPr>
          <p:nvPr>
            <p:ph idx="2" type="pic"/>
          </p:nvPr>
        </p:nvPicPr>
        <p:blipFill>
          <a:blip r:embed="rId5"/>
          <a:stretch>
            <a:fillRect/>
          </a:stretch>
        </p:blipFill>
        <p:spPr>
          <a:xfrm>
            <a:off x="12077700" y="3714750"/>
            <a:ext cx="4762500" cy="4286400"/>
          </a:xfrm>
          <a:prstGeom prst="roundRect">
            <a:avLst>
              <a:gd fmla="val 5252" name="adj"/>
            </a:avLst>
          </a:prstGeom>
        </p:spPr>
      </p:pic>
      <p:sp>
        <p:nvSpPr>
          <p:cNvPr id="847" name="Google Shape;847;p26"/>
          <p:cNvSpPr txBox="1"/>
          <p:nvPr>
            <p:ph idx="3" type="body"/>
          </p:nvPr>
        </p:nvSpPr>
        <p:spPr>
          <a:xfrm>
            <a:off x="12115800" y="8334375"/>
            <a:ext cx="4762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الدروس: الحروف وأصواتها أولاً</a:t>
            </a:r>
            <a:endParaRPr/>
          </a:p>
        </p:txBody>
      </p:sp>
      <p:sp>
        <p:nvSpPr>
          <p:cNvPr id="848" name="Google Shape;848;p26"/>
          <p:cNvSpPr txBox="1"/>
          <p:nvPr>
            <p:ph idx="5" type="body"/>
          </p:nvPr>
        </p:nvSpPr>
        <p:spPr>
          <a:xfrm>
            <a:off x="6762750" y="8334375"/>
            <a:ext cx="4762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التجويد على رواية قالون</a:t>
            </a:r>
            <a:endParaRPr/>
          </a:p>
        </p:txBody>
      </p:sp>
      <p:sp>
        <p:nvSpPr>
          <p:cNvPr id="849" name="Google Shape;849;p26"/>
          <p:cNvSpPr txBox="1"/>
          <p:nvPr>
            <p:ph idx="7" type="body"/>
          </p:nvPr>
        </p:nvSpPr>
        <p:spPr>
          <a:xfrm>
            <a:off x="1409700" y="8334375"/>
            <a:ext cx="4762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التحديات: ما الآية التالية؟</a:t>
            </a:r>
            <a:endParaRPr/>
          </a:p>
        </p:txBody>
      </p:sp>
      <p:pic>
        <p:nvPicPr>
          <p:cNvPr id="850" name="Google Shape;8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26"/>
          <p:cNvPicPr>
            <a:picLocks noGrp="1"/>
          </p:cNvPicPr>
          <p:nvPr>
            <p:ph idx="2" type="pic"/>
          </p:nvPr>
        </p:nvPicPr>
        <p:blipFill>
          <a:blip r:embed="rId6"/>
          <a:stretch>
            <a:fillRect/>
          </a:stretch>
        </p:blipFill>
        <p:spPr>
          <a:xfrm>
            <a:off x="6743700" y="3714675"/>
            <a:ext cx="4762500" cy="4286400"/>
          </a:xfrm>
          <a:prstGeom prst="roundRect">
            <a:avLst>
              <a:gd fmla="val 5252" name="adj"/>
            </a:avLst>
          </a:prstGeom>
        </p:spPr>
      </p:pic>
      <p:pic>
        <p:nvPicPr>
          <p:cNvPr id="852" name="Google Shape;852;p26"/>
          <p:cNvPicPr>
            <a:picLocks noGrp="1"/>
          </p:cNvPicPr>
          <p:nvPr>
            <p:ph idx="2" type="pic"/>
          </p:nvPr>
        </p:nvPicPr>
        <p:blipFill>
          <a:blip r:embed="rId7"/>
          <a:stretch>
            <a:fillRect/>
          </a:stretch>
        </p:blipFill>
        <p:spPr>
          <a:xfrm>
            <a:off x="1409700" y="3714750"/>
            <a:ext cx="4762500" cy="4286400"/>
          </a:xfrm>
          <a:prstGeom prst="roundRect">
            <a:avLst>
              <a:gd fmla="val 5252" name="adj"/>
            </a:avLst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27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2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الحل</a:t>
            </a:r>
            <a:endParaRPr/>
          </a:p>
        </p:txBody>
      </p:sp>
      <p:sp>
        <p:nvSpPr>
          <p:cNvPr id="861" name="Google Shape;861;p2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أربع تجارب في منصة واحدة</a:t>
            </a:r>
            <a:endParaRPr/>
          </a:p>
        </p:txBody>
      </p:sp>
      <p:sp>
        <p:nvSpPr>
          <p:cNvPr id="862" name="Google Shape;862;p2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تعمل في المتصفح بواجهة عربية وإنجليزية، ولا تحتاج إلى معرفة سابقة بالعربية</a:t>
            </a:r>
            <a:endParaRPr/>
          </a:p>
        </p:txBody>
      </p:sp>
      <p:sp>
        <p:nvSpPr>
          <p:cNvPr id="863" name="Google Shape;863;p2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64" name="Google Shape;86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58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27"/>
          <p:cNvSpPr txBox="1"/>
          <p:nvPr>
            <p:ph idx="3" type="body"/>
          </p:nvPr>
        </p:nvSpPr>
        <p:spPr>
          <a:xfrm>
            <a:off x="13411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تعلّم القراءة</a:t>
            </a:r>
            <a:endParaRPr/>
          </a:p>
        </p:txBody>
      </p:sp>
      <p:sp>
        <p:nvSpPr>
          <p:cNvPr id="866" name="Google Shape;866;p27"/>
          <p:cNvSpPr txBox="1"/>
          <p:nvPr>
            <p:ph idx="4" type="body"/>
          </p:nvPr>
        </p:nvSpPr>
        <p:spPr>
          <a:xfrm>
            <a:off x="13411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5 وحدات و22 درساً تبدأ من الحرف وصوته</a:t>
            </a:r>
            <a:endParaRPr/>
          </a:p>
        </p:txBody>
      </p:sp>
      <p:pic>
        <p:nvPicPr>
          <p:cNvPr id="867" name="Google Shape;86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58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27"/>
          <p:cNvSpPr txBox="1"/>
          <p:nvPr>
            <p:ph idx="5" type="body"/>
          </p:nvPr>
        </p:nvSpPr>
        <p:spPr>
          <a:xfrm>
            <a:off x="9410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استوديو التلاوة</a:t>
            </a:r>
            <a:endParaRPr/>
          </a:p>
        </p:txBody>
      </p:sp>
      <p:sp>
        <p:nvSpPr>
          <p:cNvPr id="869" name="Google Shape;869;p27"/>
          <p:cNvSpPr txBox="1"/>
          <p:nvPr>
            <p:ph idx="6" type="body"/>
          </p:nvPr>
        </p:nvSpPr>
        <p:spPr>
          <a:xfrm>
            <a:off x="9410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يستمع مباشرة ويلوّن كل كلمة: صحيحة أو متروكة</a:t>
            </a:r>
            <a:endParaRPr/>
          </a:p>
        </p:txBody>
      </p:sp>
      <p:pic>
        <p:nvPicPr>
          <p:cNvPr id="870" name="Google Shape;87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7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27"/>
          <p:cNvSpPr txBox="1"/>
          <p:nvPr>
            <p:ph idx="7" type="body"/>
          </p:nvPr>
        </p:nvSpPr>
        <p:spPr>
          <a:xfrm>
            <a:off x="5410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التجويد برواية قالون</a:t>
            </a:r>
            <a:endParaRPr/>
          </a:p>
        </p:txBody>
      </p:sp>
      <p:sp>
        <p:nvSpPr>
          <p:cNvPr id="872" name="Google Shape;872;p27"/>
          <p:cNvSpPr txBox="1"/>
          <p:nvPr>
            <p:ph idx="8" type="body"/>
          </p:nvPr>
        </p:nvSpPr>
        <p:spPr>
          <a:xfrm>
            <a:off x="5410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المخارج والصفات والأحكام، و«افحص أحكامي»</a:t>
            </a:r>
            <a:endParaRPr/>
          </a:p>
        </p:txBody>
      </p:sp>
      <p:pic>
        <p:nvPicPr>
          <p:cNvPr id="873" name="Google Shape;87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57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7"/>
          <p:cNvSpPr txBox="1"/>
          <p:nvPr>
            <p:ph idx="9" type="body"/>
          </p:nvPr>
        </p:nvSpPr>
        <p:spPr>
          <a:xfrm>
            <a:off x="1409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التحديات والبحث</a:t>
            </a:r>
            <a:endParaRPr/>
          </a:p>
        </p:txBody>
      </p:sp>
      <p:sp>
        <p:nvSpPr>
          <p:cNvPr id="875" name="Google Shape;875;p27"/>
          <p:cNvSpPr txBox="1"/>
          <p:nvPr>
            <p:ph idx="13" type="body"/>
          </p:nvPr>
        </p:nvSpPr>
        <p:spPr>
          <a:xfrm>
            <a:off x="1409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5 تحديات للحفظ، وبحث عن الآية بالصوت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31" title="خلفية هكثون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31"/>
          <p:cNvSpPr txBox="1"/>
          <p:nvPr>
            <p:ph idx="1" type="body"/>
          </p:nvPr>
        </p:nvSpPr>
        <p:spPr>
          <a:xfrm>
            <a:off x="3810000" y="5676900"/>
            <a:ext cx="106680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رتّل · Rattil</a:t>
            </a:r>
            <a:endParaRPr/>
          </a:p>
        </p:txBody>
      </p:sp>
      <p:sp>
        <p:nvSpPr>
          <p:cNvPr id="916" name="Google Shape;916;p31"/>
          <p:cNvSpPr txBox="1"/>
          <p:nvPr>
            <p:ph idx="2" type="body"/>
          </p:nvPr>
        </p:nvSpPr>
        <p:spPr>
          <a:xfrm>
            <a:off x="3810000" y="6653200"/>
            <a:ext cx="10668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[رابط النموذج التجريبي أو وسيلة التواصل]</a:t>
            </a:r>
            <a:endParaRPr/>
          </a:p>
        </p:txBody>
      </p:sp>
      <p:sp>
        <p:nvSpPr>
          <p:cNvPr id="917" name="Google Shape;917;p31"/>
          <p:cNvSpPr txBox="1"/>
          <p:nvPr>
            <p:ph type="title"/>
          </p:nvPr>
        </p:nvSpPr>
        <p:spPr>
          <a:xfrm>
            <a:off x="3810000" y="3819525"/>
            <a:ext cx="10668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b="1" lang="ar-SA" sz="72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شكراً لكم</a:t>
            </a:r>
            <a:endParaRPr/>
          </a:p>
        </p:txBody>
      </p:sp>
      <p:pic>
        <p:nvPicPr>
          <p:cNvPr id="918" name="Google Shape;918;p31" title="شعار الهاكثون لايت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450" y="1277075"/>
            <a:ext cx="6546002" cy="16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37879" y="1460433"/>
            <a:ext cx="1891696" cy="119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31" title="شعار عام الذكاء الاصطناعي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6994" y="1261812"/>
            <a:ext cx="2908672" cy="170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31" title="شعار سدايا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0489" y="7716733"/>
            <a:ext cx="2292680" cy="13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31" title="شعار فيوتشر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79331" y="7929122"/>
            <a:ext cx="1570852" cy="92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31" title="شعار التحول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73933" y="7875719"/>
            <a:ext cx="1752806" cy="1028753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31"/>
          <p:cNvSpPr txBox="1"/>
          <p:nvPr/>
        </p:nvSpPr>
        <p:spPr>
          <a:xfrm>
            <a:off x="14046675" y="8254733"/>
            <a:ext cx="10620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شركاؤنا</a:t>
            </a:r>
            <a:r>
              <a:rPr lang="ar-SA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:</a:t>
            </a:r>
            <a:endParaRPr sz="18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cxnSp>
        <p:nvCxnSpPr>
          <p:cNvPr id="925" name="Google Shape;925;p31"/>
          <p:cNvCxnSpPr/>
          <p:nvPr/>
        </p:nvCxnSpPr>
        <p:spPr>
          <a:xfrm>
            <a:off x="7456246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31"/>
          <p:cNvCxnSpPr/>
          <p:nvPr/>
        </p:nvCxnSpPr>
        <p:spPr>
          <a:xfrm>
            <a:off x="5075007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7" name="Google Shape;927;p31" title="شعار وزارة الاتصالات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602750" y="7979050"/>
            <a:ext cx="3035650" cy="847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8" name="Google Shape;928;p31"/>
          <p:cNvCxnSpPr/>
          <p:nvPr/>
        </p:nvCxnSpPr>
        <p:spPr>
          <a:xfrm>
            <a:off x="10366904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