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e46d9cef-c56a-cdf6-0b54-daf870069b7b}">
          <p14:sldIdLst>
            <p14:sldId id="256"/>
          </p14:sldIdLst>
        </p14:section>
        <p14:section name="المشكلة" id="{c9f13c3b-104c-9b61-b944-5f8d8623367c}">
          <p14:sldIdLst>
            <p14:sldId id="257"/>
            <p14:sldId id="258"/>
          </p14:sldIdLst>
        </p14:section>
        <p14:section name="الحل" id="{6c94aea7-1d8c-1a8c-be28-59b5651b9258}">
          <p14:sldIdLst>
            <p14:sldId id="259"/>
            <p14:sldId id="260"/>
            <p14:sldId id="261"/>
          </p14:sldIdLst>
        </p14:section>
        <p14:section name="آلية العمل" id="{baad9aff-a612-8031-f434-9dc01e65d5fc}">
          <p14:sldIdLst>
            <p14:sldId id="262"/>
            <p14:sldId id="263"/>
          </p14:sldIdLst>
        </p14:section>
        <p14:section name="النتائج" id="{508a23a6-357d-8000-3050-42882c3218a4}">
          <p14:sldIdLst>
            <p14:sldId id="264"/>
            <p14:sldId id="265"/>
          </p14:sldIdLst>
        </p14:section>
        <p14:section name="الثقة والخطة" id="{ecd94acc-2c8e-ce45-b64a-2bb0f5820daf}">
          <p14:sldIdLst>
            <p14:sldId id="266"/>
            <p14:sldId id="267"/>
          </p14:sldIdLst>
        </p14:section>
        <p14:section name="الختام" id="{2dd55d80-86fd-3718-c24a-fa4900563e1f}">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32A"/>
                </a:solidFill>
                <a:latin typeface="IBM Plex Sans Arabic"/>
              </a:defRPr>
            </a:pPr>
            <a:r>
              <a:rPr sz="1400" b="0" i="0" u="none" strike="noStrike">
                <a:solidFill>
                  <a:srgbClr val="1F332A"/>
                </a:solidFill>
                <a:latin typeface="IBM Plex Sans Arabic"/>
              </a:rPr>
              <a:t>نسبة الخطأ في الكلمات حسب الإصدار (الأقل أفضل)</a:t>
            </a:r>
          </a:p>
        </c:rich>
      </c:tx>
      <c:layout/>
      <c:overlay val="0"/>
    </c:title>
    <c:autoTitleDeleted val="0"/>
    <c:plotArea>
      <c:layout/>
      <c:barChart>
        <c:barDir val="col"/>
        <c:grouping val="clustered"/>
        <c:varyColors val="0"/>
        <c:ser>
          <c:idx val="0"/>
          <c:order val="0"/>
          <c:tx>
            <c:strRef>
              <c:f>Sheet1!$B$1</c:f>
              <c:strCache>
                <c:ptCount val="1"/>
                <c:pt idx="0">
                  <c:v>بسرعة عادية</c:v>
                </c:pt>
              </c:strCache>
            </c:strRef>
          </c:tx>
          <c:spPr>
            <a:solidFill>
              <a:srgbClr val="17634B"/>
            </a:solidFill>
            <a:effectLst/>
          </c:spPr>
          <c:invertIfNegative val="0"/>
          <c:dLbls>
            <c:numFmt formatCode="0.0&quot;%&quot;" sourceLinked="0"/>
            <c:txPr>
              <a:bodyPr/>
              <a:lstStyle/>
              <a:p>
                <a:pPr>
                  <a:defRPr b="0" i="0" strike="noStrike" sz="1200" u="none">
                    <a:solidFill>
                      <a:srgbClr val="1F332A"/>
                    </a:solidFill>
                    <a:latin typeface="IBM Plex Sans Arabic"/>
                  </a:defRPr>
                </a:pPr>
              </a:p>
            </c:txPr>
            <c:showLegendKey val="0"/>
            <c:showVal val="1"/>
            <c:showCatName val="0"/>
            <c:showSerName val="0"/>
            <c:showPercent val="0"/>
            <c:showBubbleSize val="0"/>
            <c:showLeaderLines val="0"/>
          </c:dLbls>
          <c:cat>
            <c:multiLvlStrRef>
              <c:f>Sheet1!$A$2:$A$5</c:f>
              <c:multiLvlStrCache>
                <c:ptCount val="4"/>
                <c:lvl>
                  <c:pt idx="0">
                    <c:v>v1</c:v>
                  </c:pt>
                  <c:pt idx="1">
                    <c:v>v2</c:v>
                  </c:pt>
                  <c:pt idx="2">
                    <c:v>v3</c:v>
                  </c:pt>
                  <c:pt idx="3">
                    <c:v>v4</c:v>
                  </c:pt>
                </c:lvl>
              </c:multiLvlStrCache>
            </c:multiLvlStrRef>
          </c:cat>
          <c:val>
            <c:numRef>
              <c:f>Sheet1!$B$2:$B$5</c:f>
              <c:numCache>
                <c:formatCode>General</c:formatCode>
                <c:ptCount val="4"/>
                <c:pt idx="0">
                  <c:v>2.6</c:v>
                </c:pt>
                <c:pt idx="1">
                  <c:v>2</c:v>
                </c:pt>
                <c:pt idx="2">
                  <c:v>2.2</c:v>
                </c:pt>
                <c:pt idx="3">
                  <c:v>2</c:v>
                </c:pt>
              </c:numCache>
            </c:numRef>
          </c:val>
        </c:ser>
        <c:ser>
          <c:idx val="1"/>
          <c:order val="1"/>
          <c:tx>
            <c:strRef>
              <c:f>Sheet1!$C$1</c:f>
              <c:strCache>
                <c:ptCount val="1"/>
                <c:pt idx="0">
                  <c:v>بسرعة 1.25×</c:v>
                </c:pt>
              </c:strCache>
            </c:strRef>
          </c:tx>
          <c:spPr>
            <a:solidFill>
              <a:srgbClr val="B5A277"/>
            </a:solidFill>
            <a:effectLst/>
          </c:spPr>
          <c:invertIfNegative val="0"/>
          <c:dLbls>
            <c:numFmt formatCode="0.0&quot;%&quot;" sourceLinked="0"/>
            <c:txPr>
              <a:bodyPr/>
              <a:lstStyle/>
              <a:p>
                <a:pPr>
                  <a:defRPr b="0" i="0" strike="noStrike" sz="1200" u="none">
                    <a:solidFill>
                      <a:srgbClr val="1F332A"/>
                    </a:solidFill>
                    <a:latin typeface="IBM Plex Sans Arabic"/>
                  </a:defRPr>
                </a:pPr>
              </a:p>
            </c:txPr>
            <c:showLegendKey val="0"/>
            <c:showVal val="1"/>
            <c:showCatName val="0"/>
            <c:showSerName val="0"/>
            <c:showPercent val="0"/>
            <c:showBubbleSize val="0"/>
            <c:showLeaderLines val="0"/>
          </c:dLbls>
          <c:cat>
            <c:multiLvlStrRef>
              <c:f>Sheet1!$A$2:$A$5</c:f>
              <c:multiLvlStrCache>
                <c:ptCount val="4"/>
                <c:lvl>
                  <c:pt idx="0">
                    <c:v>v1</c:v>
                  </c:pt>
                  <c:pt idx="1">
                    <c:v>v2</c:v>
                  </c:pt>
                  <c:pt idx="2">
                    <c:v>v3</c:v>
                  </c:pt>
                  <c:pt idx="3">
                    <c:v>v4</c:v>
                  </c:pt>
                </c:lvl>
              </c:multiLvlStrCache>
            </c:multiLvlStrRef>
          </c:cat>
          <c:val>
            <c:numRef>
              <c:f>Sheet1!$C$2:$C$5</c:f>
              <c:numCache>
                <c:formatCode>General</c:formatCode>
                <c:ptCount val="4"/>
                <c:pt idx="0">
                  <c:v>19.9</c:v>
                </c:pt>
                <c:pt idx="1">
                  <c:v>16.9</c:v>
                </c:pt>
                <c:pt idx="2">
                  <c:v>13.4</c:v>
                </c:pt>
                <c:pt idx="3">
                  <c:v>11.9</c:v>
                </c:pt>
              </c:numCache>
            </c:numRef>
          </c:val>
        </c:ser>
        <c:dLbls>
          <c:numFmt formatCode="0.0&quot;%&quot;" sourceLinked="0"/>
          <c:txPr>
            <a:bodyPr/>
            <a:lstStyle/>
            <a:p>
              <a:pPr>
                <a:defRPr b="0" i="0" strike="noStrike" sz="1200" u="none">
                  <a:solidFill>
                    <a:srgbClr val="1F332A"/>
                  </a:solidFill>
                  <a:latin typeface="IBM Plex Sans Arab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F332A"/>
                </a:solidFill>
                <a:latin typeface="IBM Plex Sans Arabic"/>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9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7D8A80"/>
                </a:solidFill>
                <a:latin typeface="IBM Plex Sans Arabic"/>
              </a:defRPr>
            </a:pPr>
            <a:endParaRPr lang="en-US"/>
          </a:p>
        </c:txPr>
        <c:crossAx val="2094734554"/>
        <c:crosses val="autoZero"/>
        <c:crossBetween val="between"/>
        <c:majorUnit val="5"/>
      </c:valAx>
      <c:spPr>
        <a:noFill/>
        <a:ln>
          <a:noFill/>
        </a:ln>
        <a:effectLst/>
      </c:spPr>
    </c:plotArea>
    <c:legend>
      <c:legendPos val="t"/>
      <c:overlay val="0"/>
      <c:txPr>
        <a:bodyPr/>
        <a:lstStyle/>
        <a:p>
          <a:pPr>
            <a:defRPr sz="1300">
              <a:solidFill>
                <a:srgbClr val="1F332A"/>
              </a:solidFill>
              <a:latin typeface="IBM Plex Sans Arabic"/>
              <a:cs typeface="IBM Plex Sans Arab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نقدّم «رتّل»، واسمه من قوله تعالى: «ورتّل القرآن ترتيلاً».
رتّل منصة لتعلّم تلاوة القرآن برواية قالون عن نافع: يتلو المتعلّم، والنموذج يستمع ويحدد الكلمة الصحيحة والمتروكة.
الصورة لقطة حقيقية من التطبيق، والآية الحمراء آية حذفناها عمداً من التسجيل.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قالون رواية أهل ليبيا وأجزاء من شمال أفريقيا وغربها، لكن أدوات التلاوة الذكية مبنية على حفص.
اختبرنا النماذج الصوتية العامة على الكلمات التي تختلف فيها الروايتان، مثل «ملك يوم الدين»: كتبت صيغة قالون في 47 إلى 68% فقط من الحالات.
أي أن المتعلّم الذي يقرأ قراءة صحيحة بقالون قد يُقال له إنه أخطأ. نموذجنا كتب صيغة قالون في كل الحالات.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رتّل موجّه لثلاث فئات: المهتمّ بالإسلام الذي لا يقرأ العربية، والمسلم الجديد، ومتعلّم قالون الذي يحتاج من يستمع إليه بين حلقات المعلّم.
لذلك الواجهة بالإنجليزية افتراضياً مع خيار العربية، والدروس تبدأ من الحرف وصوته.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الرحلة من اليمين: تبدأ بالحروف وأصواتها في 22 درساً (نحو 270 خطوة)، ثم التلاوة في الاستوديو، ثم فحص الأحكام، ثم الحفظ عبر التحديات والبحث بالصوت.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لقطة حقيقية: رفعنا تلاوة لسورة الإخلاص بصوت الشيخ وليد، وهو صوت لم يُستخدم في التدريب، وحذفنا الآية الثالثة.
الآيات المتلوّة ظهرت بالأخضر، والمتروكة بالأحمر، وفي الأسفل ما سمعه النموذج حرفياً.
الكلمة لا تُعلَّم متروكة إلا بعد ملاحظتين متسقتين، والصمت وحده لا يُعدّ خطأ. وعند الشك نقول «غير مؤكد».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البحث بالصوت: يكفي أن يتلو المستخدم بضع كلمات.
في اختبارنا على 36 مقطعاً من ستة قرّاء جاءت الآية الصحيحة أولاً في كل الحالات، والطلب كاملاً يستغرق في الوسيط 0.18 ثانية على معالج عادي.
المطابقات خارج نطاق السور المدرّبة نعرضها «للاسترشاد»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خطوات: الصوت يصل من المتصفح، ونموذج rattil-qaloon-v4 يكتب ما سمعه، ثم نطابقه كلمة بكلمة مع نص مصحف قالون، ثم نلوّن الكلمات.
النقطة الجوهرية: لا نعطي النموذج النص المتوقع. النماذج التي تُعطى النص قد تكمل الآية من ذاكرتها فتخفي خطأ المتعلّم.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النموذج الأساسي بدأ من نموذج Whisper مدرّب مسبقاً على القرآن، وضبطناه بالكامل على عشرة قرّاء لرواية قالون.
نموذج التجويد يضيف تسع علامات، ودرّبناه على قراءة مجرّدة من الأحكام حتى لا يختلق علامة لم تُنطق.
وكل المصادر من القائمة المعتمدة في الحزمة: نص مجمع الملك فهد، وتلاوات mp3quran.net، ومنهج الأوقاف الليبية للتجويد. وصوت الاختبار لم يدخل التدريب.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بالسرعة العادية الخطأ نحو 2% منذ الإصدار الثاني. التحسّن الكبير كان في التلاوة السريعة: من 19.9% إلى 11.9% بسرعة 1.25×، بعد إضافة قرّاء وتسريع صوتي وآيات متصلة.
وللأمانة: بسرعة 1.5× ما زال الخطأ 20.4%، وهي أصعب حالة نعمل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هذه الأرقام على صوت لم يدخل التدريب إطلاقاً.
2% خطأ في الكلمات، وصيغة قالون صحيحة في كل الكلمات الخاصة بها، ودقة رصد التجويد 0.99 والاستدعاء 0.94، ولا آية مختلقة.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راجعنا بنود «المعيار العلمي الملزم لمخرجات الحلول» في الحزمة: الموثوقية، ومقاومة الهلوسة، والشفافية، وعدم الاستقلال بالحكم، والخصوصية.
وبصراحة: مصدر التفسير والترجمة الحالي ليس في القائمة المعتمدة، ونحن ننقله إلى موسوعة القرآن الكريم quranenc.com.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نريد أن نكون واضحين في حدود الإصدار الحالي: رتّل لا يُجيز ولا يحكم، ونطاق التعرّف الفاتحة وجزء عمّ، واختباراتنا على قرّاء محترفين.
الخطوات التالية: مراجعة معلّم مُجاز لألوان التجويد، ثم أصوات متعلّمين حقيقيين بموافقتهم، ثم أمثلة أخطاء حقيقية، ثم القرآن كاملاً مع ترجمات معتمدة.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لكم. رتّل شريك تدريب يستمع إليك، والكلمة الأخيرة للمعلّم المُجاز.
إن سمح الوقت، نعرض التطبيق مباشرة بالميكروفون.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rtlCol="0"/>
          <a:lstStyle>
            <a:lvl1pPr rtl="1" algn="r" indent="0" marL="0">
              <a:buNone/>
              <a:defRPr lang="ar-SA" altLang="en-US" sz="3600" b="1" dirty="0">
                <a:solidFill>
                  <a:schemeClr val="tx2"/>
                </a:solidFill>
                <a:latin typeface="Amiri" pitchFamily="34" charset="0"/>
                <a:ea typeface="Amiri" pitchFamily="34" charset="-122"/>
                <a:cs typeface="Amiri" pitchFamily="34" charset="-120"/>
              </a:defRPr>
            </a:lvl1pPr>
          </a:lstStyle>
          <a:p>
            <a:pPr algn="r" indent="0" marL="0">
              <a:buNone/>
            </a:pPr>
            <a:endParaRPr lang="ar-SA" sz="3600" dirty="0"/>
          </a:p>
        </p:txBody>
      </p:sp>
      <p:sp>
        <p:nvSpPr>
          <p:cNvPr id="3" name="Text 0"/>
          <p:cNvSpPr/>
          <p:nvPr/>
        </p:nvSpPr>
        <p:spPr>
          <a:xfrm>
            <a:off x="5669280" y="6382512"/>
            <a:ext cx="5973775" cy="274320"/>
          </a:xfrm>
          <a:prstGeom prst="rect">
            <a:avLst/>
          </a:prstGeom>
          <a:noFill/>
          <a:ln/>
        </p:spPr>
        <p:txBody>
          <a:bodyPr wrap="square" lIns="0" tIns="0" rIns="0" bIns="0" rtlCol="0" anchor="ctr"/>
          <a:lstStyle/>
          <a:p>
            <a:pPr algn="r" indent="0" marL="0">
              <a:buNone/>
            </a:pPr>
            <a:r>
              <a:rPr lang="ar-SA" altLang="en-US" sz="1000" dirty="0">
                <a:solidFill>
                  <a:schemeClr val="accent6"/>
                </a:solidFill>
                <a:latin typeface="IBM Plex Sans Arabic" pitchFamily="34" charset="0"/>
                <a:ea typeface="IBM Plex Sans Arabic" pitchFamily="34" charset="-122"/>
                <a:cs typeface="IBM Plex Sans Arabic" pitchFamily="34" charset="-120"/>
              </a:rPr>
              <a:t>رتّل · تحدي الذكاء الاصطناعي في خدمة المحتوى الإسلامي</a:t>
            </a:r>
            <a:endParaRPr lang="ar-SA" sz="10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rgbClr val="F3F7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rtlCol="0"/>
          <a:lstStyle>
            <a:lvl1pPr rtl="1" algn="r" indent="0" marL="0">
              <a:buNone/>
              <a:defRPr lang="ar-SA" altLang="en-US" sz="3600" b="1" dirty="0">
                <a:solidFill>
                  <a:schemeClr val="tx2"/>
                </a:solidFill>
                <a:latin typeface="Amiri" pitchFamily="34" charset="0"/>
                <a:ea typeface="Amiri" pitchFamily="34" charset="-122"/>
                <a:cs typeface="Amiri" pitchFamily="34" charset="-120"/>
              </a:defRPr>
            </a:lvl1pPr>
          </a:lstStyle>
          <a:p>
            <a:pPr algn="r" indent="0" marL="0">
              <a:buNone/>
            </a:pPr>
            <a:endParaRPr lang="ar-SA" sz="3600" dirty="0"/>
          </a:p>
        </p:txBody>
      </p:sp>
      <p:sp>
        <p:nvSpPr>
          <p:cNvPr id="3" name="Text 0"/>
          <p:cNvSpPr/>
          <p:nvPr/>
        </p:nvSpPr>
        <p:spPr>
          <a:xfrm>
            <a:off x="5669280" y="6382512"/>
            <a:ext cx="5973775" cy="274320"/>
          </a:xfrm>
          <a:prstGeom prst="rect">
            <a:avLst/>
          </a:prstGeom>
          <a:noFill/>
          <a:ln/>
        </p:spPr>
        <p:txBody>
          <a:bodyPr wrap="square" lIns="0" tIns="0" rIns="0" bIns="0" rtlCol="0" anchor="ctr"/>
          <a:lstStyle/>
          <a:p>
            <a:pPr algn="r" indent="0" marL="0">
              <a:buNone/>
            </a:pPr>
            <a:r>
              <a:rPr lang="ar-SA" altLang="en-US" sz="1000" dirty="0">
                <a:solidFill>
                  <a:schemeClr val="accent6"/>
                </a:solidFill>
                <a:latin typeface="IBM Plex Sans Arabic" pitchFamily="34" charset="0"/>
                <a:ea typeface="IBM Plex Sans Arabic" pitchFamily="34" charset="-122"/>
                <a:cs typeface="IBM Plex Sans Arabic" pitchFamily="34" charset="-120"/>
              </a:rPr>
              <a:t>رتّل · تحدي الذكاء الاصطناعي في خدمة المحتوى الإسلامي</a:t>
            </a:r>
            <a:endParaRPr lang="ar-SA" sz="10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493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DB2"/>
                </a:solidFill>
                <a:latin typeface="IBM Plex Sans Arabic"/>
                <a:ea typeface="IBM Plex Sans Arabic"/>
                <a:cs typeface="IBM Plex Sans Arabic"/>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309360" y="731520"/>
            <a:ext cx="5333695" cy="365760"/>
          </a:xfrm>
          <a:prstGeom prst="rect">
            <a:avLst/>
          </a:prstGeom>
          <a:noFill/>
          <a:ln/>
        </p:spPr>
        <p:txBody>
          <a:bodyPr wrap="square" lIns="0" tIns="0" rIns="0" bIns="0" rtlCol="0" anchor="t"/>
          <a:lstStyle/>
          <a:p>
            <a:pPr rtl="1" algn="r" indent="0" marL="0">
              <a:buNone/>
            </a:pPr>
            <a:r>
              <a:rPr lang="ar-SA" altLang="en-US" sz="1400" dirty="0">
                <a:solidFill>
                  <a:schemeClr val="accent2"/>
                </a:solidFill>
                <a:latin typeface="IBM Plex Sans Arabic" pitchFamily="34" charset="0"/>
                <a:ea typeface="IBM Plex Sans Arabic" pitchFamily="34" charset="-122"/>
                <a:cs typeface="IBM Plex Sans Arabic" pitchFamily="34" charset="-120"/>
              </a:rPr>
              <a:t>تحدي الذكاء الاصطناعي في خدمة المحتوى الإسلامي</a:t>
            </a:r>
            <a:endParaRPr lang="ar-SA" sz="1400" dirty="0"/>
          </a:p>
        </p:txBody>
      </p:sp>
      <p:sp>
        <p:nvSpPr>
          <p:cNvPr id="3" name="Text 1"/>
          <p:cNvSpPr txBox="1"/>
          <p:nvPr/>
        </p:nvSpPr>
        <p:spPr>
          <a:xfrm>
            <a:off x="6309360" y="1051560"/>
            <a:ext cx="5333695" cy="1600200"/>
          </a:xfrm>
          <a:prstGeom prst="rect">
            <a:avLst/>
          </a:prstGeom>
          <a:noFill/>
          <a:ln/>
        </p:spPr>
        <p:txBody>
          <a:bodyPr wrap="square" lIns="0" tIns="0" rIns="0" bIns="0" rtlCol="0" anchor="ctr"/>
          <a:lstStyle/>
          <a:p>
            <a:pPr rtl="1" algn="r" indent="0" marL="0">
              <a:buNone/>
            </a:pPr>
            <a:r>
              <a:rPr lang="ar-SA" altLang="en-US" sz="9600" b="1" dirty="0">
                <a:solidFill>
                  <a:schemeClr val="bg1"/>
                </a:solidFill>
                <a:latin typeface="Amiri" pitchFamily="34" charset="0"/>
                <a:ea typeface="Amiri" pitchFamily="34" charset="-122"/>
                <a:cs typeface="Amiri" pitchFamily="34" charset="-120"/>
              </a:rPr>
              <a:t>رَتِّل</a:t>
            </a:r>
            <a:endParaRPr lang="ar-SA" sz="9600" dirty="0"/>
          </a:p>
        </p:txBody>
      </p:sp>
      <p:sp>
        <p:nvSpPr>
          <p:cNvPr id="4" name="Text 2"/>
          <p:cNvSpPr txBox="1"/>
          <p:nvPr/>
        </p:nvSpPr>
        <p:spPr>
          <a:xfrm>
            <a:off x="6309360" y="3017520"/>
            <a:ext cx="5333695" cy="1188720"/>
          </a:xfrm>
          <a:prstGeom prst="rect">
            <a:avLst/>
          </a:prstGeom>
          <a:noFill/>
          <a:ln/>
        </p:spPr>
        <p:txBody>
          <a:bodyPr wrap="square" lIns="0" tIns="0" rIns="0" bIns="0" rtlCol="0" anchor="t"/>
          <a:lstStyle/>
          <a:p>
            <a:pPr rtl="1" algn="r" indent="0" marL="0">
              <a:lnSpc>
                <a:spcPct val="115000"/>
              </a:lnSpc>
              <a:buNone/>
            </a:pPr>
            <a:r>
              <a:rPr lang="ar-SA" altLang="en-US" sz="1800" dirty="0">
                <a:solidFill>
                  <a:schemeClr val="bg2"/>
                </a:solidFill>
                <a:latin typeface="IBM Plex Sans Arabic" pitchFamily="34" charset="0"/>
                <a:ea typeface="IBM Plex Sans Arabic" pitchFamily="34" charset="-122"/>
                <a:cs typeface="IBM Plex Sans Arabic" pitchFamily="34" charset="-120"/>
              </a:rPr>
              <a:t>تعلّم تلاوة القرآن الكريم برواية قالون عن نافع، من الحرف الأول إلى السورة، مع نموذج صوتي يستمع إليك ويصحّح كلمة بكلمة</a:t>
            </a:r>
            <a:endParaRPr lang="ar-SA" sz="1800" dirty="0"/>
          </a:p>
        </p:txBody>
      </p:sp>
      <p:sp>
        <p:nvSpPr>
          <p:cNvPr id="5" name="Text 3"/>
          <p:cNvSpPr txBox="1"/>
          <p:nvPr/>
        </p:nvSpPr>
        <p:spPr>
          <a:xfrm>
            <a:off x="6309360" y="4251960"/>
            <a:ext cx="5333695" cy="685800"/>
          </a:xfrm>
          <a:prstGeom prst="rect">
            <a:avLst/>
          </a:prstGeom>
          <a:noFill/>
          <a:ln/>
        </p:spPr>
        <p:txBody>
          <a:bodyPr wrap="square" lIns="0" tIns="0" rIns="0" bIns="0" rtlCol="0" anchor="t"/>
          <a:lstStyle/>
          <a:p>
            <a:pPr rtl="1" algn="r" indent="0" marL="0">
              <a:buNone/>
            </a:pPr>
            <a:r>
              <a:rPr lang="ar-SA" altLang="en-US" sz="2800" dirty="0">
                <a:solidFill>
                  <a:schemeClr val="accent2"/>
                </a:solidFill>
                <a:latin typeface="Amiri" pitchFamily="34" charset="0"/>
                <a:ea typeface="Amiri" pitchFamily="34" charset="-122"/>
                <a:cs typeface="Amiri" pitchFamily="34" charset="-120"/>
              </a:rPr>
              <a:t>﴿وَرَتِّلِ اِ۬لْقُرْءَانَ تَرْتِيلاً﴾</a:t>
            </a:r>
            <a:endParaRPr lang="ar-SA" sz="2800" dirty="0"/>
          </a:p>
        </p:txBody>
      </p:sp>
      <p:sp>
        <p:nvSpPr>
          <p:cNvPr id="6" name="Text 4"/>
          <p:cNvSpPr txBox="1"/>
          <p:nvPr/>
        </p:nvSpPr>
        <p:spPr>
          <a:xfrm>
            <a:off x="6309360" y="4937760"/>
            <a:ext cx="5333695" cy="320040"/>
          </a:xfrm>
          <a:prstGeom prst="rect">
            <a:avLst/>
          </a:prstGeom>
          <a:noFill/>
          <a:ln/>
        </p:spPr>
        <p:txBody>
          <a:bodyPr wrap="square" lIns="0" tIns="0" rIns="0" bIns="0" rtlCol="0" anchor="t"/>
          <a:lstStyle/>
          <a:p>
            <a:pPr rtl="1" algn="r" indent="0" marL="0">
              <a:buNone/>
            </a:pPr>
            <a:r>
              <a:rPr lang="ar-SA" altLang="en-US" sz="1200" dirty="0">
                <a:solidFill>
                  <a:schemeClr val="bg2"/>
                </a:solidFill>
                <a:latin typeface="IBM Plex Sans Arabic" pitchFamily="34" charset="0"/>
                <a:ea typeface="IBM Plex Sans Arabic" pitchFamily="34" charset="-122"/>
                <a:cs typeface="IBM Plex Sans Arabic" pitchFamily="34" charset="-120"/>
              </a:rPr>
              <a:t>المزمّل: 3 · رواية قالون، ومنها اسم المنصة</a:t>
            </a:r>
            <a:endParaRPr lang="ar-SA" sz="1200" dirty="0"/>
          </a:p>
        </p:txBody>
      </p:sp>
      <p:sp>
        <p:nvSpPr>
          <p:cNvPr id="7" name="Text 5"/>
          <p:cNvSpPr txBox="1"/>
          <p:nvPr/>
        </p:nvSpPr>
        <p:spPr>
          <a:xfrm>
            <a:off x="6309360" y="5897880"/>
            <a:ext cx="5333695" cy="320040"/>
          </a:xfrm>
          <a:prstGeom prst="rect">
            <a:avLst/>
          </a:prstGeom>
          <a:noFill/>
          <a:ln/>
        </p:spPr>
        <p:txBody>
          <a:bodyPr wrap="square" lIns="0" tIns="0" rIns="0" bIns="0" rtlCol="0" anchor="t"/>
          <a:lstStyle/>
          <a:p>
            <a:pPr rtl="1" algn="r" indent="0" marL="0">
              <a:buNone/>
            </a:pPr>
            <a:r>
              <a:rPr lang="ar-SA" altLang="en-US" sz="1300" dirty="0">
                <a:solidFill>
                  <a:schemeClr val="bg2"/>
                </a:solidFill>
                <a:latin typeface="IBM Plex Sans Arabic" pitchFamily="34" charset="0"/>
                <a:ea typeface="IBM Plex Sans Arabic" pitchFamily="34" charset="-122"/>
                <a:cs typeface="IBM Plex Sans Arabic" pitchFamily="34" charset="-120"/>
              </a:rPr>
              <a:t>[اسم الفريق] · 1448هـ / 2026م</a:t>
            </a:r>
            <a:endParaRPr lang="ar-SA" sz="1300" dirty="0"/>
          </a:p>
        </p:txBody>
      </p:sp>
      <p:sp>
        <p:nvSpPr>
          <p:cNvPr id="8" name="Studio result screenshot frame"/>
          <p:cNvSpPr/>
          <p:nvPr/>
        </p:nvSpPr>
        <p:spPr>
          <a:xfrm>
            <a:off x="548640" y="777240"/>
            <a:ext cx="5257800" cy="4572000"/>
          </a:xfrm>
          <a:prstGeom prst="roundRect">
            <a:avLst>
              <a:gd name="adj" fmla="val 2400"/>
            </a:avLst>
          </a:prstGeom>
          <a:solidFill>
            <a:schemeClr val="bg1"/>
          </a:solidFill>
          <a:ln w="9525">
            <a:solidFill>
              <a:srgbClr val="E3E9E0"/>
            </a:solidFill>
            <a:prstDash val="solid"/>
          </a:ln>
          <a:effectLst>
            <a:outerShdw sx="100000" sy="100000" kx="0" ky="0" algn="bl" rotWithShape="0" blurRad="177800" dist="50800" dir="5400000">
              <a:srgbClr val="0F2A20">
                <a:alpha val="16000"/>
              </a:srgbClr>
            </a:outerShdw>
          </a:effectLst>
        </p:spPr>
      </p:sp>
      <p:pic>
        <p:nvPicPr>
          <p:cNvPr id="9" name="Studio result screenshot" descr="/private/tmp/claude-501/-Users-abubakernaji-Desktop-MyShit-Hackathon-Ai-Reciter/36b052d7-f8d0-4c86-981e-c867e65ab714/scratchpad/img/d2_mushaf_ar.png">    </p:cNvPr>
          <p:cNvPicPr>
            <a:picLocks noChangeAspect="1"/>
          </p:cNvPicPr>
          <p:nvPr/>
        </p:nvPicPr>
        <p:blipFill>
          <a:blip r:embed="rId1"/>
          <a:stretch>
            <a:fillRect/>
          </a:stretch>
        </p:blipFill>
        <p:spPr>
          <a:xfrm>
            <a:off x="640080" y="868680"/>
            <a:ext cx="5074920" cy="4389120"/>
          </a:xfrm>
          <a:prstGeom prst="rect">
            <a:avLst/>
          </a:prstGeom>
        </p:spPr>
      </p:pic>
      <p:sp>
        <p:nvSpPr>
          <p:cNvPr id="10" name="Text 7"/>
          <p:cNvSpPr txBox="1"/>
          <p:nvPr/>
        </p:nvSpPr>
        <p:spPr>
          <a:xfrm>
            <a:off x="548640" y="5440680"/>
            <a:ext cx="5257800" cy="320040"/>
          </a:xfrm>
          <a:prstGeom prst="rect">
            <a:avLst/>
          </a:prstGeom>
          <a:noFill/>
          <a:ln/>
        </p:spPr>
        <p:txBody>
          <a:bodyPr wrap="square" lIns="0" tIns="0" rIns="0" bIns="0" rtlCol="0" anchor="t"/>
          <a:lstStyle/>
          <a:p>
            <a:pPr rtl="1" algn="ctr" indent="0" marL="0">
              <a:buNone/>
            </a:pPr>
            <a:r>
              <a:rPr lang="ar-SA" altLang="en-US" sz="1200" dirty="0">
                <a:solidFill>
                  <a:schemeClr val="bg2"/>
                </a:solidFill>
                <a:latin typeface="IBM Plex Sans Arabic" pitchFamily="34" charset="0"/>
                <a:ea typeface="IBM Plex Sans Arabic" pitchFamily="34" charset="-122"/>
                <a:cs typeface="IBM Plex Sans Arabic" pitchFamily="34" charset="-120"/>
              </a:rPr>
              <a:t>لقطة حقيقية من الاستوديو: الآية المتروكة بالأحمر</a:t>
            </a:r>
            <a:endParaRPr lang="ar-SA" sz="12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DB2"/>
                </a:solidFill>
                <a:latin typeface="IBM Plex Sans Arabic"/>
                <a:ea typeface="IBM Plex Sans Arabic"/>
                <a:cs typeface="IBM Plex Sans Arabic"/>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640080"/>
            <a:ext cx="11094415" cy="365760"/>
          </a:xfrm>
          <a:prstGeom prst="rect">
            <a:avLst/>
          </a:prstGeom>
          <a:noFill/>
          <a:ln/>
        </p:spPr>
        <p:txBody>
          <a:bodyPr wrap="square" lIns="0" tIns="0" rIns="0" bIns="0" rtlCol="0" anchor="t"/>
          <a:lstStyle/>
          <a:p>
            <a:pPr rtl="1" algn="r" indent="0" marL="0">
              <a:buNone/>
            </a:pPr>
            <a:r>
              <a:rPr lang="ar-SA" altLang="en-US" sz="1600" b="1" dirty="0">
                <a:solidFill>
                  <a:schemeClr val="accent2"/>
                </a:solidFill>
                <a:latin typeface="IBM Plex Sans Arabic" pitchFamily="34" charset="0"/>
                <a:ea typeface="IBM Plex Sans Arabic" pitchFamily="34" charset="-122"/>
                <a:cs typeface="IBM Plex Sans Arabic" pitchFamily="34" charset="-120"/>
              </a:rPr>
              <a:t>المشكلة</a:t>
            </a:r>
            <a:endParaRPr lang="ar-SA" sz="1600" dirty="0"/>
          </a:p>
        </p:txBody>
      </p:sp>
      <p:sp>
        <p:nvSpPr>
          <p:cNvPr id="3" name="Text 1"/>
          <p:cNvSpPr txBox="1"/>
          <p:nvPr/>
        </p:nvSpPr>
        <p:spPr>
          <a:xfrm>
            <a:off x="548640" y="1097280"/>
            <a:ext cx="11094415" cy="1737360"/>
          </a:xfrm>
          <a:prstGeom prst="rect">
            <a:avLst/>
          </a:prstGeom>
          <a:noFill/>
          <a:ln/>
        </p:spPr>
        <p:txBody>
          <a:bodyPr wrap="square" lIns="0" tIns="0" rIns="0" bIns="0" rtlCol="0" anchor="ctr"/>
          <a:lstStyle/>
          <a:p>
            <a:pPr algn="r" indent="0" marL="0">
              <a:buNone/>
            </a:pPr>
            <a:r>
              <a:rPr lang="en-US" altLang="en-US" sz="11000" b="1" dirty="0">
                <a:solidFill>
                  <a:schemeClr val="accent2"/>
                </a:solidFill>
                <a:latin typeface="IBM Plex Sans Arabic" pitchFamily="34" charset="0"/>
                <a:ea typeface="IBM Plex Sans Arabic" pitchFamily="34" charset="-122"/>
                <a:cs typeface="IBM Plex Sans Arabic" pitchFamily="34" charset="-120"/>
              </a:rPr>
              <a:t>47–68%</a:t>
            </a:r>
            <a:endParaRPr lang="en-US" sz="11000" dirty="0"/>
          </a:p>
        </p:txBody>
      </p:sp>
      <p:sp>
        <p:nvSpPr>
          <p:cNvPr id="4" name="Text 2"/>
          <p:cNvSpPr txBox="1"/>
          <p:nvPr/>
        </p:nvSpPr>
        <p:spPr>
          <a:xfrm>
            <a:off x="2926080" y="2971800"/>
            <a:ext cx="8716975" cy="1280160"/>
          </a:xfrm>
          <a:prstGeom prst="rect">
            <a:avLst/>
          </a:prstGeom>
          <a:noFill/>
          <a:ln/>
        </p:spPr>
        <p:txBody>
          <a:bodyPr wrap="square" lIns="0" tIns="0" rIns="0" bIns="0" rtlCol="0" anchor="t"/>
          <a:lstStyle/>
          <a:p>
            <a:pPr rtl="1" algn="r" indent="0" marL="0">
              <a:lnSpc>
                <a:spcPct val="110000"/>
              </a:lnSpc>
              <a:buNone/>
            </a:pPr>
            <a:r>
              <a:rPr lang="ar-SA" altLang="en-US" sz="2600" dirty="0">
                <a:solidFill>
                  <a:schemeClr val="bg1"/>
                </a:solidFill>
                <a:latin typeface="IBM Plex Sans Arabic" pitchFamily="34" charset="0"/>
                <a:ea typeface="IBM Plex Sans Arabic" pitchFamily="34" charset="-122"/>
                <a:cs typeface="IBM Plex Sans Arabic" pitchFamily="34" charset="-120"/>
              </a:rPr>
              <a:t>هي نسبة ما تكتبه النماذج الصوتية العامة بصيغة قالون الصحيحة، في الكلمات التي تختلف فيها قالون عن حفص</a:t>
            </a:r>
            <a:endParaRPr lang="ar-SA" sz="2600" dirty="0"/>
          </a:p>
        </p:txBody>
      </p:sp>
      <p:sp>
        <p:nvSpPr>
          <p:cNvPr id="5" name="Rattil result pill"/>
          <p:cNvSpPr/>
          <p:nvPr/>
        </p:nvSpPr>
        <p:spPr>
          <a:xfrm>
            <a:off x="7436815" y="4526280"/>
            <a:ext cx="4206240" cy="685800"/>
          </a:xfrm>
          <a:prstGeom prst="roundRect">
            <a:avLst>
              <a:gd name="adj" fmla="val 40000"/>
            </a:avLst>
          </a:prstGeom>
          <a:solidFill>
            <a:schemeClr val="accent4"/>
          </a:solidFill>
          <a:ln/>
        </p:spPr>
        <p:txBody>
          <a:bodyPr wrap="square" lIns="0" tIns="0" rIns="0" bIns="0" rtlCol="0" anchor="ctr"/>
          <a:lstStyle/>
          <a:p>
            <a:pPr algn="ctr" indent="0" marL="0">
              <a:buNone/>
            </a:pPr>
            <a:r>
              <a:rPr lang="ar-SA" altLang="en-US" sz="2200" b="1" dirty="0">
                <a:solidFill>
                  <a:srgbClr val="164937"/>
                </a:solidFill>
                <a:latin typeface="IBM Plex Sans Arabic" pitchFamily="34" charset="0"/>
                <a:ea typeface="IBM Plex Sans Arabic" pitchFamily="34" charset="-122"/>
                <a:cs typeface="IBM Plex Sans Arabic" pitchFamily="34" charset="-120"/>
              </a:rPr>
              <a:t>رتّل: </a:t>
            </a:r>
            <a:pPr algn="ctr" indent="0" marL="0">
              <a:buNone/>
            </a:pPr>
            <a:r>
              <a:rPr lang="ar-SA" altLang="en-US" sz="2200" dirty="0">
                <a:solidFill>
                  <a:srgbClr val="164937"/>
                </a:solidFill>
                <a:latin typeface="IBM Plex Sans Arabic" pitchFamily="34" charset="0"/>
                <a:ea typeface="IBM Plex Sans Arabic" pitchFamily="34" charset="-122"/>
                <a:cs typeface="IBM Plex Sans Arabic" pitchFamily="34" charset="-120"/>
              </a:rPr>
              <a:t>100% في الاختبار نفسه</a:t>
            </a:r>
            <a:endParaRPr lang="ar-SA" sz="2200" dirty="0"/>
          </a:p>
        </p:txBody>
      </p:sp>
      <p:sp>
        <p:nvSpPr>
          <p:cNvPr id="6" name="Text 4"/>
          <p:cNvSpPr txBox="1"/>
          <p:nvPr/>
        </p:nvSpPr>
        <p:spPr>
          <a:xfrm>
            <a:off x="548640" y="5806440"/>
            <a:ext cx="11094415" cy="320040"/>
          </a:xfrm>
          <a:prstGeom prst="rect">
            <a:avLst/>
          </a:prstGeom>
          <a:noFill/>
          <a:ln/>
        </p:spPr>
        <p:txBody>
          <a:bodyPr wrap="square" lIns="0" tIns="0" rIns="0" bIns="0" rtlCol="0" anchor="t"/>
          <a:lstStyle/>
          <a:p>
            <a:pPr rtl="1" algn="r" indent="0" marL="0">
              <a:buNone/>
            </a:pPr>
            <a:r>
              <a:rPr lang="ar-SA" altLang="en-US" sz="1200" dirty="0">
                <a:solidFill>
                  <a:srgbClr val="A9BDB2"/>
                </a:solidFill>
                <a:latin typeface="IBM Plex Sans Arabic" pitchFamily="34" charset="0"/>
                <a:ea typeface="IBM Plex Sans Arabic" pitchFamily="34" charset="-122"/>
                <a:cs typeface="IBM Plex Sans Arabic" pitchFamily="34" charset="-120"/>
              </a:rPr>
              <a:t>على صوت قارئ لم يُستخدم في التدريب · المصدر: docs/QALOON_MODEL_V1.md</a:t>
            </a:r>
            <a:endParaRPr lang="ar-SA" sz="12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DB2"/>
                </a:solidFill>
                <a:latin typeface="IBM Plex Sans Arabic"/>
                <a:ea typeface="IBM Plex Sans Arabic"/>
                <a:cs typeface="IBM Plex Sans Arabic"/>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لمن صُمّم رتّل؟</a:t>
            </a:r>
            <a:endParaRPr lang="ar-SA" sz="3600" dirty="0"/>
          </a:p>
        </p:txBody>
      </p:sp>
      <p:sp>
        <p:nvSpPr>
          <p:cNvPr id="3" name="Text 1"/>
          <p:cNvSpPr txBox="1"/>
          <p:nvPr/>
        </p:nvSpPr>
        <p:spPr>
          <a:xfrm>
            <a:off x="548640" y="1234440"/>
            <a:ext cx="11094415" cy="411480"/>
          </a:xfrm>
          <a:prstGeom prst="rect">
            <a:avLst/>
          </a:prstGeom>
          <a:noFill/>
          <a:ln/>
        </p:spPr>
        <p:txBody>
          <a:bodyPr wrap="square" lIns="0" tIns="0" rIns="0" bIns="0" rtlCol="0" anchor="t"/>
          <a:lstStyle/>
          <a:p>
            <a:pPr rtl="1" algn="r" indent="0" marL="0">
              <a:buNone/>
            </a:pPr>
            <a:r>
              <a:rPr lang="ar-SA" altLang="en-US" sz="1600" dirty="0">
                <a:solidFill>
                  <a:schemeClr val="accent6"/>
                </a:solidFill>
                <a:latin typeface="IBM Plex Sans Arabic" pitchFamily="34" charset="0"/>
                <a:ea typeface="IBM Plex Sans Arabic" pitchFamily="34" charset="-122"/>
                <a:cs typeface="IBM Plex Sans Arabic" pitchFamily="34" charset="-120"/>
              </a:rPr>
              <a:t>قالون عن نافع رواية أهل ليبيا وأجزاء من شمال أفريقيا وغربها، والمبتدئ يحتاج أن يبدأ من الحرف</a:t>
            </a:r>
            <a:endParaRPr lang="ar-SA" sz="1600" dirty="0"/>
          </a:p>
        </p:txBody>
      </p:sp>
      <p:sp>
        <p:nvSpPr>
          <p:cNvPr id="4" name="Persona card 1"/>
          <p:cNvSpPr/>
          <p:nvPr/>
        </p:nvSpPr>
        <p:spPr>
          <a:xfrm>
            <a:off x="8168335" y="2011680"/>
            <a:ext cx="3474720" cy="3566160"/>
          </a:xfrm>
          <a:prstGeom prst="roundRect">
            <a:avLst>
              <a:gd name="adj" fmla="val 3947"/>
            </a:avLst>
          </a:prstGeom>
          <a:solidFill>
            <a:schemeClr val="bg2"/>
          </a:solidFill>
          <a:ln/>
        </p:spPr>
      </p:sp>
      <p:sp>
        <p:nvSpPr>
          <p:cNvPr id="5" name="Icon circle LuHeart"/>
          <p:cNvSpPr/>
          <p:nvPr/>
        </p:nvSpPr>
        <p:spPr>
          <a:xfrm>
            <a:off x="10500055" y="2377440"/>
            <a:ext cx="822960" cy="822960"/>
          </a:xfrm>
          <a:prstGeom prst="ellipse">
            <a:avLst/>
          </a:prstGeom>
          <a:solidFill>
            <a:schemeClr val="accent1"/>
          </a:solidFill>
          <a:ln/>
        </p:spPr>
      </p:sp>
      <p:pic>
        <p:nvPicPr>
          <p:cNvPr id="6" name="Icon LuHeart" descr="preencoded.png">    </p:cNvPr>
          <p:cNvPicPr>
            <a:picLocks noChangeAspect="1"/>
          </p:cNvPicPr>
          <p:nvPr/>
        </p:nvPicPr>
        <p:blipFill>
          <a:blip r:embed="rId1"/>
          <a:stretch>
            <a:fillRect/>
          </a:stretch>
        </p:blipFill>
        <p:spPr>
          <a:xfrm>
            <a:off x="10714025" y="2591410"/>
            <a:ext cx="395021" cy="395021"/>
          </a:xfrm>
          <a:prstGeom prst="rect">
            <a:avLst/>
          </a:prstGeom>
        </p:spPr>
      </p:pic>
      <p:sp>
        <p:nvSpPr>
          <p:cNvPr id="7" name="Text 4"/>
          <p:cNvSpPr txBox="1"/>
          <p:nvPr/>
        </p:nvSpPr>
        <p:spPr>
          <a:xfrm>
            <a:off x="8488375" y="3429000"/>
            <a:ext cx="2834640" cy="502920"/>
          </a:xfrm>
          <a:prstGeom prst="rect">
            <a:avLst/>
          </a:prstGeom>
          <a:noFill/>
          <a:ln/>
        </p:spPr>
        <p:txBody>
          <a:bodyPr wrap="square" lIns="0" tIns="0" rIns="0" bIns="0" rtlCol="0" anchor="t"/>
          <a:lstStyle/>
          <a:p>
            <a:pPr rtl="1" algn="r" indent="0" marL="0">
              <a:buNone/>
            </a:pPr>
            <a:r>
              <a:rPr lang="ar-SA" altLang="en-US" sz="2100" b="1" dirty="0">
                <a:solidFill>
                  <a:schemeClr val="tx2"/>
                </a:solidFill>
                <a:latin typeface="IBM Plex Sans Arabic" pitchFamily="34" charset="0"/>
                <a:ea typeface="IBM Plex Sans Arabic" pitchFamily="34" charset="-122"/>
                <a:cs typeface="IBM Plex Sans Arabic" pitchFamily="34" charset="-120"/>
              </a:rPr>
              <a:t>المهتمّ بالإسلام</a:t>
            </a:r>
            <a:endParaRPr lang="ar-SA" sz="2100" dirty="0"/>
          </a:p>
        </p:txBody>
      </p:sp>
      <p:sp>
        <p:nvSpPr>
          <p:cNvPr id="8" name="Text 5"/>
          <p:cNvSpPr txBox="1"/>
          <p:nvPr/>
        </p:nvSpPr>
        <p:spPr>
          <a:xfrm>
            <a:off x="8488375" y="3977640"/>
            <a:ext cx="2834640" cy="1371600"/>
          </a:xfrm>
          <a:prstGeom prst="rect">
            <a:avLst/>
          </a:prstGeom>
          <a:noFill/>
          <a:ln/>
        </p:spPr>
        <p:txBody>
          <a:bodyPr wrap="square" lIns="0" tIns="0" rIns="0" bIns="0" rtlCol="0" anchor="t"/>
          <a:lstStyle/>
          <a:p>
            <a:pPr rtl="1" algn="r" indent="0" marL="0">
              <a:lnSpc>
                <a:spcPct val="115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يريد أن يسمع القرآن ويقرأه دون معرفة سابقة بالعربية، فيبدأ من الحروف وأصواتها.</a:t>
            </a:r>
            <a:endParaRPr lang="ar-SA" sz="1500" dirty="0"/>
          </a:p>
        </p:txBody>
      </p:sp>
      <p:sp>
        <p:nvSpPr>
          <p:cNvPr id="9" name="Persona card 2"/>
          <p:cNvSpPr/>
          <p:nvPr/>
        </p:nvSpPr>
        <p:spPr>
          <a:xfrm>
            <a:off x="4358488" y="2011680"/>
            <a:ext cx="3474720" cy="3566160"/>
          </a:xfrm>
          <a:prstGeom prst="roundRect">
            <a:avLst>
              <a:gd name="adj" fmla="val 3947"/>
            </a:avLst>
          </a:prstGeom>
          <a:solidFill>
            <a:schemeClr val="bg2"/>
          </a:solidFill>
          <a:ln/>
        </p:spPr>
      </p:sp>
      <p:sp>
        <p:nvSpPr>
          <p:cNvPr id="10" name="Icon circle LuUserPlus"/>
          <p:cNvSpPr/>
          <p:nvPr/>
        </p:nvSpPr>
        <p:spPr>
          <a:xfrm>
            <a:off x="6690208" y="2377440"/>
            <a:ext cx="822960" cy="822960"/>
          </a:xfrm>
          <a:prstGeom prst="ellipse">
            <a:avLst/>
          </a:prstGeom>
          <a:solidFill>
            <a:schemeClr val="accent1"/>
          </a:solidFill>
          <a:ln/>
        </p:spPr>
      </p:sp>
      <p:pic>
        <p:nvPicPr>
          <p:cNvPr id="11" name="Icon LuUserPlus" descr="preencoded.png">    </p:cNvPr>
          <p:cNvPicPr>
            <a:picLocks noChangeAspect="1"/>
          </p:cNvPicPr>
          <p:nvPr/>
        </p:nvPicPr>
        <p:blipFill>
          <a:blip r:embed="rId2"/>
          <a:stretch>
            <a:fillRect/>
          </a:stretch>
        </p:blipFill>
        <p:spPr>
          <a:xfrm>
            <a:off x="6904177" y="2591410"/>
            <a:ext cx="395021" cy="395021"/>
          </a:xfrm>
          <a:prstGeom prst="rect">
            <a:avLst/>
          </a:prstGeom>
        </p:spPr>
      </p:pic>
      <p:sp>
        <p:nvSpPr>
          <p:cNvPr id="12" name="Text 8"/>
          <p:cNvSpPr txBox="1"/>
          <p:nvPr/>
        </p:nvSpPr>
        <p:spPr>
          <a:xfrm>
            <a:off x="4678528" y="3429000"/>
            <a:ext cx="2834640" cy="502920"/>
          </a:xfrm>
          <a:prstGeom prst="rect">
            <a:avLst/>
          </a:prstGeom>
          <a:noFill/>
          <a:ln/>
        </p:spPr>
        <p:txBody>
          <a:bodyPr wrap="square" lIns="0" tIns="0" rIns="0" bIns="0" rtlCol="0" anchor="t"/>
          <a:lstStyle/>
          <a:p>
            <a:pPr rtl="1" algn="r" indent="0" marL="0">
              <a:buNone/>
            </a:pPr>
            <a:r>
              <a:rPr lang="ar-SA" altLang="en-US" sz="2100" b="1" dirty="0">
                <a:solidFill>
                  <a:schemeClr val="tx2"/>
                </a:solidFill>
                <a:latin typeface="IBM Plex Sans Arabic" pitchFamily="34" charset="0"/>
                <a:ea typeface="IBM Plex Sans Arabic" pitchFamily="34" charset="-122"/>
                <a:cs typeface="IBM Plex Sans Arabic" pitchFamily="34" charset="-120"/>
              </a:rPr>
              <a:t>المسلم الجديد</a:t>
            </a:r>
            <a:endParaRPr lang="ar-SA" sz="2100" dirty="0"/>
          </a:p>
        </p:txBody>
      </p:sp>
      <p:sp>
        <p:nvSpPr>
          <p:cNvPr id="13" name="Text 9"/>
          <p:cNvSpPr txBox="1"/>
          <p:nvPr/>
        </p:nvSpPr>
        <p:spPr>
          <a:xfrm>
            <a:off x="4678528" y="3977640"/>
            <a:ext cx="2834640" cy="1371600"/>
          </a:xfrm>
          <a:prstGeom prst="rect">
            <a:avLst/>
          </a:prstGeom>
          <a:noFill/>
          <a:ln/>
        </p:spPr>
        <p:txBody>
          <a:bodyPr wrap="square" lIns="0" tIns="0" rIns="0" bIns="0" rtlCol="0" anchor="t"/>
          <a:lstStyle/>
          <a:p>
            <a:pPr rtl="1" algn="r" indent="0" marL="0">
              <a:lnSpc>
                <a:spcPct val="115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يتعلّم القراءة خطوة خطوة، بواجهة إنجليزية أو عربية، ويتدرّب في أي وقت.</a:t>
            </a:r>
            <a:endParaRPr lang="ar-SA" sz="1500" dirty="0"/>
          </a:p>
        </p:txBody>
      </p:sp>
      <p:sp>
        <p:nvSpPr>
          <p:cNvPr id="14" name="Persona card 3"/>
          <p:cNvSpPr/>
          <p:nvPr/>
        </p:nvSpPr>
        <p:spPr>
          <a:xfrm>
            <a:off x="548640" y="2011680"/>
            <a:ext cx="3474720" cy="3566160"/>
          </a:xfrm>
          <a:prstGeom prst="roundRect">
            <a:avLst>
              <a:gd name="adj" fmla="val 3947"/>
            </a:avLst>
          </a:prstGeom>
          <a:solidFill>
            <a:schemeClr val="bg2"/>
          </a:solidFill>
          <a:ln/>
        </p:spPr>
      </p:sp>
      <p:sp>
        <p:nvSpPr>
          <p:cNvPr id="15" name="Icon circle LuMicVocal"/>
          <p:cNvSpPr/>
          <p:nvPr/>
        </p:nvSpPr>
        <p:spPr>
          <a:xfrm>
            <a:off x="2880360" y="2377440"/>
            <a:ext cx="822960" cy="822960"/>
          </a:xfrm>
          <a:prstGeom prst="ellipse">
            <a:avLst/>
          </a:prstGeom>
          <a:solidFill>
            <a:schemeClr val="accent1"/>
          </a:solidFill>
          <a:ln/>
        </p:spPr>
      </p:sp>
      <p:pic>
        <p:nvPicPr>
          <p:cNvPr id="16" name="Icon LuMicVocal" descr="preencoded.png">    </p:cNvPr>
          <p:cNvPicPr>
            <a:picLocks noChangeAspect="1"/>
          </p:cNvPicPr>
          <p:nvPr/>
        </p:nvPicPr>
        <p:blipFill>
          <a:blip r:embed="rId3"/>
          <a:stretch>
            <a:fillRect/>
          </a:stretch>
        </p:blipFill>
        <p:spPr>
          <a:xfrm>
            <a:off x="3094330" y="2591410"/>
            <a:ext cx="395021" cy="395021"/>
          </a:xfrm>
          <a:prstGeom prst="rect">
            <a:avLst/>
          </a:prstGeom>
        </p:spPr>
      </p:pic>
      <p:sp>
        <p:nvSpPr>
          <p:cNvPr id="17" name="Text 12"/>
          <p:cNvSpPr txBox="1"/>
          <p:nvPr/>
        </p:nvSpPr>
        <p:spPr>
          <a:xfrm>
            <a:off x="868680" y="3429000"/>
            <a:ext cx="2834640" cy="502920"/>
          </a:xfrm>
          <a:prstGeom prst="rect">
            <a:avLst/>
          </a:prstGeom>
          <a:noFill/>
          <a:ln/>
        </p:spPr>
        <p:txBody>
          <a:bodyPr wrap="square" lIns="0" tIns="0" rIns="0" bIns="0" rtlCol="0" anchor="t"/>
          <a:lstStyle/>
          <a:p>
            <a:pPr rtl="1" algn="r" indent="0" marL="0">
              <a:buNone/>
            </a:pPr>
            <a:r>
              <a:rPr lang="ar-SA" altLang="en-US" sz="2100" b="1" dirty="0">
                <a:solidFill>
                  <a:schemeClr val="tx2"/>
                </a:solidFill>
                <a:latin typeface="IBM Plex Sans Arabic" pitchFamily="34" charset="0"/>
                <a:ea typeface="IBM Plex Sans Arabic" pitchFamily="34" charset="-122"/>
                <a:cs typeface="IBM Plex Sans Arabic" pitchFamily="34" charset="-120"/>
              </a:rPr>
              <a:t>متعلّم قالون</a:t>
            </a:r>
            <a:endParaRPr lang="ar-SA" sz="2100" dirty="0"/>
          </a:p>
        </p:txBody>
      </p:sp>
      <p:sp>
        <p:nvSpPr>
          <p:cNvPr id="18" name="Text 13"/>
          <p:cNvSpPr txBox="1"/>
          <p:nvPr/>
        </p:nvSpPr>
        <p:spPr>
          <a:xfrm>
            <a:off x="868680" y="3977640"/>
            <a:ext cx="2834640" cy="1371600"/>
          </a:xfrm>
          <a:prstGeom prst="rect">
            <a:avLst/>
          </a:prstGeom>
          <a:noFill/>
          <a:ln/>
        </p:spPr>
        <p:txBody>
          <a:bodyPr wrap="square" lIns="0" tIns="0" rIns="0" bIns="0" rtlCol="0" anchor="t"/>
          <a:lstStyle/>
          <a:p>
            <a:pPr rtl="1" algn="r" indent="0" marL="0">
              <a:lnSpc>
                <a:spcPct val="115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يتدرّب بين حلقات المعلّم، ويحتاج من ينبّهه فوراً إلى الكلمة التي أسقطها.</a:t>
            </a:r>
            <a:endParaRPr lang="ar-SA" sz="15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رحلة المتعلّم في أربع محطات</a:t>
            </a:r>
            <a:endParaRPr lang="ar-SA" sz="3600" dirty="0"/>
          </a:p>
        </p:txBody>
      </p:sp>
      <p:sp>
        <p:nvSpPr>
          <p:cNvPr id="3" name="Path 1"/>
          <p:cNvSpPr/>
          <p:nvPr/>
        </p:nvSpPr>
        <p:spPr>
          <a:xfrm>
            <a:off x="8145590" y="2537460"/>
            <a:ext cx="1447724" cy="0"/>
          </a:xfrm>
          <a:prstGeom prst="line">
            <a:avLst/>
          </a:prstGeom>
          <a:noFill/>
          <a:ln w="19050">
            <a:solidFill>
              <a:schemeClr val="accent2"/>
            </a:solidFill>
            <a:prstDash val="dash"/>
            <a:headEnd type="triangle"/>
          </a:ln>
        </p:spPr>
      </p:sp>
      <p:sp>
        <p:nvSpPr>
          <p:cNvPr id="4" name="Medallion ١"/>
          <p:cNvSpPr/>
          <p:nvPr/>
        </p:nvSpPr>
        <p:spPr>
          <a:xfrm>
            <a:off x="9730473" y="2011680"/>
            <a:ext cx="1051560" cy="1051560"/>
          </a:xfrm>
          <a:prstGeom prst="ellipse">
            <a:avLst/>
          </a:prstGeom>
          <a:solidFill>
            <a:schemeClr val="bg1"/>
          </a:solidFill>
          <a:ln w="25400">
            <a:solidFill>
              <a:schemeClr val="accent2"/>
            </a:solidFill>
            <a:prstDash val="solid"/>
          </a:ln>
        </p:spPr>
      </p:sp>
      <p:sp>
        <p:nvSpPr>
          <p:cNvPr id="5" name="Text 3"/>
          <p:cNvSpPr txBox="1"/>
          <p:nvPr/>
        </p:nvSpPr>
        <p:spPr>
          <a:xfrm>
            <a:off x="9730473" y="2011680"/>
            <a:ext cx="1051560" cy="1051560"/>
          </a:xfrm>
          <a:prstGeom prst="rect">
            <a:avLst/>
          </a:prstGeom>
          <a:noFill/>
          <a:ln/>
        </p:spPr>
        <p:txBody>
          <a:bodyPr wrap="square" lIns="0" tIns="0" rIns="0" bIns="0" rtlCol="0" anchor="ctr"/>
          <a:lstStyle/>
          <a:p>
            <a:pPr rtl="1" algn="ctr" indent="0" marL="0">
              <a:buNone/>
            </a:pPr>
            <a:r>
              <a:rPr lang="ar-SA" altLang="en-US" sz="3000" b="1" dirty="0">
                <a:solidFill>
                  <a:schemeClr val="accent2"/>
                </a:solidFill>
                <a:latin typeface="Amiri" pitchFamily="34" charset="0"/>
                <a:ea typeface="Amiri" pitchFamily="34" charset="-122"/>
                <a:cs typeface="Amiri" pitchFamily="34" charset="-120"/>
              </a:rPr>
              <a:t>١</a:t>
            </a:r>
            <a:endParaRPr lang="ar-SA" sz="3000" dirty="0"/>
          </a:p>
        </p:txBody>
      </p:sp>
      <p:sp>
        <p:nvSpPr>
          <p:cNvPr id="6" name="Text 4"/>
          <p:cNvSpPr txBox="1"/>
          <p:nvPr/>
        </p:nvSpPr>
        <p:spPr>
          <a:xfrm>
            <a:off x="9006611" y="3337560"/>
            <a:ext cx="2499284"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IBM Plex Sans Arabic" pitchFamily="34" charset="0"/>
                <a:ea typeface="IBM Plex Sans Arabic" pitchFamily="34" charset="-122"/>
                <a:cs typeface="IBM Plex Sans Arabic" pitchFamily="34" charset="-120"/>
              </a:rPr>
              <a:t>الحروف</a:t>
            </a:r>
            <a:endParaRPr lang="ar-SA" sz="2400" dirty="0"/>
          </a:p>
        </p:txBody>
      </p:sp>
      <p:sp>
        <p:nvSpPr>
          <p:cNvPr id="7" name="Text 5"/>
          <p:cNvSpPr txBox="1"/>
          <p:nvPr/>
        </p:nvSpPr>
        <p:spPr>
          <a:xfrm>
            <a:off x="9052331" y="3931920"/>
            <a:ext cx="2407844" cy="109728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latin typeface="IBM Plex Sans Arabic" pitchFamily="34" charset="0"/>
                <a:ea typeface="IBM Plex Sans Arabic" pitchFamily="34" charset="-122"/>
                <a:cs typeface="IBM Plex Sans Arabic" pitchFamily="34" charset="-120"/>
              </a:rPr>
              <a:t>5 وحدات و22 درساً تبدأ من الحرف وصوته</a:t>
            </a:r>
            <a:endParaRPr lang="ar-SA" sz="1600" dirty="0"/>
          </a:p>
        </p:txBody>
      </p:sp>
      <p:sp>
        <p:nvSpPr>
          <p:cNvPr id="8" name="Path 2"/>
          <p:cNvSpPr/>
          <p:nvPr/>
        </p:nvSpPr>
        <p:spPr>
          <a:xfrm>
            <a:off x="5371986" y="2537460"/>
            <a:ext cx="1447724" cy="0"/>
          </a:xfrm>
          <a:prstGeom prst="line">
            <a:avLst/>
          </a:prstGeom>
          <a:noFill/>
          <a:ln w="19050">
            <a:solidFill>
              <a:schemeClr val="accent2"/>
            </a:solidFill>
            <a:prstDash val="dash"/>
            <a:headEnd type="triangle"/>
          </a:ln>
        </p:spPr>
      </p:sp>
      <p:sp>
        <p:nvSpPr>
          <p:cNvPr id="9" name="Medallion ٢"/>
          <p:cNvSpPr/>
          <p:nvPr/>
        </p:nvSpPr>
        <p:spPr>
          <a:xfrm>
            <a:off x="6956870" y="2011680"/>
            <a:ext cx="1051560" cy="1051560"/>
          </a:xfrm>
          <a:prstGeom prst="ellipse">
            <a:avLst/>
          </a:prstGeom>
          <a:solidFill>
            <a:schemeClr val="bg1"/>
          </a:solidFill>
          <a:ln w="25400">
            <a:solidFill>
              <a:schemeClr val="accent2"/>
            </a:solidFill>
            <a:prstDash val="solid"/>
          </a:ln>
        </p:spPr>
      </p:sp>
      <p:sp>
        <p:nvSpPr>
          <p:cNvPr id="10" name="Text 8"/>
          <p:cNvSpPr txBox="1"/>
          <p:nvPr/>
        </p:nvSpPr>
        <p:spPr>
          <a:xfrm>
            <a:off x="6956870" y="2011680"/>
            <a:ext cx="1051560" cy="1051560"/>
          </a:xfrm>
          <a:prstGeom prst="rect">
            <a:avLst/>
          </a:prstGeom>
          <a:noFill/>
          <a:ln/>
        </p:spPr>
        <p:txBody>
          <a:bodyPr wrap="square" lIns="0" tIns="0" rIns="0" bIns="0" rtlCol="0" anchor="ctr"/>
          <a:lstStyle/>
          <a:p>
            <a:pPr rtl="1" algn="ctr" indent="0" marL="0">
              <a:buNone/>
            </a:pPr>
            <a:r>
              <a:rPr lang="ar-SA" altLang="en-US" sz="3000" b="1" dirty="0">
                <a:solidFill>
                  <a:schemeClr val="accent2"/>
                </a:solidFill>
                <a:latin typeface="Amiri" pitchFamily="34" charset="0"/>
                <a:ea typeface="Amiri" pitchFamily="34" charset="-122"/>
                <a:cs typeface="Amiri" pitchFamily="34" charset="-120"/>
              </a:rPr>
              <a:t>٢</a:t>
            </a:r>
            <a:endParaRPr lang="ar-SA" sz="3000" dirty="0"/>
          </a:p>
        </p:txBody>
      </p:sp>
      <p:sp>
        <p:nvSpPr>
          <p:cNvPr id="11" name="Text 9"/>
          <p:cNvSpPr txBox="1"/>
          <p:nvPr/>
        </p:nvSpPr>
        <p:spPr>
          <a:xfrm>
            <a:off x="6233008" y="3337560"/>
            <a:ext cx="2499284"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IBM Plex Sans Arabic" pitchFamily="34" charset="0"/>
                <a:ea typeface="IBM Plex Sans Arabic" pitchFamily="34" charset="-122"/>
                <a:cs typeface="IBM Plex Sans Arabic" pitchFamily="34" charset="-120"/>
              </a:rPr>
              <a:t>التلاوة</a:t>
            </a:r>
            <a:endParaRPr lang="ar-SA" sz="2400" dirty="0"/>
          </a:p>
        </p:txBody>
      </p:sp>
      <p:sp>
        <p:nvSpPr>
          <p:cNvPr id="12" name="Text 10"/>
          <p:cNvSpPr txBox="1"/>
          <p:nvPr/>
        </p:nvSpPr>
        <p:spPr>
          <a:xfrm>
            <a:off x="6278728" y="3931920"/>
            <a:ext cx="2407844" cy="109728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latin typeface="IBM Plex Sans Arabic" pitchFamily="34" charset="0"/>
                <a:ea typeface="IBM Plex Sans Arabic" pitchFamily="34" charset="-122"/>
                <a:cs typeface="IBM Plex Sans Arabic" pitchFamily="34" charset="-120"/>
              </a:rPr>
              <a:t>الاستوديو يستمع ويلوّن كل كلمة أثناء التلاوة</a:t>
            </a:r>
            <a:endParaRPr lang="ar-SA" sz="1600" dirty="0"/>
          </a:p>
        </p:txBody>
      </p:sp>
      <p:sp>
        <p:nvSpPr>
          <p:cNvPr id="13" name="Path 3"/>
          <p:cNvSpPr/>
          <p:nvPr/>
        </p:nvSpPr>
        <p:spPr>
          <a:xfrm>
            <a:off x="2598382" y="2537460"/>
            <a:ext cx="1447724" cy="0"/>
          </a:xfrm>
          <a:prstGeom prst="line">
            <a:avLst/>
          </a:prstGeom>
          <a:noFill/>
          <a:ln w="19050">
            <a:solidFill>
              <a:schemeClr val="accent2"/>
            </a:solidFill>
            <a:prstDash val="dash"/>
            <a:headEnd type="triangle"/>
          </a:ln>
        </p:spPr>
      </p:sp>
      <p:sp>
        <p:nvSpPr>
          <p:cNvPr id="14" name="Medallion ٣"/>
          <p:cNvSpPr/>
          <p:nvPr/>
        </p:nvSpPr>
        <p:spPr>
          <a:xfrm>
            <a:off x="4183266" y="2011680"/>
            <a:ext cx="1051560" cy="1051560"/>
          </a:xfrm>
          <a:prstGeom prst="ellipse">
            <a:avLst/>
          </a:prstGeom>
          <a:solidFill>
            <a:schemeClr val="bg1"/>
          </a:solidFill>
          <a:ln w="25400">
            <a:solidFill>
              <a:schemeClr val="accent2"/>
            </a:solidFill>
            <a:prstDash val="solid"/>
          </a:ln>
        </p:spPr>
      </p:sp>
      <p:sp>
        <p:nvSpPr>
          <p:cNvPr id="15" name="Text 13"/>
          <p:cNvSpPr txBox="1"/>
          <p:nvPr/>
        </p:nvSpPr>
        <p:spPr>
          <a:xfrm>
            <a:off x="4183266" y="2011680"/>
            <a:ext cx="1051560" cy="1051560"/>
          </a:xfrm>
          <a:prstGeom prst="rect">
            <a:avLst/>
          </a:prstGeom>
          <a:noFill/>
          <a:ln/>
        </p:spPr>
        <p:txBody>
          <a:bodyPr wrap="square" lIns="0" tIns="0" rIns="0" bIns="0" rtlCol="0" anchor="ctr"/>
          <a:lstStyle/>
          <a:p>
            <a:pPr rtl="1" algn="ctr" indent="0" marL="0">
              <a:buNone/>
            </a:pPr>
            <a:r>
              <a:rPr lang="ar-SA" altLang="en-US" sz="3000" b="1" dirty="0">
                <a:solidFill>
                  <a:schemeClr val="accent2"/>
                </a:solidFill>
                <a:latin typeface="Amiri" pitchFamily="34" charset="0"/>
                <a:ea typeface="Amiri" pitchFamily="34" charset="-122"/>
                <a:cs typeface="Amiri" pitchFamily="34" charset="-120"/>
              </a:rPr>
              <a:t>٣</a:t>
            </a:r>
            <a:endParaRPr lang="ar-SA" sz="3000" dirty="0"/>
          </a:p>
        </p:txBody>
      </p:sp>
      <p:sp>
        <p:nvSpPr>
          <p:cNvPr id="16" name="Text 14"/>
          <p:cNvSpPr txBox="1"/>
          <p:nvPr/>
        </p:nvSpPr>
        <p:spPr>
          <a:xfrm>
            <a:off x="3459404" y="3337560"/>
            <a:ext cx="2499284"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IBM Plex Sans Arabic" pitchFamily="34" charset="0"/>
                <a:ea typeface="IBM Plex Sans Arabic" pitchFamily="34" charset="-122"/>
                <a:cs typeface="IBM Plex Sans Arabic" pitchFamily="34" charset="-120"/>
              </a:rPr>
              <a:t>الأحكام</a:t>
            </a:r>
            <a:endParaRPr lang="ar-SA" sz="2400" dirty="0"/>
          </a:p>
        </p:txBody>
      </p:sp>
      <p:sp>
        <p:nvSpPr>
          <p:cNvPr id="17" name="Text 15"/>
          <p:cNvSpPr txBox="1"/>
          <p:nvPr/>
        </p:nvSpPr>
        <p:spPr>
          <a:xfrm>
            <a:off x="3505124" y="3931920"/>
            <a:ext cx="2407844" cy="109728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latin typeface="IBM Plex Sans Arabic" pitchFamily="34" charset="0"/>
                <a:ea typeface="IBM Plex Sans Arabic" pitchFamily="34" charset="-122"/>
                <a:cs typeface="IBM Plex Sans Arabic" pitchFamily="34" charset="-120"/>
              </a:rPr>
              <a:t>«افحص أحكامي» يرصد 9 علامات تجويد</a:t>
            </a:r>
            <a:endParaRPr lang="ar-SA" sz="1600" dirty="0"/>
          </a:p>
        </p:txBody>
      </p:sp>
      <p:sp>
        <p:nvSpPr>
          <p:cNvPr id="18" name="Medallion ٤"/>
          <p:cNvSpPr/>
          <p:nvPr/>
        </p:nvSpPr>
        <p:spPr>
          <a:xfrm>
            <a:off x="1409662" y="2011680"/>
            <a:ext cx="1051560" cy="1051560"/>
          </a:xfrm>
          <a:prstGeom prst="ellipse">
            <a:avLst/>
          </a:prstGeom>
          <a:solidFill>
            <a:schemeClr val="bg1"/>
          </a:solidFill>
          <a:ln w="25400">
            <a:solidFill>
              <a:schemeClr val="accent2"/>
            </a:solidFill>
            <a:prstDash val="solid"/>
          </a:ln>
        </p:spPr>
      </p:sp>
      <p:sp>
        <p:nvSpPr>
          <p:cNvPr id="19" name="Text 17"/>
          <p:cNvSpPr txBox="1"/>
          <p:nvPr/>
        </p:nvSpPr>
        <p:spPr>
          <a:xfrm>
            <a:off x="1409662" y="2011680"/>
            <a:ext cx="1051560" cy="1051560"/>
          </a:xfrm>
          <a:prstGeom prst="rect">
            <a:avLst/>
          </a:prstGeom>
          <a:noFill/>
          <a:ln/>
        </p:spPr>
        <p:txBody>
          <a:bodyPr wrap="square" lIns="0" tIns="0" rIns="0" bIns="0" rtlCol="0" anchor="ctr"/>
          <a:lstStyle/>
          <a:p>
            <a:pPr rtl="1" algn="ctr" indent="0" marL="0">
              <a:buNone/>
            </a:pPr>
            <a:r>
              <a:rPr lang="ar-SA" altLang="en-US" sz="3000" b="1" dirty="0">
                <a:solidFill>
                  <a:schemeClr val="accent2"/>
                </a:solidFill>
                <a:latin typeface="Amiri" pitchFamily="34" charset="0"/>
                <a:ea typeface="Amiri" pitchFamily="34" charset="-122"/>
                <a:cs typeface="Amiri" pitchFamily="34" charset="-120"/>
              </a:rPr>
              <a:t>٤</a:t>
            </a:r>
            <a:endParaRPr lang="ar-SA" sz="3000" dirty="0"/>
          </a:p>
        </p:txBody>
      </p:sp>
      <p:sp>
        <p:nvSpPr>
          <p:cNvPr id="20" name="Text 18"/>
          <p:cNvSpPr txBox="1"/>
          <p:nvPr/>
        </p:nvSpPr>
        <p:spPr>
          <a:xfrm>
            <a:off x="685800" y="3337560"/>
            <a:ext cx="2499284"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IBM Plex Sans Arabic" pitchFamily="34" charset="0"/>
                <a:ea typeface="IBM Plex Sans Arabic" pitchFamily="34" charset="-122"/>
                <a:cs typeface="IBM Plex Sans Arabic" pitchFamily="34" charset="-120"/>
              </a:rPr>
              <a:t>الحفظ</a:t>
            </a:r>
            <a:endParaRPr lang="ar-SA" sz="2400" dirty="0"/>
          </a:p>
        </p:txBody>
      </p:sp>
      <p:sp>
        <p:nvSpPr>
          <p:cNvPr id="21" name="Text 19"/>
          <p:cNvSpPr txBox="1"/>
          <p:nvPr/>
        </p:nvSpPr>
        <p:spPr>
          <a:xfrm>
            <a:off x="731520" y="3931920"/>
            <a:ext cx="2407844" cy="109728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latin typeface="IBM Plex Sans Arabic" pitchFamily="34" charset="0"/>
                <a:ea typeface="IBM Plex Sans Arabic" pitchFamily="34" charset="-122"/>
                <a:cs typeface="IBM Plex Sans Arabic" pitchFamily="34" charset="-120"/>
              </a:rPr>
              <a:t>5 تحديات، وبحث عن أي آية بالصوت</a:t>
            </a:r>
            <a:endParaRPr lang="ar-SA" sz="1600" dirty="0"/>
          </a:p>
        </p:txBody>
      </p:sp>
      <p:sp>
        <p:nvSpPr>
          <p:cNvPr id="22" name="Platform note"/>
          <p:cNvSpPr/>
          <p:nvPr/>
        </p:nvSpPr>
        <p:spPr>
          <a:xfrm>
            <a:off x="2194560" y="5349240"/>
            <a:ext cx="7802575" cy="548640"/>
          </a:xfrm>
          <a:prstGeom prst="roundRect">
            <a:avLst>
              <a:gd name="adj" fmla="val 41667"/>
            </a:avLst>
          </a:prstGeom>
          <a:solidFill>
            <a:schemeClr val="bg1"/>
          </a:solidFill>
          <a:ln/>
        </p:spPr>
        <p:txBody>
          <a:bodyPr wrap="square" lIns="0" tIns="0" rIns="0" bIns="0" rtlCol="0" anchor="ctr"/>
          <a:lstStyle/>
          <a:p>
            <a:pPr rtl="1" algn="ctr" indent="0" marL="0">
              <a:buNone/>
            </a:pPr>
            <a:r>
              <a:rPr lang="ar-SA" altLang="en-US" sz="1500" dirty="0">
                <a:solidFill>
                  <a:schemeClr val="accent1"/>
                </a:solidFill>
                <a:latin typeface="IBM Plex Sans Arabic" pitchFamily="34" charset="0"/>
                <a:ea typeface="IBM Plex Sans Arabic" pitchFamily="34" charset="-122"/>
                <a:cs typeface="IBM Plex Sans Arabic" pitchFamily="34" charset="-120"/>
              </a:rPr>
              <a:t>واجهة عربية وإنجليزية · تعمل في المتصفح · لا تحتاج إلى معرفة سابقة بالعربية</a:t>
            </a:r>
            <a:endParaRPr lang="ar-SA" sz="15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يرى المتعلّم خطأه لحظة وقوعه</a:t>
            </a:r>
            <a:endParaRPr lang="ar-SA" sz="3600" dirty="0"/>
          </a:p>
        </p:txBody>
      </p:sp>
      <p:sp>
        <p:nvSpPr>
          <p:cNvPr id="3" name="Studio screenshot frame"/>
          <p:cNvSpPr/>
          <p:nvPr/>
        </p:nvSpPr>
        <p:spPr>
          <a:xfrm>
            <a:off x="548640" y="1325880"/>
            <a:ext cx="5166360" cy="4864583"/>
          </a:xfrm>
          <a:prstGeom prst="roundRect">
            <a:avLst>
              <a:gd name="adj" fmla="val 2256"/>
            </a:avLst>
          </a:prstGeom>
          <a:solidFill>
            <a:schemeClr val="bg1"/>
          </a:solidFill>
          <a:ln w="9525">
            <a:solidFill>
              <a:srgbClr val="E3E9E0"/>
            </a:solidFill>
            <a:prstDash val="solid"/>
          </a:ln>
          <a:effectLst>
            <a:outerShdw sx="100000" sy="100000" kx="0" ky="0" algn="bl" rotWithShape="0" blurRad="177800" dist="50800" dir="5400000">
              <a:srgbClr val="0F2A20">
                <a:alpha val="16000"/>
              </a:srgbClr>
            </a:outerShdw>
          </a:effectLst>
        </p:spPr>
      </p:sp>
      <p:pic>
        <p:nvPicPr>
          <p:cNvPr id="4" name="Studio screenshot" descr="/private/tmp/claude-501/-Users-abubakernaji-Desktop-MyShit-Hackathon-Ai-Reciter/36b052d7-f8d0-4c86-981e-c867e65ab714/scratchpad/img/d2_studio_ar.png">    </p:cNvPr>
          <p:cNvPicPr>
            <a:picLocks noChangeAspect="1"/>
          </p:cNvPicPr>
          <p:nvPr/>
        </p:nvPicPr>
        <p:blipFill>
          <a:blip r:embed="rId1"/>
          <a:stretch>
            <a:fillRect/>
          </a:stretch>
        </p:blipFill>
        <p:spPr>
          <a:xfrm>
            <a:off x="640080" y="1417320"/>
            <a:ext cx="4983480" cy="4681703"/>
          </a:xfrm>
          <a:prstGeom prst="rect">
            <a:avLst/>
          </a:prstGeom>
        </p:spPr>
      </p:pic>
      <p:sp>
        <p:nvSpPr>
          <p:cNvPr id="5" name="Text 2"/>
          <p:cNvSpPr txBox="1"/>
          <p:nvPr/>
        </p:nvSpPr>
        <p:spPr>
          <a:xfrm>
            <a:off x="6355080" y="1463040"/>
            <a:ext cx="5287975" cy="777240"/>
          </a:xfrm>
          <a:prstGeom prst="rect">
            <a:avLst/>
          </a:prstGeom>
          <a:noFill/>
          <a:ln/>
        </p:spPr>
        <p:txBody>
          <a:bodyPr wrap="square" lIns="0" tIns="0" rIns="0" bIns="0" rtlCol="0" anchor="t"/>
          <a:lstStyle/>
          <a:p>
            <a:pPr rtl="1" algn="r" indent="0" marL="0">
              <a:lnSpc>
                <a:spcPct val="110000"/>
              </a:lnSpc>
              <a:buNone/>
            </a:pPr>
            <a:r>
              <a:rPr lang="ar-SA" altLang="en-US" sz="1700" dirty="0">
                <a:solidFill>
                  <a:schemeClr val="tx1"/>
                </a:solidFill>
                <a:latin typeface="IBM Plex Sans Arabic" pitchFamily="34" charset="0"/>
                <a:ea typeface="IBM Plex Sans Arabic" pitchFamily="34" charset="-122"/>
                <a:cs typeface="IBM Plex Sans Arabic" pitchFamily="34" charset="-120"/>
              </a:rPr>
              <a:t>سورة الإخلاص بصوت قارئ لم يسمعه النموذج، حذفنا منها الآية الثالثة عمداً:</a:t>
            </a:r>
            <a:endParaRPr lang="ar-SA" sz="1700" dirty="0"/>
          </a:p>
        </p:txBody>
      </p:sp>
      <p:sp>
        <p:nvSpPr>
          <p:cNvPr id="6" name="Word chip ok"/>
          <p:cNvSpPr/>
          <p:nvPr/>
        </p:nvSpPr>
        <p:spPr>
          <a:xfrm>
            <a:off x="9859975" y="2468880"/>
            <a:ext cx="1783080" cy="621792"/>
          </a:xfrm>
          <a:prstGeom prst="roundRect">
            <a:avLst>
              <a:gd name="adj" fmla="val 14706"/>
            </a:avLst>
          </a:prstGeom>
          <a:solidFill>
            <a:schemeClr val="accent4"/>
          </a:solidFill>
          <a:ln/>
        </p:spPr>
        <p:txBody>
          <a:bodyPr wrap="square" lIns="0" tIns="0" rIns="0" bIns="0" rtlCol="0" anchor="ctr"/>
          <a:lstStyle/>
          <a:p>
            <a:pPr rtl="1" algn="ctr" indent="0" marL="0">
              <a:buNone/>
            </a:pPr>
            <a:r>
              <a:rPr lang="ar-SA" altLang="en-US" sz="2200" dirty="0">
                <a:solidFill>
                  <a:srgbClr val="23563B"/>
                </a:solidFill>
                <a:latin typeface="Amiri" pitchFamily="34" charset="0"/>
                <a:ea typeface="Amiri" pitchFamily="34" charset="-122"/>
                <a:cs typeface="Amiri" pitchFamily="34" charset="-120"/>
              </a:rPr>
              <a:t>قُلْ هُوَ</a:t>
            </a:r>
            <a:endParaRPr lang="ar-SA" sz="2200" dirty="0"/>
          </a:p>
        </p:txBody>
      </p:sp>
      <p:sp>
        <p:nvSpPr>
          <p:cNvPr id="7" name="Text 4"/>
          <p:cNvSpPr txBox="1"/>
          <p:nvPr/>
        </p:nvSpPr>
        <p:spPr>
          <a:xfrm>
            <a:off x="6355080" y="2468880"/>
            <a:ext cx="3230575" cy="621792"/>
          </a:xfrm>
          <a:prstGeom prst="rect">
            <a:avLst/>
          </a:prstGeom>
          <a:noFill/>
          <a:ln/>
        </p:spPr>
        <p:txBody>
          <a:bodyPr wrap="square" lIns="0" tIns="0" rIns="0" bIns="0" rtlCol="0" anchor="ctr"/>
          <a:lstStyle/>
          <a:p>
            <a:pPr rtl="1" algn="r" indent="0" marL="0">
              <a:buNone/>
            </a:pPr>
            <a:r>
              <a:rPr lang="ar-SA" altLang="en-US" sz="1600" dirty="0">
                <a:solidFill>
                  <a:schemeClr val="tx1"/>
                </a:solidFill>
                <a:latin typeface="IBM Plex Sans Arabic" pitchFamily="34" charset="0"/>
                <a:ea typeface="IBM Plex Sans Arabic" pitchFamily="34" charset="-122"/>
                <a:cs typeface="IBM Plex Sans Arabic" pitchFamily="34" charset="-120"/>
              </a:rPr>
              <a:t>صحيح: سمعه النموذج كما في المصحف</a:t>
            </a:r>
            <a:endParaRPr lang="ar-SA" sz="1600" dirty="0"/>
          </a:p>
        </p:txBody>
      </p:sp>
      <p:sp>
        <p:nvSpPr>
          <p:cNvPr id="8" name="Word chip miss"/>
          <p:cNvSpPr/>
          <p:nvPr/>
        </p:nvSpPr>
        <p:spPr>
          <a:xfrm>
            <a:off x="9859975" y="3337560"/>
            <a:ext cx="1783080" cy="621792"/>
          </a:xfrm>
          <a:prstGeom prst="roundRect">
            <a:avLst>
              <a:gd name="adj" fmla="val 14706"/>
            </a:avLst>
          </a:prstGeom>
          <a:solidFill>
            <a:schemeClr val="accent5"/>
          </a:solidFill>
          <a:ln/>
        </p:spPr>
        <p:txBody>
          <a:bodyPr wrap="square" lIns="0" tIns="0" rIns="0" bIns="0" rtlCol="0" anchor="ctr"/>
          <a:lstStyle/>
          <a:p>
            <a:pPr rtl="1" algn="ctr" indent="0" marL="0">
              <a:buNone/>
            </a:pPr>
            <a:r>
              <a:rPr lang="ar-SA" altLang="en-US" sz="2200" dirty="0">
                <a:solidFill>
                  <a:srgbClr val="9C554B"/>
                </a:solidFill>
                <a:latin typeface="Amiri" pitchFamily="34" charset="0"/>
                <a:ea typeface="Amiri" pitchFamily="34" charset="-122"/>
                <a:cs typeface="Amiri" pitchFamily="34" charset="-120"/>
              </a:rPr>
              <a:t>لَمْ يَلِدْ</a:t>
            </a:r>
            <a:endParaRPr lang="ar-SA" sz="2200" dirty="0"/>
          </a:p>
        </p:txBody>
      </p:sp>
      <p:sp>
        <p:nvSpPr>
          <p:cNvPr id="9" name="Text 6"/>
          <p:cNvSpPr txBox="1"/>
          <p:nvPr/>
        </p:nvSpPr>
        <p:spPr>
          <a:xfrm>
            <a:off x="6355080" y="3337560"/>
            <a:ext cx="3230575" cy="621792"/>
          </a:xfrm>
          <a:prstGeom prst="rect">
            <a:avLst/>
          </a:prstGeom>
          <a:noFill/>
          <a:ln/>
        </p:spPr>
        <p:txBody>
          <a:bodyPr wrap="square" lIns="0" tIns="0" rIns="0" bIns="0" rtlCol="0" anchor="ctr"/>
          <a:lstStyle/>
          <a:p>
            <a:pPr rtl="1" algn="r" indent="0" marL="0">
              <a:buNone/>
            </a:pPr>
            <a:r>
              <a:rPr lang="ar-SA" altLang="en-US" sz="1600" dirty="0">
                <a:solidFill>
                  <a:schemeClr val="tx1"/>
                </a:solidFill>
                <a:latin typeface="IBM Plex Sans Arabic" pitchFamily="34" charset="0"/>
                <a:ea typeface="IBM Plex Sans Arabic" pitchFamily="34" charset="-122"/>
                <a:cs typeface="IBM Plex Sans Arabic" pitchFamily="34" charset="-120"/>
              </a:rPr>
              <a:t>متروك: لم يُسمع بعد ملاحظتين متسقتين</a:t>
            </a:r>
            <a:endParaRPr lang="ar-SA" sz="1600" dirty="0"/>
          </a:p>
        </p:txBody>
      </p:sp>
      <p:sp>
        <p:nvSpPr>
          <p:cNvPr id="10" name="Word chip wait"/>
          <p:cNvSpPr/>
          <p:nvPr/>
        </p:nvSpPr>
        <p:spPr>
          <a:xfrm>
            <a:off x="9859975" y="4206240"/>
            <a:ext cx="1783080" cy="621792"/>
          </a:xfrm>
          <a:prstGeom prst="roundRect">
            <a:avLst>
              <a:gd name="adj" fmla="val 14706"/>
            </a:avLst>
          </a:prstGeom>
          <a:solidFill>
            <a:srgbClr val="EEF1EC"/>
          </a:solidFill>
          <a:ln/>
        </p:spPr>
        <p:txBody>
          <a:bodyPr wrap="square" lIns="0" tIns="0" rIns="0" bIns="0" rtlCol="0" anchor="ctr"/>
          <a:lstStyle/>
          <a:p>
            <a:pPr rtl="1" algn="ctr" indent="0" marL="0">
              <a:buNone/>
            </a:pPr>
            <a:r>
              <a:rPr lang="ar-SA" altLang="en-US" sz="2200" dirty="0">
                <a:solidFill>
                  <a:srgbClr val="869087"/>
                </a:solidFill>
                <a:latin typeface="Amiri" pitchFamily="34" charset="0"/>
                <a:ea typeface="Amiri" pitchFamily="34" charset="-122"/>
                <a:cs typeface="Amiri" pitchFamily="34" charset="-120"/>
              </a:rPr>
              <a:t>وَلَمْ يَكُن</a:t>
            </a:r>
            <a:endParaRPr lang="ar-SA" sz="2200" dirty="0"/>
          </a:p>
        </p:txBody>
      </p:sp>
      <p:sp>
        <p:nvSpPr>
          <p:cNvPr id="11" name="Text 8"/>
          <p:cNvSpPr txBox="1"/>
          <p:nvPr/>
        </p:nvSpPr>
        <p:spPr>
          <a:xfrm>
            <a:off x="6355080" y="4206240"/>
            <a:ext cx="3230575" cy="621792"/>
          </a:xfrm>
          <a:prstGeom prst="rect">
            <a:avLst/>
          </a:prstGeom>
          <a:noFill/>
          <a:ln/>
        </p:spPr>
        <p:txBody>
          <a:bodyPr wrap="square" lIns="0" tIns="0" rIns="0" bIns="0" rtlCol="0" anchor="ctr"/>
          <a:lstStyle/>
          <a:p>
            <a:pPr rtl="1" algn="r" indent="0" marL="0">
              <a:buNone/>
            </a:pPr>
            <a:r>
              <a:rPr lang="ar-SA" altLang="en-US" sz="1600" dirty="0">
                <a:solidFill>
                  <a:schemeClr val="tx1"/>
                </a:solidFill>
                <a:latin typeface="IBM Plex Sans Arabic" pitchFamily="34" charset="0"/>
                <a:ea typeface="IBM Plex Sans Arabic" pitchFamily="34" charset="-122"/>
                <a:cs typeface="IBM Plex Sans Arabic" pitchFamily="34" charset="-120"/>
              </a:rPr>
              <a:t>لم يصل إليه المتعلّم بعد</a:t>
            </a:r>
            <a:endParaRPr lang="ar-SA" sz="1600" dirty="0"/>
          </a:p>
        </p:txBody>
      </p:sp>
      <p:sp>
        <p:nvSpPr>
          <p:cNvPr id="12" name="Uncertain note"/>
          <p:cNvSpPr/>
          <p:nvPr/>
        </p:nvSpPr>
        <p:spPr>
          <a:xfrm>
            <a:off x="6355080" y="5166360"/>
            <a:ext cx="5287975" cy="914400"/>
          </a:xfrm>
          <a:prstGeom prst="roundRect">
            <a:avLst>
              <a:gd name="adj" fmla="val 12000"/>
            </a:avLst>
          </a:prstGeom>
          <a:solidFill>
            <a:schemeClr val="bg2"/>
          </a:solidFill>
          <a:ln/>
        </p:spPr>
      </p:sp>
      <p:sp>
        <p:nvSpPr>
          <p:cNvPr id="13" name="Icon circle LuShieldCheck"/>
          <p:cNvSpPr/>
          <p:nvPr/>
        </p:nvSpPr>
        <p:spPr>
          <a:xfrm>
            <a:off x="10865815" y="5349240"/>
            <a:ext cx="548640" cy="548640"/>
          </a:xfrm>
          <a:prstGeom prst="ellipse">
            <a:avLst/>
          </a:prstGeom>
          <a:solidFill>
            <a:schemeClr val="accent1"/>
          </a:solidFill>
          <a:ln/>
        </p:spPr>
      </p:sp>
      <p:pic>
        <p:nvPicPr>
          <p:cNvPr id="14" name="Icon LuShieldCheck" descr="preencoded.png">    </p:cNvPr>
          <p:cNvPicPr>
            <a:picLocks noChangeAspect="1"/>
          </p:cNvPicPr>
          <p:nvPr/>
        </p:nvPicPr>
        <p:blipFill>
          <a:blip r:embed="rId2"/>
          <a:stretch>
            <a:fillRect/>
          </a:stretch>
        </p:blipFill>
        <p:spPr>
          <a:xfrm>
            <a:off x="11008462" y="5491886"/>
            <a:ext cx="263347" cy="263347"/>
          </a:xfrm>
          <a:prstGeom prst="rect">
            <a:avLst/>
          </a:prstGeom>
        </p:spPr>
      </p:pic>
      <p:sp>
        <p:nvSpPr>
          <p:cNvPr id="15" name="Text 11"/>
          <p:cNvSpPr txBox="1"/>
          <p:nvPr/>
        </p:nvSpPr>
        <p:spPr>
          <a:xfrm>
            <a:off x="6583680" y="5166360"/>
            <a:ext cx="4190695" cy="914400"/>
          </a:xfrm>
          <a:prstGeom prst="rect">
            <a:avLst/>
          </a:prstGeom>
          <a:noFill/>
          <a:ln/>
        </p:spPr>
        <p:txBody>
          <a:bodyPr wrap="square" lIns="0" tIns="0" rIns="0" bIns="0" rtlCol="0" anchor="ctr"/>
          <a:lstStyle/>
          <a:p>
            <a:pPr rtl="1" algn="r" indent="0" marL="0">
              <a:buNone/>
            </a:pPr>
            <a:r>
              <a:rPr lang="ar-SA" altLang="en-US" sz="1500" dirty="0">
                <a:solidFill>
                  <a:schemeClr val="tx2"/>
                </a:solidFill>
                <a:latin typeface="IBM Plex Sans Arabic" pitchFamily="34" charset="0"/>
                <a:ea typeface="IBM Plex Sans Arabic" pitchFamily="34" charset="-122"/>
                <a:cs typeface="IBM Plex Sans Arabic" pitchFamily="34" charset="-120"/>
              </a:rPr>
              <a:t>عند ضعف الثقة يعرض «التعرّف غير مؤكد» بدل أن يحكم على المتعلّم</a:t>
            </a:r>
            <a:endParaRPr lang="ar-SA" sz="15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ابحث عن أي آية بصوتك</a:t>
            </a:r>
            <a:endParaRPr lang="ar-SA" sz="3600" dirty="0"/>
          </a:p>
        </p:txBody>
      </p:sp>
      <p:sp>
        <p:nvSpPr>
          <p:cNvPr id="3" name="Search screenshot frame"/>
          <p:cNvSpPr/>
          <p:nvPr/>
        </p:nvSpPr>
        <p:spPr>
          <a:xfrm>
            <a:off x="548640" y="1325880"/>
            <a:ext cx="4709160" cy="4709160"/>
          </a:xfrm>
          <a:prstGeom prst="roundRect">
            <a:avLst>
              <a:gd name="adj" fmla="val 2330"/>
            </a:avLst>
          </a:prstGeom>
          <a:solidFill>
            <a:schemeClr val="bg1"/>
          </a:solidFill>
          <a:ln w="9525">
            <a:solidFill>
              <a:srgbClr val="E3E9E0"/>
            </a:solidFill>
            <a:prstDash val="solid"/>
          </a:ln>
          <a:effectLst>
            <a:outerShdw sx="100000" sy="100000" kx="0" ky="0" algn="bl" rotWithShape="0" blurRad="177800" dist="50800" dir="5400000">
              <a:srgbClr val="0F2A20">
                <a:alpha val="16000"/>
              </a:srgbClr>
            </a:outerShdw>
          </a:effectLst>
        </p:spPr>
      </p:sp>
      <p:pic>
        <p:nvPicPr>
          <p:cNvPr id="4" name="Search screenshot" descr="/private/tmp/claude-501/-Users-abubakernaji-Desktop-MyShit-Hackathon-Ai-Reciter/36b052d7-f8d0-4c86-981e-c867e65ab714/scratchpad/img/d2_search_ar.png">    </p:cNvPr>
          <p:cNvPicPr>
            <a:picLocks noChangeAspect="1"/>
          </p:cNvPicPr>
          <p:nvPr/>
        </p:nvPicPr>
        <p:blipFill>
          <a:blip r:embed="rId1"/>
          <a:stretch>
            <a:fillRect/>
          </a:stretch>
        </p:blipFill>
        <p:spPr>
          <a:xfrm>
            <a:off x="640080" y="1417320"/>
            <a:ext cx="4526280" cy="4526280"/>
          </a:xfrm>
          <a:prstGeom prst="rect">
            <a:avLst/>
          </a:prstGeom>
        </p:spPr>
      </p:pic>
      <p:sp>
        <p:nvSpPr>
          <p:cNvPr id="5" name="Text 2"/>
          <p:cNvSpPr txBox="1"/>
          <p:nvPr/>
        </p:nvSpPr>
        <p:spPr>
          <a:xfrm>
            <a:off x="5852160" y="1463040"/>
            <a:ext cx="5790895" cy="822960"/>
          </a:xfrm>
          <a:prstGeom prst="rect">
            <a:avLst/>
          </a:prstGeom>
          <a:noFill/>
          <a:ln/>
        </p:spPr>
        <p:txBody>
          <a:bodyPr wrap="square" lIns="0" tIns="0" rIns="0" bIns="0" rtlCol="0" anchor="t"/>
          <a:lstStyle/>
          <a:p>
            <a:pPr rtl="1" algn="r" indent="0" marL="0">
              <a:lnSpc>
                <a:spcPct val="110000"/>
              </a:lnSpc>
              <a:buNone/>
            </a:pPr>
            <a:r>
              <a:rPr lang="ar-SA" altLang="en-US" sz="1800" dirty="0">
                <a:solidFill>
                  <a:schemeClr val="tx1"/>
                </a:solidFill>
                <a:latin typeface="IBM Plex Sans Arabic" pitchFamily="34" charset="0"/>
                <a:ea typeface="IBM Plex Sans Arabic" pitchFamily="34" charset="-122"/>
                <a:cs typeface="IBM Plex Sans Arabic" pitchFamily="34" charset="-120"/>
              </a:rPr>
              <a:t>اتلُ بضع كلمات أو شغّل تسجيلاً، فيحدد رتّل السورة والآية ويعرض ما سمعه النموذج</a:t>
            </a:r>
            <a:endParaRPr lang="ar-SA" sz="1800" dirty="0"/>
          </a:p>
        </p:txBody>
      </p:sp>
      <p:sp>
        <p:nvSpPr>
          <p:cNvPr id="6" name="Text 3"/>
          <p:cNvSpPr txBox="1"/>
          <p:nvPr/>
        </p:nvSpPr>
        <p:spPr>
          <a:xfrm>
            <a:off x="9265615" y="2560320"/>
            <a:ext cx="2377440" cy="822960"/>
          </a:xfrm>
          <a:prstGeom prst="rect">
            <a:avLst/>
          </a:prstGeom>
          <a:noFill/>
          <a:ln/>
        </p:spPr>
        <p:txBody>
          <a:bodyPr wrap="square" lIns="0" tIns="0" rIns="0" bIns="0" rtlCol="0" anchor="ctr"/>
          <a:lstStyle/>
          <a:p>
            <a:pPr rtl="1" algn="r" indent="0" marL="0">
              <a:buNone/>
            </a:pPr>
            <a:r>
              <a:rPr lang="ar-SA" altLang="en-US" sz="4000" b="1" dirty="0">
                <a:solidFill>
                  <a:schemeClr val="accent1"/>
                </a:solidFill>
                <a:latin typeface="IBM Plex Sans Arabic" pitchFamily="34" charset="0"/>
                <a:ea typeface="IBM Plex Sans Arabic" pitchFamily="34" charset="-122"/>
                <a:cs typeface="IBM Plex Sans Arabic" pitchFamily="34" charset="-120"/>
              </a:rPr>
              <a:t>36 / 36</a:t>
            </a:r>
            <a:endParaRPr lang="ar-SA" sz="4000" dirty="0"/>
          </a:p>
        </p:txBody>
      </p:sp>
      <p:sp>
        <p:nvSpPr>
          <p:cNvPr id="7" name="Text 4"/>
          <p:cNvSpPr txBox="1"/>
          <p:nvPr/>
        </p:nvSpPr>
        <p:spPr>
          <a:xfrm>
            <a:off x="5852160" y="2560320"/>
            <a:ext cx="3184855" cy="822960"/>
          </a:xfrm>
          <a:prstGeom prst="rect">
            <a:avLst/>
          </a:prstGeom>
          <a:noFill/>
          <a:ln/>
        </p:spPr>
        <p:txBody>
          <a:bodyPr wrap="square" lIns="0" tIns="0" rIns="0" bIns="0" rtlCol="0" anchor="ctr"/>
          <a:lstStyle/>
          <a:p>
            <a:pPr rtl="1" algn="r" indent="0" marL="0">
              <a:lnSpc>
                <a:spcPct val="110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مقطعاً لآيات كاملة من 6 قرّاء: الآية الصحيحة في النتيجة الأولى</a:t>
            </a:r>
            <a:endParaRPr lang="ar-SA" sz="1500" dirty="0"/>
          </a:p>
        </p:txBody>
      </p:sp>
      <p:sp>
        <p:nvSpPr>
          <p:cNvPr id="8" name="Text 5"/>
          <p:cNvSpPr txBox="1"/>
          <p:nvPr/>
        </p:nvSpPr>
        <p:spPr>
          <a:xfrm>
            <a:off x="9265615" y="3703320"/>
            <a:ext cx="2377440" cy="822960"/>
          </a:xfrm>
          <a:prstGeom prst="rect">
            <a:avLst/>
          </a:prstGeom>
          <a:noFill/>
          <a:ln/>
        </p:spPr>
        <p:txBody>
          <a:bodyPr wrap="square" lIns="0" tIns="0" rIns="0" bIns="0" rtlCol="0" anchor="ctr"/>
          <a:lstStyle/>
          <a:p>
            <a:pPr rtl="1" algn="r" indent="0" marL="0">
              <a:buNone/>
            </a:pPr>
            <a:r>
              <a:rPr lang="ar-SA" altLang="en-US" sz="4000" b="1" dirty="0">
                <a:solidFill>
                  <a:schemeClr val="accent1"/>
                </a:solidFill>
                <a:latin typeface="IBM Plex Sans Arabic" pitchFamily="34" charset="0"/>
                <a:ea typeface="IBM Plex Sans Arabic" pitchFamily="34" charset="-122"/>
                <a:cs typeface="IBM Plex Sans Arabic" pitchFamily="34" charset="-120"/>
              </a:rPr>
              <a:t>0.18 ث</a:t>
            </a:r>
            <a:endParaRPr lang="ar-SA" sz="4000" dirty="0"/>
          </a:p>
        </p:txBody>
      </p:sp>
      <p:sp>
        <p:nvSpPr>
          <p:cNvPr id="9" name="Text 6"/>
          <p:cNvSpPr txBox="1"/>
          <p:nvPr/>
        </p:nvSpPr>
        <p:spPr>
          <a:xfrm>
            <a:off x="5852160" y="3703320"/>
            <a:ext cx="3184855" cy="822960"/>
          </a:xfrm>
          <a:prstGeom prst="rect">
            <a:avLst/>
          </a:prstGeom>
          <a:noFill/>
          <a:ln/>
        </p:spPr>
        <p:txBody>
          <a:bodyPr wrap="square" lIns="0" tIns="0" rIns="0" bIns="0" rtlCol="0" anchor="ctr"/>
          <a:lstStyle/>
          <a:p>
            <a:pPr rtl="1" algn="r" indent="0" marL="0">
              <a:lnSpc>
                <a:spcPct val="110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الوسيط للطلب كاملاً، شاملاً التعرّف على معالج عادي (CPU)</a:t>
            </a:r>
            <a:endParaRPr lang="ar-SA" sz="1500" dirty="0"/>
          </a:p>
        </p:txBody>
      </p:sp>
      <p:sp>
        <p:nvSpPr>
          <p:cNvPr id="10" name="Text 7"/>
          <p:cNvSpPr txBox="1"/>
          <p:nvPr/>
        </p:nvSpPr>
        <p:spPr>
          <a:xfrm>
            <a:off x="9265615" y="4846320"/>
            <a:ext cx="2377440" cy="822960"/>
          </a:xfrm>
          <a:prstGeom prst="rect">
            <a:avLst/>
          </a:prstGeom>
          <a:noFill/>
          <a:ln/>
        </p:spPr>
        <p:txBody>
          <a:bodyPr wrap="square" lIns="0" tIns="0" rIns="0" bIns="0" rtlCol="0" anchor="ctr"/>
          <a:lstStyle/>
          <a:p>
            <a:pPr rtl="1" algn="r" indent="0" marL="0">
              <a:buNone/>
            </a:pPr>
            <a:r>
              <a:rPr lang="ar-SA" altLang="en-US" sz="4000" b="1" dirty="0">
                <a:solidFill>
                  <a:schemeClr val="accent1"/>
                </a:solidFill>
                <a:latin typeface="IBM Plex Sans Arabic" pitchFamily="34" charset="0"/>
                <a:ea typeface="IBM Plex Sans Arabic" pitchFamily="34" charset="-122"/>
                <a:cs typeface="IBM Plex Sans Arabic" pitchFamily="34" charset="-120"/>
              </a:rPr>
              <a:t>97%</a:t>
            </a:r>
            <a:endParaRPr lang="ar-SA" sz="4000" dirty="0"/>
          </a:p>
        </p:txBody>
      </p:sp>
      <p:sp>
        <p:nvSpPr>
          <p:cNvPr id="11" name="Text 8"/>
          <p:cNvSpPr txBox="1"/>
          <p:nvPr/>
        </p:nvSpPr>
        <p:spPr>
          <a:xfrm>
            <a:off x="5852160" y="4846320"/>
            <a:ext cx="3184855" cy="822960"/>
          </a:xfrm>
          <a:prstGeom prst="rect">
            <a:avLst/>
          </a:prstGeom>
          <a:noFill/>
          <a:ln/>
        </p:spPr>
        <p:txBody>
          <a:bodyPr wrap="square" lIns="0" tIns="0" rIns="0" bIns="0" rtlCol="0" anchor="ctr"/>
          <a:lstStyle/>
          <a:p>
            <a:pPr rtl="1" algn="r" indent="0" marL="0">
              <a:lnSpc>
                <a:spcPct val="110000"/>
              </a:lnSpc>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في المحاكاة: الآية الصحيحة أولاً من 8 كلمات مع 25% أخطاء</a:t>
            </a:r>
            <a:endParaRPr lang="ar-SA" sz="1500" dirty="0"/>
          </a:p>
        </p:txBody>
      </p:sp>
      <p:sp>
        <p:nvSpPr>
          <p:cNvPr id="12" name="Text 9"/>
          <p:cNvSpPr txBox="1"/>
          <p:nvPr/>
        </p:nvSpPr>
        <p:spPr>
          <a:xfrm>
            <a:off x="5852160" y="5897880"/>
            <a:ext cx="5790895" cy="320040"/>
          </a:xfrm>
          <a:prstGeom prst="rect">
            <a:avLst/>
          </a:prstGeom>
          <a:noFill/>
          <a:ln/>
        </p:spPr>
        <p:txBody>
          <a:bodyPr wrap="square" lIns="0" tIns="0" rIns="0" bIns="0" rtlCol="0" anchor="t"/>
          <a:lstStyle/>
          <a:p>
            <a:pPr rtl="1" algn="r" indent="0" marL="0">
              <a:buNone/>
            </a:pPr>
            <a:r>
              <a:rPr lang="ar-SA" altLang="en-US" sz="1100" dirty="0">
                <a:solidFill>
                  <a:schemeClr val="accent6"/>
                </a:solidFill>
                <a:latin typeface="IBM Plex Sans Arabic" pitchFamily="34" charset="0"/>
                <a:ea typeface="IBM Plex Sans Arabic" pitchFamily="34" charset="-122"/>
                <a:cs typeface="IBM Plex Sans Arabic" pitchFamily="34" charset="-120"/>
              </a:rPr>
              <a:t>لقطة حقيقية: البيّنة، الآية 5، بصوت لم يسمعه النموذج · المصدر: docs/QURAN_SEARCH.md</a:t>
            </a:r>
            <a:endParaRPr lang="ar-SA" sz="11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يكتب ما سمعه، لا ما يتوقّعه</a:t>
            </a:r>
            <a:endParaRPr lang="ar-SA" sz="3600" dirty="0"/>
          </a:p>
        </p:txBody>
      </p:sp>
      <p:sp>
        <p:nvSpPr>
          <p:cNvPr id="3" name="Step 1"/>
          <p:cNvSpPr/>
          <p:nvPr/>
        </p:nvSpPr>
        <p:spPr>
          <a:xfrm>
            <a:off x="9311335" y="1600200"/>
            <a:ext cx="2331720" cy="1965960"/>
          </a:xfrm>
          <a:prstGeom prst="roundRect">
            <a:avLst>
              <a:gd name="adj" fmla="val 6512"/>
            </a:avLst>
          </a:prstGeom>
          <a:solidFill>
            <a:schemeClr val="bg2"/>
          </a:solidFill>
          <a:ln/>
        </p:spPr>
      </p:sp>
      <p:sp>
        <p:nvSpPr>
          <p:cNvPr id="4" name="Icon circle LuMic"/>
          <p:cNvSpPr/>
          <p:nvPr/>
        </p:nvSpPr>
        <p:spPr>
          <a:xfrm>
            <a:off x="10148011" y="1828800"/>
            <a:ext cx="658368" cy="658368"/>
          </a:xfrm>
          <a:prstGeom prst="ellipse">
            <a:avLst/>
          </a:prstGeom>
          <a:solidFill>
            <a:schemeClr val="accent1"/>
          </a:solidFill>
          <a:ln/>
        </p:spPr>
      </p:sp>
      <p:pic>
        <p:nvPicPr>
          <p:cNvPr id="5" name="Icon LuMic" descr="preencoded.png">    </p:cNvPr>
          <p:cNvPicPr>
            <a:picLocks noChangeAspect="1"/>
          </p:cNvPicPr>
          <p:nvPr/>
        </p:nvPicPr>
        <p:blipFill>
          <a:blip r:embed="rId1"/>
          <a:stretch>
            <a:fillRect/>
          </a:stretch>
        </p:blipFill>
        <p:spPr>
          <a:xfrm>
            <a:off x="10319187" y="1999976"/>
            <a:ext cx="316017" cy="316017"/>
          </a:xfrm>
          <a:prstGeom prst="rect">
            <a:avLst/>
          </a:prstGeom>
        </p:spPr>
      </p:pic>
      <p:sp>
        <p:nvSpPr>
          <p:cNvPr id="6" name="Text 3"/>
          <p:cNvSpPr txBox="1"/>
          <p:nvPr/>
        </p:nvSpPr>
        <p:spPr>
          <a:xfrm>
            <a:off x="9448495" y="2578608"/>
            <a:ext cx="2057400" cy="411480"/>
          </a:xfrm>
          <a:prstGeom prst="rect">
            <a:avLst/>
          </a:prstGeom>
          <a:noFill/>
          <a:ln/>
        </p:spPr>
        <p:txBody>
          <a:bodyPr wrap="square" lIns="0" tIns="0" rIns="0" bIns="0" rtlCol="0" anchor="t"/>
          <a:lstStyle/>
          <a:p>
            <a:pPr rtl="1" algn="ctr" indent="0" marL="0">
              <a:buNone/>
            </a:pPr>
            <a:r>
              <a:rPr lang="ar-SA" altLang="en-US" sz="1800" b="1" dirty="0">
                <a:solidFill>
                  <a:schemeClr val="tx2"/>
                </a:solidFill>
                <a:latin typeface="IBM Plex Sans Arabic" pitchFamily="34" charset="0"/>
                <a:ea typeface="IBM Plex Sans Arabic" pitchFamily="34" charset="-122"/>
                <a:cs typeface="IBM Plex Sans Arabic" pitchFamily="34" charset="-120"/>
              </a:rPr>
              <a:t>الصوت</a:t>
            </a:r>
            <a:endParaRPr lang="ar-SA" sz="1800" dirty="0"/>
          </a:p>
        </p:txBody>
      </p:sp>
      <p:sp>
        <p:nvSpPr>
          <p:cNvPr id="7" name="Text 4"/>
          <p:cNvSpPr txBox="1"/>
          <p:nvPr/>
        </p:nvSpPr>
        <p:spPr>
          <a:xfrm>
            <a:off x="9448495" y="2971800"/>
            <a:ext cx="2057400" cy="548640"/>
          </a:xfrm>
          <a:prstGeom prst="rect">
            <a:avLst/>
          </a:prstGeom>
          <a:noFill/>
          <a:ln/>
        </p:spPr>
        <p:txBody>
          <a:bodyPr wrap="square" lIns="0" tIns="0" rIns="0" bIns="0" rtlCol="0" anchor="t"/>
          <a:lstStyle/>
          <a:p>
            <a:pPr rtl="1" algn="ctr" indent="0" marL="0">
              <a:buNone/>
            </a:pPr>
            <a:r>
              <a:rPr lang="ar-SA" altLang="en-US" sz="1350" dirty="0">
                <a:solidFill>
                  <a:schemeClr val="tx1"/>
                </a:solidFill>
                <a:latin typeface="IBM Plex Sans Arabic" pitchFamily="34" charset="0"/>
                <a:ea typeface="IBM Plex Sans Arabic" pitchFamily="34" charset="-122"/>
                <a:cs typeface="IBM Plex Sans Arabic" pitchFamily="34" charset="-120"/>
              </a:rPr>
              <a:t>من الميكروفون أو من ملف مرفوع</a:t>
            </a:r>
            <a:endParaRPr lang="ar-SA" sz="1350" dirty="0"/>
          </a:p>
        </p:txBody>
      </p:sp>
      <p:sp>
        <p:nvSpPr>
          <p:cNvPr id="8" name="Arrow 1"/>
          <p:cNvSpPr/>
          <p:nvPr/>
        </p:nvSpPr>
        <p:spPr>
          <a:xfrm>
            <a:off x="8831885" y="2583180"/>
            <a:ext cx="369722" cy="0"/>
          </a:xfrm>
          <a:prstGeom prst="line">
            <a:avLst/>
          </a:prstGeom>
          <a:noFill/>
          <a:ln w="25400">
            <a:solidFill>
              <a:schemeClr val="accent2"/>
            </a:solidFill>
            <a:prstDash val="solid"/>
            <a:headEnd type="triangle"/>
          </a:ln>
        </p:spPr>
      </p:sp>
      <p:sp>
        <p:nvSpPr>
          <p:cNvPr id="9" name="Step 2"/>
          <p:cNvSpPr/>
          <p:nvPr/>
        </p:nvSpPr>
        <p:spPr>
          <a:xfrm>
            <a:off x="6390437" y="1600200"/>
            <a:ext cx="2331720" cy="1965960"/>
          </a:xfrm>
          <a:prstGeom prst="roundRect">
            <a:avLst>
              <a:gd name="adj" fmla="val 6512"/>
            </a:avLst>
          </a:prstGeom>
          <a:solidFill>
            <a:schemeClr val="bg2"/>
          </a:solidFill>
          <a:ln/>
        </p:spPr>
      </p:sp>
      <p:sp>
        <p:nvSpPr>
          <p:cNvPr id="10" name="Icon circle LuAudioWaveform"/>
          <p:cNvSpPr/>
          <p:nvPr/>
        </p:nvSpPr>
        <p:spPr>
          <a:xfrm>
            <a:off x="7227113" y="1828800"/>
            <a:ext cx="658368" cy="658368"/>
          </a:xfrm>
          <a:prstGeom prst="ellipse">
            <a:avLst/>
          </a:prstGeom>
          <a:solidFill>
            <a:schemeClr val="accent1"/>
          </a:solidFill>
          <a:ln/>
        </p:spPr>
      </p:sp>
      <p:pic>
        <p:nvPicPr>
          <p:cNvPr id="11" name="Icon LuAudioWaveform" descr="preencoded.png">    </p:cNvPr>
          <p:cNvPicPr>
            <a:picLocks noChangeAspect="1"/>
          </p:cNvPicPr>
          <p:nvPr/>
        </p:nvPicPr>
        <p:blipFill>
          <a:blip r:embed="rId2"/>
          <a:stretch>
            <a:fillRect/>
          </a:stretch>
        </p:blipFill>
        <p:spPr>
          <a:xfrm>
            <a:off x="7398288" y="1999976"/>
            <a:ext cx="316017" cy="316017"/>
          </a:xfrm>
          <a:prstGeom prst="rect">
            <a:avLst/>
          </a:prstGeom>
        </p:spPr>
      </p:pic>
      <p:sp>
        <p:nvSpPr>
          <p:cNvPr id="12" name="Text 8"/>
          <p:cNvSpPr txBox="1"/>
          <p:nvPr/>
        </p:nvSpPr>
        <p:spPr>
          <a:xfrm>
            <a:off x="6527597" y="2578608"/>
            <a:ext cx="2057400" cy="411480"/>
          </a:xfrm>
          <a:prstGeom prst="rect">
            <a:avLst/>
          </a:prstGeom>
          <a:noFill/>
          <a:ln/>
        </p:spPr>
        <p:txBody>
          <a:bodyPr wrap="square" lIns="0" tIns="0" rIns="0" bIns="0" rtlCol="0" anchor="t"/>
          <a:lstStyle/>
          <a:p>
            <a:pPr rtl="1" algn="ctr" indent="0" marL="0">
              <a:buNone/>
            </a:pPr>
            <a:r>
              <a:rPr lang="ar-SA" altLang="en-US" sz="1800" b="1" dirty="0">
                <a:solidFill>
                  <a:schemeClr val="tx2"/>
                </a:solidFill>
                <a:latin typeface="IBM Plex Sans Arabic" pitchFamily="34" charset="0"/>
                <a:ea typeface="IBM Plex Sans Arabic" pitchFamily="34" charset="-122"/>
                <a:cs typeface="IBM Plex Sans Arabic" pitchFamily="34" charset="-120"/>
              </a:rPr>
              <a:t>التعرّف</a:t>
            </a:r>
            <a:endParaRPr lang="ar-SA" sz="1800" dirty="0"/>
          </a:p>
        </p:txBody>
      </p:sp>
      <p:sp>
        <p:nvSpPr>
          <p:cNvPr id="13" name="Text 9"/>
          <p:cNvSpPr txBox="1"/>
          <p:nvPr/>
        </p:nvSpPr>
        <p:spPr>
          <a:xfrm>
            <a:off x="6527597" y="2971800"/>
            <a:ext cx="2057400" cy="548640"/>
          </a:xfrm>
          <a:prstGeom prst="rect">
            <a:avLst/>
          </a:prstGeom>
          <a:noFill/>
          <a:ln/>
        </p:spPr>
        <p:txBody>
          <a:bodyPr wrap="square" lIns="0" tIns="0" rIns="0" bIns="0" rtlCol="0" anchor="t"/>
          <a:lstStyle/>
          <a:p>
            <a:pPr rtl="1" algn="ctr" indent="0" marL="0">
              <a:buNone/>
            </a:pPr>
            <a:r>
              <a:rPr lang="ar-SA" altLang="en-US" sz="1350" dirty="0">
                <a:solidFill>
                  <a:schemeClr val="tx1"/>
                </a:solidFill>
                <a:latin typeface="IBM Plex Sans Arabic" pitchFamily="34" charset="0"/>
                <a:ea typeface="IBM Plex Sans Arabic" pitchFamily="34" charset="-122"/>
                <a:cs typeface="IBM Plex Sans Arabic" pitchFamily="34" charset="-120"/>
              </a:rPr>
              <a:t>نموذج قالون يكتب ما سمعه</a:t>
            </a:r>
            <a:endParaRPr lang="ar-SA" sz="1350" dirty="0"/>
          </a:p>
        </p:txBody>
      </p:sp>
      <p:sp>
        <p:nvSpPr>
          <p:cNvPr id="14" name="Arrow 2"/>
          <p:cNvSpPr/>
          <p:nvPr/>
        </p:nvSpPr>
        <p:spPr>
          <a:xfrm>
            <a:off x="5910986" y="2583180"/>
            <a:ext cx="369722" cy="0"/>
          </a:xfrm>
          <a:prstGeom prst="line">
            <a:avLst/>
          </a:prstGeom>
          <a:noFill/>
          <a:ln w="25400">
            <a:solidFill>
              <a:schemeClr val="accent2"/>
            </a:solidFill>
            <a:prstDash val="solid"/>
            <a:headEnd type="triangle"/>
          </a:ln>
        </p:spPr>
      </p:sp>
      <p:sp>
        <p:nvSpPr>
          <p:cNvPr id="15" name="Step 3"/>
          <p:cNvSpPr/>
          <p:nvPr/>
        </p:nvSpPr>
        <p:spPr>
          <a:xfrm>
            <a:off x="3469538" y="1600200"/>
            <a:ext cx="2331720" cy="1965960"/>
          </a:xfrm>
          <a:prstGeom prst="roundRect">
            <a:avLst>
              <a:gd name="adj" fmla="val 6512"/>
            </a:avLst>
          </a:prstGeom>
          <a:solidFill>
            <a:schemeClr val="bg2"/>
          </a:solidFill>
          <a:ln/>
        </p:spPr>
      </p:sp>
      <p:sp>
        <p:nvSpPr>
          <p:cNvPr id="16" name="Icon circle LuBookCheck"/>
          <p:cNvSpPr/>
          <p:nvPr/>
        </p:nvSpPr>
        <p:spPr>
          <a:xfrm>
            <a:off x="4306214" y="1828800"/>
            <a:ext cx="658368" cy="658368"/>
          </a:xfrm>
          <a:prstGeom prst="ellipse">
            <a:avLst/>
          </a:prstGeom>
          <a:solidFill>
            <a:schemeClr val="accent1"/>
          </a:solidFill>
          <a:ln/>
        </p:spPr>
      </p:sp>
      <p:pic>
        <p:nvPicPr>
          <p:cNvPr id="17" name="Icon LuBookCheck" descr="preencoded.png">    </p:cNvPr>
          <p:cNvPicPr>
            <a:picLocks noChangeAspect="1"/>
          </p:cNvPicPr>
          <p:nvPr/>
        </p:nvPicPr>
        <p:blipFill>
          <a:blip r:embed="rId3"/>
          <a:stretch>
            <a:fillRect/>
          </a:stretch>
        </p:blipFill>
        <p:spPr>
          <a:xfrm>
            <a:off x="4477390" y="1999976"/>
            <a:ext cx="316017" cy="316017"/>
          </a:xfrm>
          <a:prstGeom prst="rect">
            <a:avLst/>
          </a:prstGeom>
        </p:spPr>
      </p:pic>
      <p:sp>
        <p:nvSpPr>
          <p:cNvPr id="18" name="Text 13"/>
          <p:cNvSpPr txBox="1"/>
          <p:nvPr/>
        </p:nvSpPr>
        <p:spPr>
          <a:xfrm>
            <a:off x="3606698" y="2578608"/>
            <a:ext cx="2057400" cy="411480"/>
          </a:xfrm>
          <a:prstGeom prst="rect">
            <a:avLst/>
          </a:prstGeom>
          <a:noFill/>
          <a:ln/>
        </p:spPr>
        <p:txBody>
          <a:bodyPr wrap="square" lIns="0" tIns="0" rIns="0" bIns="0" rtlCol="0" anchor="t"/>
          <a:lstStyle/>
          <a:p>
            <a:pPr rtl="1" algn="ctr" indent="0" marL="0">
              <a:buNone/>
            </a:pPr>
            <a:r>
              <a:rPr lang="ar-SA" altLang="en-US" sz="1800" b="1" dirty="0">
                <a:solidFill>
                  <a:schemeClr val="tx2"/>
                </a:solidFill>
                <a:latin typeface="IBM Plex Sans Arabic" pitchFamily="34" charset="0"/>
                <a:ea typeface="IBM Plex Sans Arabic" pitchFamily="34" charset="-122"/>
                <a:cs typeface="IBM Plex Sans Arabic" pitchFamily="34" charset="-120"/>
              </a:rPr>
              <a:t>المطابقة</a:t>
            </a:r>
            <a:endParaRPr lang="ar-SA" sz="1800" dirty="0"/>
          </a:p>
        </p:txBody>
      </p:sp>
      <p:sp>
        <p:nvSpPr>
          <p:cNvPr id="19" name="Text 14"/>
          <p:cNvSpPr txBox="1"/>
          <p:nvPr/>
        </p:nvSpPr>
        <p:spPr>
          <a:xfrm>
            <a:off x="3606698" y="2971800"/>
            <a:ext cx="2057400" cy="548640"/>
          </a:xfrm>
          <a:prstGeom prst="rect">
            <a:avLst/>
          </a:prstGeom>
          <a:noFill/>
          <a:ln/>
        </p:spPr>
        <p:txBody>
          <a:bodyPr wrap="square" lIns="0" tIns="0" rIns="0" bIns="0" rtlCol="0" anchor="t"/>
          <a:lstStyle/>
          <a:p>
            <a:pPr rtl="1" algn="ctr" indent="0" marL="0">
              <a:buNone/>
            </a:pPr>
            <a:r>
              <a:rPr lang="ar-SA" altLang="en-US" sz="1350" dirty="0">
                <a:solidFill>
                  <a:schemeClr val="tx1"/>
                </a:solidFill>
                <a:latin typeface="IBM Plex Sans Arabic" pitchFamily="34" charset="0"/>
                <a:ea typeface="IBM Plex Sans Arabic" pitchFamily="34" charset="-122"/>
                <a:cs typeface="IBM Plex Sans Arabic" pitchFamily="34" charset="-120"/>
              </a:rPr>
              <a:t>كلمة بكلمة مع مصحف قالون</a:t>
            </a:r>
            <a:endParaRPr lang="ar-SA" sz="1350" dirty="0"/>
          </a:p>
        </p:txBody>
      </p:sp>
      <p:sp>
        <p:nvSpPr>
          <p:cNvPr id="20" name="Arrow 3"/>
          <p:cNvSpPr/>
          <p:nvPr/>
        </p:nvSpPr>
        <p:spPr>
          <a:xfrm>
            <a:off x="2990088" y="2583180"/>
            <a:ext cx="369722" cy="0"/>
          </a:xfrm>
          <a:prstGeom prst="line">
            <a:avLst/>
          </a:prstGeom>
          <a:noFill/>
          <a:ln w="25400">
            <a:solidFill>
              <a:schemeClr val="accent2"/>
            </a:solidFill>
            <a:prstDash val="solid"/>
            <a:headEnd type="triangle"/>
          </a:ln>
        </p:spPr>
      </p:sp>
      <p:sp>
        <p:nvSpPr>
          <p:cNvPr id="21" name="Step 4"/>
          <p:cNvSpPr/>
          <p:nvPr/>
        </p:nvSpPr>
        <p:spPr>
          <a:xfrm>
            <a:off x="548640" y="1600200"/>
            <a:ext cx="2331720" cy="1965960"/>
          </a:xfrm>
          <a:prstGeom prst="roundRect">
            <a:avLst>
              <a:gd name="adj" fmla="val 6512"/>
            </a:avLst>
          </a:prstGeom>
          <a:solidFill>
            <a:schemeClr val="bg2"/>
          </a:solidFill>
          <a:ln/>
        </p:spPr>
      </p:sp>
      <p:sp>
        <p:nvSpPr>
          <p:cNvPr id="22" name="Icon circle LuCircleCheck"/>
          <p:cNvSpPr/>
          <p:nvPr/>
        </p:nvSpPr>
        <p:spPr>
          <a:xfrm>
            <a:off x="1385316" y="1828800"/>
            <a:ext cx="658368" cy="658368"/>
          </a:xfrm>
          <a:prstGeom prst="ellipse">
            <a:avLst/>
          </a:prstGeom>
          <a:solidFill>
            <a:schemeClr val="accent1"/>
          </a:solidFill>
          <a:ln/>
        </p:spPr>
      </p:sp>
      <p:pic>
        <p:nvPicPr>
          <p:cNvPr id="23" name="Icon LuCircleCheck" descr="preencoded.png">    </p:cNvPr>
          <p:cNvPicPr>
            <a:picLocks noChangeAspect="1"/>
          </p:cNvPicPr>
          <p:nvPr/>
        </p:nvPicPr>
        <p:blipFill>
          <a:blip r:embed="rId4"/>
          <a:stretch>
            <a:fillRect/>
          </a:stretch>
        </p:blipFill>
        <p:spPr>
          <a:xfrm>
            <a:off x="1556492" y="1999976"/>
            <a:ext cx="316017" cy="316017"/>
          </a:xfrm>
          <a:prstGeom prst="rect">
            <a:avLst/>
          </a:prstGeom>
        </p:spPr>
      </p:pic>
      <p:sp>
        <p:nvSpPr>
          <p:cNvPr id="24" name="Text 18"/>
          <p:cNvSpPr txBox="1"/>
          <p:nvPr/>
        </p:nvSpPr>
        <p:spPr>
          <a:xfrm>
            <a:off x="685800" y="2578608"/>
            <a:ext cx="2057400" cy="411480"/>
          </a:xfrm>
          <a:prstGeom prst="rect">
            <a:avLst/>
          </a:prstGeom>
          <a:noFill/>
          <a:ln/>
        </p:spPr>
        <p:txBody>
          <a:bodyPr wrap="square" lIns="0" tIns="0" rIns="0" bIns="0" rtlCol="0" anchor="t"/>
          <a:lstStyle/>
          <a:p>
            <a:pPr rtl="1" algn="ctr" indent="0" marL="0">
              <a:buNone/>
            </a:pPr>
            <a:r>
              <a:rPr lang="ar-SA" altLang="en-US" sz="1800" b="1" dirty="0">
                <a:solidFill>
                  <a:schemeClr val="tx2"/>
                </a:solidFill>
                <a:latin typeface="IBM Plex Sans Arabic" pitchFamily="34" charset="0"/>
                <a:ea typeface="IBM Plex Sans Arabic" pitchFamily="34" charset="-122"/>
                <a:cs typeface="IBM Plex Sans Arabic" pitchFamily="34" charset="-120"/>
              </a:rPr>
              <a:t>التغذية الراجعة</a:t>
            </a:r>
            <a:endParaRPr lang="ar-SA" sz="1800" dirty="0"/>
          </a:p>
        </p:txBody>
      </p:sp>
      <p:sp>
        <p:nvSpPr>
          <p:cNvPr id="25" name="Text 19"/>
          <p:cNvSpPr txBox="1"/>
          <p:nvPr/>
        </p:nvSpPr>
        <p:spPr>
          <a:xfrm>
            <a:off x="685800" y="2971800"/>
            <a:ext cx="2057400" cy="548640"/>
          </a:xfrm>
          <a:prstGeom prst="rect">
            <a:avLst/>
          </a:prstGeom>
          <a:noFill/>
          <a:ln/>
        </p:spPr>
        <p:txBody>
          <a:bodyPr wrap="square" lIns="0" tIns="0" rIns="0" bIns="0" rtlCol="0" anchor="t"/>
          <a:lstStyle/>
          <a:p>
            <a:pPr rtl="1" algn="ctr" indent="0" marL="0">
              <a:buNone/>
            </a:pPr>
            <a:r>
              <a:rPr lang="ar-SA" altLang="en-US" sz="1350" dirty="0">
                <a:solidFill>
                  <a:schemeClr val="tx1"/>
                </a:solidFill>
                <a:latin typeface="IBM Plex Sans Arabic" pitchFamily="34" charset="0"/>
                <a:ea typeface="IBM Plex Sans Arabic" pitchFamily="34" charset="-122"/>
                <a:cs typeface="IBM Plex Sans Arabic" pitchFamily="34" charset="-120"/>
              </a:rPr>
              <a:t>صحيح · متروك · غير مؤكد</a:t>
            </a:r>
            <a:endParaRPr lang="ar-SA" sz="1350" dirty="0"/>
          </a:p>
        </p:txBody>
      </p:sp>
      <p:sp>
        <p:nvSpPr>
          <p:cNvPr id="26" name="Blind decoding callout"/>
          <p:cNvSpPr/>
          <p:nvPr/>
        </p:nvSpPr>
        <p:spPr>
          <a:xfrm>
            <a:off x="6263640" y="3977640"/>
            <a:ext cx="5379415" cy="2057400"/>
          </a:xfrm>
          <a:prstGeom prst="roundRect">
            <a:avLst>
              <a:gd name="adj" fmla="val 6222"/>
            </a:avLst>
          </a:prstGeom>
          <a:solidFill>
            <a:schemeClr val="tx2"/>
          </a:solidFill>
          <a:ln/>
        </p:spPr>
      </p:sp>
      <p:sp>
        <p:nvSpPr>
          <p:cNvPr id="27" name="Text 21"/>
          <p:cNvSpPr txBox="1"/>
          <p:nvPr/>
        </p:nvSpPr>
        <p:spPr>
          <a:xfrm>
            <a:off x="6583680" y="4160520"/>
            <a:ext cx="4739335" cy="457200"/>
          </a:xfrm>
          <a:prstGeom prst="rect">
            <a:avLst/>
          </a:prstGeom>
          <a:noFill/>
          <a:ln/>
        </p:spPr>
        <p:txBody>
          <a:bodyPr wrap="square" lIns="0" tIns="0" rIns="0" bIns="0" rtlCol="0" anchor="t"/>
          <a:lstStyle/>
          <a:p>
            <a:pPr rtl="1" algn="r" indent="0" marL="0">
              <a:buNone/>
            </a:pPr>
            <a:r>
              <a:rPr lang="ar-SA" altLang="en-US" sz="2000" b="1" dirty="0">
                <a:solidFill>
                  <a:schemeClr val="accent2"/>
                </a:solidFill>
                <a:latin typeface="IBM Plex Sans Arabic" pitchFamily="34" charset="0"/>
                <a:ea typeface="IBM Plex Sans Arabic" pitchFamily="34" charset="-122"/>
                <a:cs typeface="IBM Plex Sans Arabic" pitchFamily="34" charset="-120"/>
              </a:rPr>
              <a:t>لماذا «يكتب ما سمعه»؟</a:t>
            </a:r>
            <a:endParaRPr lang="ar-SA" sz="2000" dirty="0"/>
          </a:p>
        </p:txBody>
      </p:sp>
      <p:sp>
        <p:nvSpPr>
          <p:cNvPr id="28" name="Text 22"/>
          <p:cNvSpPr txBox="1"/>
          <p:nvPr/>
        </p:nvSpPr>
        <p:spPr>
          <a:xfrm>
            <a:off x="6583680" y="4663440"/>
            <a:ext cx="4739335" cy="1234440"/>
          </a:xfrm>
          <a:prstGeom prst="rect">
            <a:avLst/>
          </a:prstGeom>
          <a:noFill/>
          <a:ln/>
        </p:spPr>
        <p:txBody>
          <a:bodyPr wrap="square" lIns="0" tIns="0" rIns="0" bIns="0" rtlCol="0" anchor="t"/>
          <a:lstStyle/>
          <a:p>
            <a:pPr rtl="1" algn="r" indent="0" marL="0">
              <a:lnSpc>
                <a:spcPct val="115000"/>
              </a:lnSpc>
              <a:buNone/>
            </a:pPr>
            <a:r>
              <a:rPr lang="ar-SA" altLang="en-US" sz="1550" dirty="0">
                <a:solidFill>
                  <a:schemeClr val="bg1"/>
                </a:solidFill>
                <a:latin typeface="IBM Plex Sans Arabic" pitchFamily="34" charset="0"/>
                <a:ea typeface="IBM Plex Sans Arabic" pitchFamily="34" charset="-122"/>
                <a:cs typeface="IBM Plex Sans Arabic" pitchFamily="34" charset="-120"/>
              </a:rPr>
              <a:t>لا نعطي النموذج النص المتوقع، فلا يستطيع أن يكمل الآية من ذاكرته. لذلك لم يكتب في الاختبار آية متروكة واحدة على أنها تُليت.</a:t>
            </a:r>
            <a:endParaRPr lang="ar-SA" sz="1550" dirty="0"/>
          </a:p>
        </p:txBody>
      </p:sp>
      <p:sp>
        <p:nvSpPr>
          <p:cNvPr id="29" name="Icon circle LuClock"/>
          <p:cNvSpPr/>
          <p:nvPr/>
        </p:nvSpPr>
        <p:spPr>
          <a:xfrm>
            <a:off x="5212080" y="4069080"/>
            <a:ext cx="502920" cy="502920"/>
          </a:xfrm>
          <a:prstGeom prst="ellipse">
            <a:avLst/>
          </a:prstGeom>
          <a:solidFill>
            <a:schemeClr val="accent4"/>
          </a:solidFill>
          <a:ln/>
        </p:spPr>
      </p:sp>
      <p:pic>
        <p:nvPicPr>
          <p:cNvPr id="30" name="Icon LuClock" descr="preencoded.png">    </p:cNvPr>
          <p:cNvPicPr>
            <a:picLocks noChangeAspect="1"/>
          </p:cNvPicPr>
          <p:nvPr/>
        </p:nvPicPr>
        <p:blipFill>
          <a:blip r:embed="rId5"/>
          <a:stretch>
            <a:fillRect/>
          </a:stretch>
        </p:blipFill>
        <p:spPr>
          <a:xfrm>
            <a:off x="5342839" y="4199839"/>
            <a:ext cx="241402" cy="241402"/>
          </a:xfrm>
          <a:prstGeom prst="rect">
            <a:avLst/>
          </a:prstGeom>
        </p:spPr>
      </p:pic>
      <p:sp>
        <p:nvSpPr>
          <p:cNvPr id="31" name="Text 24"/>
          <p:cNvSpPr txBox="1"/>
          <p:nvPr/>
        </p:nvSpPr>
        <p:spPr>
          <a:xfrm>
            <a:off x="548640" y="4069080"/>
            <a:ext cx="4480560" cy="502920"/>
          </a:xfrm>
          <a:prstGeom prst="rect">
            <a:avLst/>
          </a:prstGeom>
          <a:noFill/>
          <a:ln/>
        </p:spPr>
        <p:txBody>
          <a:bodyPr wrap="square" lIns="0" tIns="0" rIns="0" bIns="0" rtlCol="0" anchor="ctr"/>
          <a:lstStyle/>
          <a:p>
            <a:pPr rtl="1" algn="r" indent="0" marL="0">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يُحدَّث أثناء التلاوة كل 1.2 ثانية تقريباً</a:t>
            </a:r>
            <a:endParaRPr lang="ar-SA" sz="1500" dirty="0"/>
          </a:p>
        </p:txBody>
      </p:sp>
      <p:sp>
        <p:nvSpPr>
          <p:cNvPr id="32" name="Icon circle LuEye"/>
          <p:cNvSpPr/>
          <p:nvPr/>
        </p:nvSpPr>
        <p:spPr>
          <a:xfrm>
            <a:off x="5212080" y="4727448"/>
            <a:ext cx="502920" cy="502920"/>
          </a:xfrm>
          <a:prstGeom prst="ellipse">
            <a:avLst/>
          </a:prstGeom>
          <a:solidFill>
            <a:schemeClr val="accent4"/>
          </a:solidFill>
          <a:ln/>
        </p:spPr>
      </p:sp>
      <p:pic>
        <p:nvPicPr>
          <p:cNvPr id="33" name="Icon LuEye" descr="preencoded.png">    </p:cNvPr>
          <p:cNvPicPr>
            <a:picLocks noChangeAspect="1"/>
          </p:cNvPicPr>
          <p:nvPr/>
        </p:nvPicPr>
        <p:blipFill>
          <a:blip r:embed="rId6"/>
          <a:stretch>
            <a:fillRect/>
          </a:stretch>
        </p:blipFill>
        <p:spPr>
          <a:xfrm>
            <a:off x="5342839" y="4858207"/>
            <a:ext cx="241402" cy="241402"/>
          </a:xfrm>
          <a:prstGeom prst="rect">
            <a:avLst/>
          </a:prstGeom>
        </p:spPr>
      </p:pic>
      <p:sp>
        <p:nvSpPr>
          <p:cNvPr id="34" name="Text 26"/>
          <p:cNvSpPr txBox="1"/>
          <p:nvPr/>
        </p:nvSpPr>
        <p:spPr>
          <a:xfrm>
            <a:off x="548640" y="4727448"/>
            <a:ext cx="4480560" cy="502920"/>
          </a:xfrm>
          <a:prstGeom prst="rect">
            <a:avLst/>
          </a:prstGeom>
          <a:noFill/>
          <a:ln/>
        </p:spPr>
        <p:txBody>
          <a:bodyPr wrap="square" lIns="0" tIns="0" rIns="0" bIns="0" rtlCol="0" anchor="ctr"/>
          <a:lstStyle/>
          <a:p>
            <a:pPr rtl="1" algn="r" indent="0" marL="0">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لا تُعلَّم كلمة متروكة إلا بعد ملاحظتين متسقتين</a:t>
            </a:r>
            <a:endParaRPr lang="ar-SA" sz="1500" dirty="0"/>
          </a:p>
        </p:txBody>
      </p:sp>
      <p:sp>
        <p:nvSpPr>
          <p:cNvPr id="35" name="Icon circle LuLock"/>
          <p:cNvSpPr/>
          <p:nvPr/>
        </p:nvSpPr>
        <p:spPr>
          <a:xfrm>
            <a:off x="5212080" y="5385816"/>
            <a:ext cx="502920" cy="502920"/>
          </a:xfrm>
          <a:prstGeom prst="ellipse">
            <a:avLst/>
          </a:prstGeom>
          <a:solidFill>
            <a:schemeClr val="accent4"/>
          </a:solidFill>
          <a:ln/>
        </p:spPr>
      </p:sp>
      <p:pic>
        <p:nvPicPr>
          <p:cNvPr id="36" name="Icon LuLock" descr="preencoded.png">    </p:cNvPr>
          <p:cNvPicPr>
            <a:picLocks noChangeAspect="1"/>
          </p:cNvPicPr>
          <p:nvPr/>
        </p:nvPicPr>
        <p:blipFill>
          <a:blip r:embed="rId7"/>
          <a:stretch>
            <a:fillRect/>
          </a:stretch>
        </p:blipFill>
        <p:spPr>
          <a:xfrm>
            <a:off x="5342839" y="5516575"/>
            <a:ext cx="241402" cy="241402"/>
          </a:xfrm>
          <a:prstGeom prst="rect">
            <a:avLst/>
          </a:prstGeom>
        </p:spPr>
      </p:pic>
      <p:sp>
        <p:nvSpPr>
          <p:cNvPr id="37" name="Text 28"/>
          <p:cNvSpPr txBox="1"/>
          <p:nvPr/>
        </p:nvSpPr>
        <p:spPr>
          <a:xfrm>
            <a:off x="548640" y="5385816"/>
            <a:ext cx="4480560" cy="502920"/>
          </a:xfrm>
          <a:prstGeom prst="rect">
            <a:avLst/>
          </a:prstGeom>
          <a:noFill/>
          <a:ln/>
        </p:spPr>
        <p:txBody>
          <a:bodyPr wrap="square" lIns="0" tIns="0" rIns="0" bIns="0" rtlCol="0" anchor="ctr"/>
          <a:lstStyle/>
          <a:p>
            <a:pPr rtl="1" algn="r" indent="0" marL="0">
              <a:buNone/>
            </a:pPr>
            <a:r>
              <a:rPr lang="ar-SA" altLang="en-US" sz="1500" dirty="0">
                <a:solidFill>
                  <a:schemeClr val="tx1"/>
                </a:solidFill>
                <a:latin typeface="IBM Plex Sans Arabic" pitchFamily="34" charset="0"/>
                <a:ea typeface="IBM Plex Sans Arabic" pitchFamily="34" charset="-122"/>
                <a:cs typeface="IBM Plex Sans Arabic" pitchFamily="34" charset="-120"/>
              </a:rPr>
              <a:t>لا يُحفظ الصوت، ولا خدمات سحابية</a:t>
            </a:r>
            <a:endParaRPr lang="ar-SA" sz="15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ثلاثة نماذج مدرّبة على مصادر معتمدة</a:t>
            </a:r>
            <a:endParaRPr lang="ar-SA" sz="3600" dirty="0"/>
          </a:p>
        </p:txBody>
      </p:sp>
      <p:sp>
        <p:nvSpPr>
          <p:cNvPr id="3" name="Text 1"/>
          <p:cNvSpPr txBox="1"/>
          <p:nvPr/>
        </p:nvSpPr>
        <p:spPr>
          <a:xfrm>
            <a:off x="6355080" y="1417320"/>
            <a:ext cx="5287975" cy="411480"/>
          </a:xfrm>
          <a:prstGeom prst="rect">
            <a:avLst/>
          </a:prstGeom>
          <a:noFill/>
          <a:ln/>
        </p:spPr>
        <p:txBody>
          <a:bodyPr wrap="square" lIns="0" tIns="0" rIns="0" bIns="0" rtlCol="0" anchor="t"/>
          <a:lstStyle/>
          <a:p>
            <a:pPr rtl="1" algn="r" indent="0" marL="0">
              <a:buNone/>
            </a:pPr>
            <a:r>
              <a:rPr lang="ar-SA" altLang="en-US" sz="1800" b="1" dirty="0">
                <a:solidFill>
                  <a:schemeClr val="accent1"/>
                </a:solidFill>
                <a:latin typeface="IBM Plex Sans Arabic" pitchFamily="34" charset="0"/>
                <a:ea typeface="IBM Plex Sans Arabic" pitchFamily="34" charset="-122"/>
                <a:cs typeface="IBM Plex Sans Arabic" pitchFamily="34" charset="-120"/>
              </a:rPr>
              <a:t>النماذج</a:t>
            </a:r>
            <a:endParaRPr lang="ar-SA" sz="1800" dirty="0"/>
          </a:p>
        </p:txBody>
      </p:sp>
      <p:sp>
        <p:nvSpPr>
          <p:cNvPr id="4" name="Model rattil-qaloon-v4"/>
          <p:cNvSpPr/>
          <p:nvPr/>
        </p:nvSpPr>
        <p:spPr>
          <a:xfrm>
            <a:off x="6355080" y="1920240"/>
            <a:ext cx="5287975" cy="1207008"/>
          </a:xfrm>
          <a:prstGeom prst="roundRect">
            <a:avLst>
              <a:gd name="adj" fmla="val 9091"/>
            </a:avLst>
          </a:prstGeom>
          <a:solidFill>
            <a:schemeClr val="bg1"/>
          </a:solidFill>
          <a:ln/>
          <a:effectLst>
            <a:outerShdw sx="100000" sy="100000" kx="0" ky="0" algn="bl" rotWithShape="0" blurRad="177800" dist="50800" dir="5400000">
              <a:srgbClr val="0F2A20">
                <a:alpha val="16000"/>
              </a:srgbClr>
            </a:outerShdw>
          </a:effectLst>
        </p:spPr>
      </p:sp>
      <p:sp>
        <p:nvSpPr>
          <p:cNvPr id="5" name="Text 3"/>
          <p:cNvSpPr txBox="1"/>
          <p:nvPr/>
        </p:nvSpPr>
        <p:spPr>
          <a:xfrm>
            <a:off x="6629400" y="2075688"/>
            <a:ext cx="4739335" cy="384048"/>
          </a:xfrm>
          <a:prstGeom prst="rect">
            <a:avLst/>
          </a:prstGeom>
          <a:noFill/>
          <a:ln/>
        </p:spPr>
        <p:txBody>
          <a:bodyPr wrap="square" lIns="0" tIns="0" rIns="0" bIns="0" rtlCol="0" anchor="ctr"/>
          <a:lstStyle/>
          <a:p>
            <a:pPr algn="r" indent="0" marL="0">
              <a:buNone/>
            </a:pPr>
            <a:r>
              <a:rPr lang="en-US" sz="1700" b="1" dirty="0">
                <a:solidFill>
                  <a:schemeClr val="accent1"/>
                </a:solidFill>
                <a:latin typeface="IBM Plex Sans Arabic" pitchFamily="34" charset="0"/>
                <a:ea typeface="IBM Plex Sans Arabic" pitchFamily="34" charset="-122"/>
                <a:cs typeface="IBM Plex Sans Arabic" pitchFamily="34" charset="-120"/>
              </a:rPr>
              <a:t>rattil-qaloon-v4</a:t>
            </a:r>
            <a:endParaRPr lang="en-US" sz="1700" dirty="0"/>
          </a:p>
        </p:txBody>
      </p:sp>
      <p:sp>
        <p:nvSpPr>
          <p:cNvPr id="6" name="Text 4"/>
          <p:cNvSpPr txBox="1"/>
          <p:nvPr/>
        </p:nvSpPr>
        <p:spPr>
          <a:xfrm>
            <a:off x="6629400" y="2468880"/>
            <a:ext cx="4739335" cy="594360"/>
          </a:xfrm>
          <a:prstGeom prst="rect">
            <a:avLst/>
          </a:prstGeom>
          <a:noFill/>
          <a:ln/>
        </p:spPr>
        <p:txBody>
          <a:bodyPr wrap="square" lIns="0" tIns="0" rIns="0" bIns="0" rtlCol="0" anchor="t"/>
          <a:lstStyle/>
          <a:p>
            <a:pPr rtl="1" algn="r" indent="0" marL="0">
              <a:lnSpc>
                <a:spcPct val="110000"/>
              </a:lnSpc>
              <a:buNone/>
            </a:pPr>
            <a:r>
              <a:rPr lang="ar-SA" altLang="en-US" sz="1350" dirty="0">
                <a:solidFill>
                  <a:schemeClr val="tx1"/>
                </a:solidFill>
                <a:latin typeface="IBM Plex Sans Arabic" pitchFamily="34" charset="0"/>
                <a:ea typeface="IBM Plex Sans Arabic" pitchFamily="34" charset="-122"/>
                <a:cs typeface="IBM Plex Sans Arabic" pitchFamily="34" charset="-120"/>
              </a:rPr>
              <a:t>التعرّف كلمة بكلمة · 10 قرّاء و7,853 مقطعاً · ضبط كامل لنموذج Whisper قرآني</a:t>
            </a:r>
            <a:endParaRPr lang="ar-SA" sz="1350" dirty="0"/>
          </a:p>
        </p:txBody>
      </p:sp>
      <p:sp>
        <p:nvSpPr>
          <p:cNvPr id="7" name="Model rattil-qaloon-tajweed-v2"/>
          <p:cNvSpPr/>
          <p:nvPr/>
        </p:nvSpPr>
        <p:spPr>
          <a:xfrm>
            <a:off x="6355080" y="3291840"/>
            <a:ext cx="5287975" cy="1207008"/>
          </a:xfrm>
          <a:prstGeom prst="roundRect">
            <a:avLst>
              <a:gd name="adj" fmla="val 9091"/>
            </a:avLst>
          </a:prstGeom>
          <a:solidFill>
            <a:schemeClr val="bg1"/>
          </a:solidFill>
          <a:ln/>
          <a:effectLst>
            <a:outerShdw sx="100000" sy="100000" kx="0" ky="0" algn="bl" rotWithShape="0" blurRad="177800" dist="50800" dir="5400000">
              <a:srgbClr val="0F2A20">
                <a:alpha val="16000"/>
              </a:srgbClr>
            </a:outerShdw>
          </a:effectLst>
        </p:spPr>
      </p:sp>
      <p:sp>
        <p:nvSpPr>
          <p:cNvPr id="8" name="Text 6"/>
          <p:cNvSpPr txBox="1"/>
          <p:nvPr/>
        </p:nvSpPr>
        <p:spPr>
          <a:xfrm>
            <a:off x="6629400" y="3447288"/>
            <a:ext cx="4739335" cy="384048"/>
          </a:xfrm>
          <a:prstGeom prst="rect">
            <a:avLst/>
          </a:prstGeom>
          <a:noFill/>
          <a:ln/>
        </p:spPr>
        <p:txBody>
          <a:bodyPr wrap="square" lIns="0" tIns="0" rIns="0" bIns="0" rtlCol="0" anchor="ctr"/>
          <a:lstStyle/>
          <a:p>
            <a:pPr algn="r" indent="0" marL="0">
              <a:buNone/>
            </a:pPr>
            <a:r>
              <a:rPr lang="en-US" sz="1700" b="1" dirty="0">
                <a:solidFill>
                  <a:schemeClr val="accent1"/>
                </a:solidFill>
                <a:latin typeface="IBM Plex Sans Arabic" pitchFamily="34" charset="0"/>
                <a:ea typeface="IBM Plex Sans Arabic" pitchFamily="34" charset="-122"/>
                <a:cs typeface="IBM Plex Sans Arabic" pitchFamily="34" charset="-120"/>
              </a:rPr>
              <a:t>rattil-qaloon-tajweed-v2</a:t>
            </a:r>
            <a:endParaRPr lang="en-US" sz="1700" dirty="0"/>
          </a:p>
        </p:txBody>
      </p:sp>
      <p:sp>
        <p:nvSpPr>
          <p:cNvPr id="9" name="Text 7"/>
          <p:cNvSpPr txBox="1"/>
          <p:nvPr/>
        </p:nvSpPr>
        <p:spPr>
          <a:xfrm>
            <a:off x="6629400" y="3840480"/>
            <a:ext cx="4739335" cy="594360"/>
          </a:xfrm>
          <a:prstGeom prst="rect">
            <a:avLst/>
          </a:prstGeom>
          <a:noFill/>
          <a:ln/>
        </p:spPr>
        <p:txBody>
          <a:bodyPr wrap="square" lIns="0" tIns="0" rIns="0" bIns="0" rtlCol="0" anchor="t"/>
          <a:lstStyle/>
          <a:p>
            <a:pPr rtl="1" algn="r" indent="0" marL="0">
              <a:lnSpc>
                <a:spcPct val="110000"/>
              </a:lnSpc>
              <a:buNone/>
            </a:pPr>
            <a:r>
              <a:rPr lang="ar-SA" altLang="en-US" sz="1350" dirty="0">
                <a:solidFill>
                  <a:schemeClr val="tx1"/>
                </a:solidFill>
                <a:latin typeface="IBM Plex Sans Arabic" pitchFamily="34" charset="0"/>
                <a:ea typeface="IBM Plex Sans Arabic" pitchFamily="34" charset="-122"/>
                <a:cs typeface="IBM Plex Sans Arabic" pitchFamily="34" charset="-120"/>
              </a:rPr>
              <a:t>9 علامات تجويد · تعلّم من قراءة مجرّدة ألا يختلق علامة لم تُنطق</a:t>
            </a:r>
            <a:endParaRPr lang="ar-SA" sz="1350" dirty="0"/>
          </a:p>
        </p:txBody>
      </p:sp>
      <p:sp>
        <p:nvSpPr>
          <p:cNvPr id="10" name="Model rattil-ayah-embed"/>
          <p:cNvSpPr/>
          <p:nvPr/>
        </p:nvSpPr>
        <p:spPr>
          <a:xfrm>
            <a:off x="6355080" y="4663440"/>
            <a:ext cx="5287975" cy="1207008"/>
          </a:xfrm>
          <a:prstGeom prst="roundRect">
            <a:avLst>
              <a:gd name="adj" fmla="val 9091"/>
            </a:avLst>
          </a:prstGeom>
          <a:solidFill>
            <a:schemeClr val="bg1"/>
          </a:solidFill>
          <a:ln/>
          <a:effectLst>
            <a:outerShdw sx="100000" sy="100000" kx="0" ky="0" algn="bl" rotWithShape="0" blurRad="177800" dist="50800" dir="5400000">
              <a:srgbClr val="0F2A20">
                <a:alpha val="16000"/>
              </a:srgbClr>
            </a:outerShdw>
          </a:effectLst>
        </p:spPr>
      </p:sp>
      <p:sp>
        <p:nvSpPr>
          <p:cNvPr id="11" name="Text 9"/>
          <p:cNvSpPr txBox="1"/>
          <p:nvPr/>
        </p:nvSpPr>
        <p:spPr>
          <a:xfrm>
            <a:off x="6629400" y="4818888"/>
            <a:ext cx="4739335" cy="384048"/>
          </a:xfrm>
          <a:prstGeom prst="rect">
            <a:avLst/>
          </a:prstGeom>
          <a:noFill/>
          <a:ln/>
        </p:spPr>
        <p:txBody>
          <a:bodyPr wrap="square" lIns="0" tIns="0" rIns="0" bIns="0" rtlCol="0" anchor="ctr"/>
          <a:lstStyle/>
          <a:p>
            <a:pPr algn="r" indent="0" marL="0">
              <a:buNone/>
            </a:pPr>
            <a:r>
              <a:rPr lang="en-US" sz="1700" b="1" dirty="0">
                <a:solidFill>
                  <a:schemeClr val="accent1"/>
                </a:solidFill>
                <a:latin typeface="IBM Plex Sans Arabic" pitchFamily="34" charset="0"/>
                <a:ea typeface="IBM Plex Sans Arabic" pitchFamily="34" charset="-122"/>
                <a:cs typeface="IBM Plex Sans Arabic" pitchFamily="34" charset="-120"/>
              </a:rPr>
              <a:t>rattil-ayah-embed</a:t>
            </a:r>
            <a:endParaRPr lang="en-US" sz="1700" dirty="0"/>
          </a:p>
        </p:txBody>
      </p:sp>
      <p:sp>
        <p:nvSpPr>
          <p:cNvPr id="12" name="Text 10"/>
          <p:cNvSpPr txBox="1"/>
          <p:nvPr/>
        </p:nvSpPr>
        <p:spPr>
          <a:xfrm>
            <a:off x="6629400" y="5212080"/>
            <a:ext cx="4739335" cy="594360"/>
          </a:xfrm>
          <a:prstGeom prst="rect">
            <a:avLst/>
          </a:prstGeom>
          <a:noFill/>
          <a:ln/>
        </p:spPr>
        <p:txBody>
          <a:bodyPr wrap="square" lIns="0" tIns="0" rIns="0" bIns="0" rtlCol="0" anchor="t"/>
          <a:lstStyle/>
          <a:p>
            <a:pPr rtl="1" algn="r" indent="0" marL="0">
              <a:lnSpc>
                <a:spcPct val="110000"/>
              </a:lnSpc>
              <a:buNone/>
            </a:pPr>
            <a:r>
              <a:rPr lang="ar-SA" altLang="en-US" sz="1350" dirty="0">
                <a:solidFill>
                  <a:schemeClr val="tx1"/>
                </a:solidFill>
                <a:latin typeface="IBM Plex Sans Arabic" pitchFamily="34" charset="0"/>
                <a:ea typeface="IBM Plex Sans Arabic" pitchFamily="34" charset="-122"/>
                <a:cs typeface="IBM Plex Sans Arabic" pitchFamily="34" charset="-120"/>
              </a:rPr>
              <a:t>بدائل متقاربة المعنى للتحديات · 1,645 زوج آيات من QurSim</a:t>
            </a:r>
            <a:endParaRPr lang="ar-SA" sz="1350" dirty="0"/>
          </a:p>
        </p:txBody>
      </p:sp>
      <p:sp>
        <p:nvSpPr>
          <p:cNvPr id="13" name="Text 11"/>
          <p:cNvSpPr txBox="1"/>
          <p:nvPr/>
        </p:nvSpPr>
        <p:spPr>
          <a:xfrm>
            <a:off x="548640" y="1417320"/>
            <a:ext cx="5349240" cy="411480"/>
          </a:xfrm>
          <a:prstGeom prst="rect">
            <a:avLst/>
          </a:prstGeom>
          <a:noFill/>
          <a:ln/>
        </p:spPr>
        <p:txBody>
          <a:bodyPr wrap="square" lIns="0" tIns="0" rIns="0" bIns="0" rtlCol="0" anchor="t"/>
          <a:lstStyle/>
          <a:p>
            <a:pPr rtl="1" algn="r" indent="0" marL="0">
              <a:buNone/>
            </a:pPr>
            <a:r>
              <a:rPr lang="ar-SA" altLang="en-US" sz="1800" b="1" dirty="0">
                <a:solidFill>
                  <a:schemeClr val="accent1"/>
                </a:solidFill>
                <a:latin typeface="IBM Plex Sans Arabic" pitchFamily="34" charset="0"/>
                <a:ea typeface="IBM Plex Sans Arabic" pitchFamily="34" charset="-122"/>
                <a:cs typeface="IBM Plex Sans Arabic" pitchFamily="34" charset="-120"/>
              </a:rPr>
              <a:t>المصادر</a:t>
            </a:r>
            <a:endParaRPr lang="ar-SA" sz="1800" dirty="0"/>
          </a:p>
        </p:txBody>
      </p:sp>
      <p:sp>
        <p:nvSpPr>
          <p:cNvPr id="14" name="Icon circle LuCheck"/>
          <p:cNvSpPr/>
          <p:nvPr/>
        </p:nvSpPr>
        <p:spPr>
          <a:xfrm>
            <a:off x="5394960" y="2011680"/>
            <a:ext cx="502920" cy="502920"/>
          </a:xfrm>
          <a:prstGeom prst="ellipse">
            <a:avLst/>
          </a:prstGeom>
          <a:solidFill>
            <a:schemeClr val="accent1"/>
          </a:solidFill>
          <a:ln/>
        </p:spPr>
      </p:sp>
      <p:pic>
        <p:nvPicPr>
          <p:cNvPr id="15" name="Icon LuCheck" descr="preencoded.png">    </p:cNvPr>
          <p:cNvPicPr>
            <a:picLocks noChangeAspect="1"/>
          </p:cNvPicPr>
          <p:nvPr/>
        </p:nvPicPr>
        <p:blipFill>
          <a:blip r:embed="rId1"/>
          <a:stretch>
            <a:fillRect/>
          </a:stretch>
        </p:blipFill>
        <p:spPr>
          <a:xfrm>
            <a:off x="5525719" y="2142439"/>
            <a:ext cx="241402" cy="241402"/>
          </a:xfrm>
          <a:prstGeom prst="rect">
            <a:avLst/>
          </a:prstGeom>
        </p:spPr>
      </p:pic>
      <p:sp>
        <p:nvSpPr>
          <p:cNvPr id="16" name="Text 13"/>
          <p:cNvSpPr txBox="1"/>
          <p:nvPr/>
        </p:nvSpPr>
        <p:spPr>
          <a:xfrm>
            <a:off x="548640" y="1965960"/>
            <a:ext cx="461772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IBM Plex Sans Arabic" pitchFamily="34" charset="0"/>
                <a:ea typeface="IBM Plex Sans Arabic" pitchFamily="34" charset="-122"/>
                <a:cs typeface="IBM Plex Sans Arabic" pitchFamily="34" charset="-120"/>
              </a:rPr>
              <a:t>نص المصحف</a:t>
            </a:r>
            <a:endParaRPr lang="ar-SA" sz="1600" dirty="0"/>
          </a:p>
        </p:txBody>
      </p:sp>
      <p:sp>
        <p:nvSpPr>
          <p:cNvPr id="17" name="Text 14"/>
          <p:cNvSpPr txBox="1"/>
          <p:nvPr/>
        </p:nvSpPr>
        <p:spPr>
          <a:xfrm>
            <a:off x="548640" y="2350008"/>
            <a:ext cx="4617720" cy="4572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مجمع الملك فهد، رواية قالون (6,214 آية)</a:t>
            </a:r>
            <a:endParaRPr lang="ar-SA" sz="1400" dirty="0"/>
          </a:p>
        </p:txBody>
      </p:sp>
      <p:sp>
        <p:nvSpPr>
          <p:cNvPr id="18" name="Icon circle LuCheck"/>
          <p:cNvSpPr/>
          <p:nvPr/>
        </p:nvSpPr>
        <p:spPr>
          <a:xfrm>
            <a:off x="5394960" y="3035808"/>
            <a:ext cx="502920" cy="502920"/>
          </a:xfrm>
          <a:prstGeom prst="ellipse">
            <a:avLst/>
          </a:prstGeom>
          <a:solidFill>
            <a:schemeClr val="accent1"/>
          </a:solidFill>
          <a:ln/>
        </p:spPr>
      </p:sp>
      <p:pic>
        <p:nvPicPr>
          <p:cNvPr id="19" name="Icon LuCheck" descr="preencoded.png">    </p:cNvPr>
          <p:cNvPicPr>
            <a:picLocks noChangeAspect="1"/>
          </p:cNvPicPr>
          <p:nvPr/>
        </p:nvPicPr>
        <p:blipFill>
          <a:blip r:embed="rId2"/>
          <a:stretch>
            <a:fillRect/>
          </a:stretch>
        </p:blipFill>
        <p:spPr>
          <a:xfrm>
            <a:off x="5525719" y="3166567"/>
            <a:ext cx="241402" cy="241402"/>
          </a:xfrm>
          <a:prstGeom prst="rect">
            <a:avLst/>
          </a:prstGeom>
        </p:spPr>
      </p:pic>
      <p:sp>
        <p:nvSpPr>
          <p:cNvPr id="20" name="Text 16"/>
          <p:cNvSpPr txBox="1"/>
          <p:nvPr/>
        </p:nvSpPr>
        <p:spPr>
          <a:xfrm>
            <a:off x="548640" y="2990088"/>
            <a:ext cx="461772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IBM Plex Sans Arabic" pitchFamily="34" charset="0"/>
                <a:ea typeface="IBM Plex Sans Arabic" pitchFamily="34" charset="-122"/>
                <a:cs typeface="IBM Plex Sans Arabic" pitchFamily="34" charset="-120"/>
              </a:rPr>
              <a:t>التلاوات</a:t>
            </a:r>
            <a:endParaRPr lang="ar-SA" sz="1600" dirty="0"/>
          </a:p>
        </p:txBody>
      </p:sp>
      <p:sp>
        <p:nvSpPr>
          <p:cNvPr id="21" name="Text 17"/>
          <p:cNvSpPr txBox="1"/>
          <p:nvPr/>
        </p:nvSpPr>
        <p:spPr>
          <a:xfrm>
            <a:off x="548640" y="3374136"/>
            <a:ext cx="4617720" cy="4572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IBM Plex Sans Arabic" pitchFamily="34" charset="0"/>
                <a:ea typeface="IBM Plex Sans Arabic" pitchFamily="34" charset="-122"/>
                <a:cs typeface="IBM Plex Sans Arabic" pitchFamily="34" charset="-120"/>
              </a:rPr>
              <a:t>mp3quran.net، عشرة قرّاء لرواية قالون</a:t>
            </a:r>
            <a:endParaRPr lang="ar-SA" sz="1400" dirty="0"/>
          </a:p>
        </p:txBody>
      </p:sp>
      <p:sp>
        <p:nvSpPr>
          <p:cNvPr id="22" name="Icon circle LuCheck"/>
          <p:cNvSpPr/>
          <p:nvPr/>
        </p:nvSpPr>
        <p:spPr>
          <a:xfrm>
            <a:off x="5394960" y="4059936"/>
            <a:ext cx="502920" cy="502920"/>
          </a:xfrm>
          <a:prstGeom prst="ellipse">
            <a:avLst/>
          </a:prstGeom>
          <a:solidFill>
            <a:schemeClr val="accent1"/>
          </a:solidFill>
          <a:ln/>
        </p:spPr>
      </p:sp>
      <p:pic>
        <p:nvPicPr>
          <p:cNvPr id="23" name="Icon LuCheck" descr="preencoded.png">    </p:cNvPr>
          <p:cNvPicPr>
            <a:picLocks noChangeAspect="1"/>
          </p:cNvPicPr>
          <p:nvPr/>
        </p:nvPicPr>
        <p:blipFill>
          <a:blip r:embed="rId3"/>
          <a:stretch>
            <a:fillRect/>
          </a:stretch>
        </p:blipFill>
        <p:spPr>
          <a:xfrm>
            <a:off x="5525719" y="4190695"/>
            <a:ext cx="241402" cy="241402"/>
          </a:xfrm>
          <a:prstGeom prst="rect">
            <a:avLst/>
          </a:prstGeom>
        </p:spPr>
      </p:pic>
      <p:sp>
        <p:nvSpPr>
          <p:cNvPr id="24" name="Text 19"/>
          <p:cNvSpPr txBox="1"/>
          <p:nvPr/>
        </p:nvSpPr>
        <p:spPr>
          <a:xfrm>
            <a:off x="548640" y="4014216"/>
            <a:ext cx="461772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IBM Plex Sans Arabic" pitchFamily="34" charset="0"/>
                <a:ea typeface="IBM Plex Sans Arabic" pitchFamily="34" charset="-122"/>
                <a:cs typeface="IBM Plex Sans Arabic" pitchFamily="34" charset="-120"/>
              </a:rPr>
              <a:t>أحكام التجويد</a:t>
            </a:r>
            <a:endParaRPr lang="ar-SA" sz="1600" dirty="0"/>
          </a:p>
        </p:txBody>
      </p:sp>
      <p:sp>
        <p:nvSpPr>
          <p:cNvPr id="25" name="Text 20"/>
          <p:cNvSpPr txBox="1"/>
          <p:nvPr/>
        </p:nvSpPr>
        <p:spPr>
          <a:xfrm>
            <a:off x="548640" y="4398264"/>
            <a:ext cx="4617720" cy="4572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منهج الهيئة العامة للأوقاف الليبية لرواية قالون (2022)</a:t>
            </a:r>
            <a:endParaRPr lang="ar-SA" sz="1400" dirty="0"/>
          </a:p>
        </p:txBody>
      </p:sp>
      <p:sp>
        <p:nvSpPr>
          <p:cNvPr id="26" name="Icon circle LuCheck"/>
          <p:cNvSpPr/>
          <p:nvPr/>
        </p:nvSpPr>
        <p:spPr>
          <a:xfrm>
            <a:off x="5394960" y="5084064"/>
            <a:ext cx="502920" cy="502920"/>
          </a:xfrm>
          <a:prstGeom prst="ellipse">
            <a:avLst/>
          </a:prstGeom>
          <a:solidFill>
            <a:schemeClr val="accent1"/>
          </a:solidFill>
          <a:ln/>
        </p:spPr>
      </p:sp>
      <p:pic>
        <p:nvPicPr>
          <p:cNvPr id="27" name="Icon LuCheck" descr="preencoded.png">    </p:cNvPr>
          <p:cNvPicPr>
            <a:picLocks noChangeAspect="1"/>
          </p:cNvPicPr>
          <p:nvPr/>
        </p:nvPicPr>
        <p:blipFill>
          <a:blip r:embed="rId4"/>
          <a:stretch>
            <a:fillRect/>
          </a:stretch>
        </p:blipFill>
        <p:spPr>
          <a:xfrm>
            <a:off x="5525719" y="5214823"/>
            <a:ext cx="241402" cy="241402"/>
          </a:xfrm>
          <a:prstGeom prst="rect">
            <a:avLst/>
          </a:prstGeom>
        </p:spPr>
      </p:pic>
      <p:sp>
        <p:nvSpPr>
          <p:cNvPr id="28" name="Text 22"/>
          <p:cNvSpPr txBox="1"/>
          <p:nvPr/>
        </p:nvSpPr>
        <p:spPr>
          <a:xfrm>
            <a:off x="548640" y="5038344"/>
            <a:ext cx="4617720" cy="365760"/>
          </a:xfrm>
          <a:prstGeom prst="rect">
            <a:avLst/>
          </a:prstGeom>
          <a:noFill/>
          <a:ln/>
        </p:spPr>
        <p:txBody>
          <a:bodyPr wrap="square" lIns="0" tIns="0" rIns="0" bIns="0" rtlCol="0" anchor="t"/>
          <a:lstStyle/>
          <a:p>
            <a:pPr rtl="1" algn="r" indent="0" marL="0">
              <a:buNone/>
            </a:pPr>
            <a:r>
              <a:rPr lang="ar-SA" altLang="en-US" sz="1600" b="1" dirty="0">
                <a:solidFill>
                  <a:schemeClr val="tx2"/>
                </a:solidFill>
                <a:latin typeface="IBM Plex Sans Arabic" pitchFamily="34" charset="0"/>
                <a:ea typeface="IBM Plex Sans Arabic" pitchFamily="34" charset="-122"/>
                <a:cs typeface="IBM Plex Sans Arabic" pitchFamily="34" charset="-120"/>
              </a:rPr>
              <a:t>صوت الاختبار</a:t>
            </a:r>
            <a:endParaRPr lang="ar-SA" sz="1600" dirty="0"/>
          </a:p>
        </p:txBody>
      </p:sp>
      <p:sp>
        <p:nvSpPr>
          <p:cNvPr id="29" name="Text 23"/>
          <p:cNvSpPr txBox="1"/>
          <p:nvPr/>
        </p:nvSpPr>
        <p:spPr>
          <a:xfrm>
            <a:off x="548640" y="5422392"/>
            <a:ext cx="4617720" cy="457200"/>
          </a:xfrm>
          <a:prstGeom prst="rect">
            <a:avLst/>
          </a:prstGeom>
          <a:noFill/>
          <a:ln/>
        </p:spPr>
        <p:txBody>
          <a:bodyPr wrap="square" lIns="0" tIns="0" rIns="0" bIns="0" rtlCol="0" anchor="t"/>
          <a:lstStyle/>
          <a:p>
            <a:pPr rtl="1" algn="r" indent="0" marL="0">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الشيخ وليد (nquran.com)، خارج بيانات التدريب</a:t>
            </a:r>
            <a:endParaRPr lang="ar-SA" sz="14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التلاوة السريعة: الخطأ نزل من 19.9% إلى 11.9%</a:t>
            </a:r>
            <a:endParaRPr lang="ar-SA" sz="3600" dirty="0"/>
          </a:p>
        </p:txBody>
      </p:sp>
      <p:graphicFrame>
        <p:nvGraphicFramePr>
          <p:cNvPr id="3" name="WER by version chart" descr=""/>
          <p:cNvGraphicFramePr/>
          <p:nvPr/>
        </p:nvGraphicFramePr>
        <p:xfrm>
          <a:off x="548640" y="1417320"/>
          <a:ext cx="6766560" cy="4617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554480"/>
            <a:ext cx="3824935" cy="640080"/>
          </a:xfrm>
          <a:prstGeom prst="rect">
            <a:avLst/>
          </a:prstGeom>
          <a:noFill/>
          <a:ln/>
        </p:spPr>
        <p:txBody>
          <a:bodyPr wrap="square" lIns="0" tIns="0" rIns="0" bIns="0" rtlCol="0" anchor="t"/>
          <a:lstStyle/>
          <a:p>
            <a:pPr rtl="1" algn="r" indent="0" marL="0">
              <a:buNone/>
            </a:pPr>
            <a:r>
              <a:rPr lang="ar-SA" altLang="en-US" sz="3600" b="1" dirty="0">
                <a:solidFill>
                  <a:schemeClr val="accent1"/>
                </a:solidFill>
                <a:latin typeface="IBM Plex Sans Arabic" pitchFamily="34" charset="0"/>
                <a:ea typeface="IBM Plex Sans Arabic" pitchFamily="34" charset="-122"/>
                <a:cs typeface="IBM Plex Sans Arabic" pitchFamily="34" charset="-120"/>
              </a:rPr>
              <a:t>11.9%</a:t>
            </a:r>
            <a:endParaRPr lang="ar-SA" sz="3600" dirty="0"/>
          </a:p>
        </p:txBody>
      </p:sp>
      <p:sp>
        <p:nvSpPr>
          <p:cNvPr id="5" name="Text 2"/>
          <p:cNvSpPr txBox="1"/>
          <p:nvPr/>
        </p:nvSpPr>
        <p:spPr>
          <a:xfrm>
            <a:off x="7818120" y="2212848"/>
            <a:ext cx="3824935" cy="6858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خطأ الكلمات في v4 بسرعة 1.25×، بعد 19.9% في v1</a:t>
            </a:r>
            <a:endParaRPr lang="ar-SA" sz="1400" dirty="0"/>
          </a:p>
        </p:txBody>
      </p:sp>
      <p:sp>
        <p:nvSpPr>
          <p:cNvPr id="6" name="Text 3"/>
          <p:cNvSpPr txBox="1"/>
          <p:nvPr/>
        </p:nvSpPr>
        <p:spPr>
          <a:xfrm>
            <a:off x="7818120" y="3017520"/>
            <a:ext cx="3824935" cy="640080"/>
          </a:xfrm>
          <a:prstGeom prst="rect">
            <a:avLst/>
          </a:prstGeom>
          <a:noFill/>
          <a:ln/>
        </p:spPr>
        <p:txBody>
          <a:bodyPr wrap="square" lIns="0" tIns="0" rIns="0" bIns="0" rtlCol="0" anchor="t"/>
          <a:lstStyle/>
          <a:p>
            <a:pPr rtl="1" algn="r" indent="0" marL="0">
              <a:buNone/>
            </a:pPr>
            <a:r>
              <a:rPr lang="ar-SA" altLang="en-US" sz="3600" b="1" dirty="0">
                <a:solidFill>
                  <a:schemeClr val="accent1"/>
                </a:solidFill>
                <a:latin typeface="IBM Plex Sans Arabic" pitchFamily="34" charset="0"/>
                <a:ea typeface="IBM Plex Sans Arabic" pitchFamily="34" charset="-122"/>
                <a:cs typeface="IBM Plex Sans Arabic" pitchFamily="34" charset="-120"/>
              </a:rPr>
              <a:t>2.0%</a:t>
            </a:r>
            <a:endParaRPr lang="ar-SA" sz="3600" dirty="0"/>
          </a:p>
        </p:txBody>
      </p:sp>
      <p:sp>
        <p:nvSpPr>
          <p:cNvPr id="7" name="Text 4"/>
          <p:cNvSpPr txBox="1"/>
          <p:nvPr/>
        </p:nvSpPr>
        <p:spPr>
          <a:xfrm>
            <a:off x="7818120" y="3675888"/>
            <a:ext cx="3824935" cy="6858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بسرعة عادية، و1.9% مع إعدادات فك الترميز المستخدمة في الخادم</a:t>
            </a:r>
            <a:endParaRPr lang="ar-SA" sz="1400" dirty="0"/>
          </a:p>
        </p:txBody>
      </p:sp>
      <p:sp>
        <p:nvSpPr>
          <p:cNvPr id="8" name="Text 5"/>
          <p:cNvSpPr txBox="1"/>
          <p:nvPr/>
        </p:nvSpPr>
        <p:spPr>
          <a:xfrm>
            <a:off x="7818120" y="4480560"/>
            <a:ext cx="3824935" cy="640080"/>
          </a:xfrm>
          <a:prstGeom prst="rect">
            <a:avLst/>
          </a:prstGeom>
          <a:noFill/>
          <a:ln/>
        </p:spPr>
        <p:txBody>
          <a:bodyPr wrap="square" lIns="0" tIns="0" rIns="0" bIns="0" rtlCol="0" anchor="t"/>
          <a:lstStyle/>
          <a:p>
            <a:pPr rtl="1" algn="r" indent="0" marL="0">
              <a:buNone/>
            </a:pPr>
            <a:r>
              <a:rPr lang="ar-SA" altLang="en-US" sz="3600" b="1" dirty="0">
                <a:solidFill>
                  <a:schemeClr val="accent3"/>
                </a:solidFill>
                <a:latin typeface="IBM Plex Sans Arabic" pitchFamily="34" charset="0"/>
                <a:ea typeface="IBM Plex Sans Arabic" pitchFamily="34" charset="-122"/>
                <a:cs typeface="IBM Plex Sans Arabic" pitchFamily="34" charset="-120"/>
              </a:rPr>
              <a:t>20.4%</a:t>
            </a:r>
            <a:endParaRPr lang="ar-SA" sz="3600" dirty="0"/>
          </a:p>
        </p:txBody>
      </p:sp>
      <p:sp>
        <p:nvSpPr>
          <p:cNvPr id="9" name="Text 6"/>
          <p:cNvSpPr txBox="1"/>
          <p:nvPr/>
        </p:nvSpPr>
        <p:spPr>
          <a:xfrm>
            <a:off x="7818120" y="5138928"/>
            <a:ext cx="3824935" cy="6858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بسرعة 1.5×: التلاوة السريعة جداً ما زالت أصعب حالة</a:t>
            </a:r>
            <a:endParaRPr lang="ar-SA" sz="1400" dirty="0"/>
          </a:p>
        </p:txBody>
      </p:sp>
      <p:sp>
        <p:nvSpPr>
          <p:cNvPr id="10" name="Text 7"/>
          <p:cNvSpPr txBox="1"/>
          <p:nvPr/>
        </p:nvSpPr>
        <p:spPr>
          <a:xfrm>
            <a:off x="7818120" y="5897880"/>
            <a:ext cx="3824935" cy="320040"/>
          </a:xfrm>
          <a:prstGeom prst="rect">
            <a:avLst/>
          </a:prstGeom>
          <a:noFill/>
          <a:ln/>
        </p:spPr>
        <p:txBody>
          <a:bodyPr wrap="square" lIns="0" tIns="0" rIns="0" bIns="0" rtlCol="0" anchor="t"/>
          <a:lstStyle/>
          <a:p>
            <a:pPr rtl="1" algn="r" indent="0" marL="0">
              <a:buNone/>
            </a:pPr>
            <a:r>
              <a:rPr lang="ar-SA" altLang="en-US" sz="1100" dirty="0">
                <a:solidFill>
                  <a:schemeClr val="accent6"/>
                </a:solidFill>
                <a:latin typeface="IBM Plex Sans Arabic" pitchFamily="34" charset="0"/>
                <a:ea typeface="IBM Plex Sans Arabic" pitchFamily="34" charset="-122"/>
                <a:cs typeface="IBM Plex Sans Arabic" pitchFamily="34" charset="-120"/>
              </a:rPr>
              <a:t>صوت لم يسمعه النموذج · المصدر: docs/QALOON_MODEL_V2.md</a:t>
            </a:r>
            <a:endParaRPr lang="ar-SA" sz="11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502920"/>
            <a:ext cx="11094415" cy="822960"/>
          </a:xfrm>
          <a:prstGeom prst="rect">
            <a:avLst/>
          </a:prstGeom>
          <a:noFill/>
          <a:ln/>
        </p:spPr>
        <p:txBody>
          <a:bodyPr wrap="square" lIns="0" tIns="0" rIns="0" bIns="0" rtlCol="0" anchor="ctr"/>
          <a:lstStyle/>
          <a:p>
            <a:pPr rtl="1" algn="r" indent="0" marL="0">
              <a:buNone/>
            </a:pPr>
            <a:r>
              <a:rPr lang="ar-SA" altLang="en-US" sz="3600" b="1" dirty="0">
                <a:solidFill>
                  <a:schemeClr val="bg1"/>
                </a:solidFill>
                <a:latin typeface="Amiri" pitchFamily="34" charset="0"/>
                <a:ea typeface="Amiri" pitchFamily="34" charset="-122"/>
                <a:cs typeface="Amiri" pitchFamily="34" charset="-120"/>
              </a:rPr>
              <a:t>النتائج على صوت لم يسمعه النموذج</a:t>
            </a:r>
            <a:endParaRPr lang="ar-SA" sz="3600" dirty="0"/>
          </a:p>
        </p:txBody>
      </p:sp>
      <p:sp>
        <p:nvSpPr>
          <p:cNvPr id="3" name="Text 1"/>
          <p:cNvSpPr txBox="1"/>
          <p:nvPr/>
        </p:nvSpPr>
        <p:spPr>
          <a:xfrm>
            <a:off x="548640" y="1325880"/>
            <a:ext cx="11094415" cy="365760"/>
          </a:xfrm>
          <a:prstGeom prst="rect">
            <a:avLst/>
          </a:prstGeom>
          <a:noFill/>
          <a:ln/>
        </p:spPr>
        <p:txBody>
          <a:bodyPr wrap="square" lIns="0" tIns="0" rIns="0" bIns="0" rtlCol="0" anchor="t"/>
          <a:lstStyle/>
          <a:p>
            <a:pPr rtl="1" algn="r" indent="0" marL="0">
              <a:buNone/>
            </a:pPr>
            <a:r>
              <a:rPr lang="ar-SA" altLang="en-US" sz="1600" dirty="0">
                <a:solidFill>
                  <a:srgbClr val="A9BDB2"/>
                </a:solidFill>
                <a:latin typeface="IBM Plex Sans Arabic" pitchFamily="34" charset="0"/>
                <a:ea typeface="IBM Plex Sans Arabic" pitchFamily="34" charset="-122"/>
                <a:cs typeface="IBM Plex Sans Arabic" pitchFamily="34" charset="-120"/>
              </a:rPr>
              <a:t>الشيخ وليد (nquran.com) · 562 مقطعاً · لم يُستخدم في التدريب</a:t>
            </a:r>
            <a:endParaRPr lang="ar-SA" sz="1600" dirty="0"/>
          </a:p>
        </p:txBody>
      </p:sp>
      <p:sp>
        <p:nvSpPr>
          <p:cNvPr id="4" name="Text 2"/>
          <p:cNvSpPr txBox="1"/>
          <p:nvPr/>
        </p:nvSpPr>
        <p:spPr>
          <a:xfrm>
            <a:off x="8960891" y="2377440"/>
            <a:ext cx="2590724" cy="109728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IBM Plex Sans Arabic" pitchFamily="34" charset="0"/>
                <a:ea typeface="IBM Plex Sans Arabic" pitchFamily="34" charset="-122"/>
                <a:cs typeface="IBM Plex Sans Arabic" pitchFamily="34" charset="-120"/>
              </a:rPr>
              <a:t>2.0%</a:t>
            </a:r>
            <a:endParaRPr lang="ar-SA" sz="6000" dirty="0"/>
          </a:p>
        </p:txBody>
      </p:sp>
      <p:sp>
        <p:nvSpPr>
          <p:cNvPr id="5" name="Text 3"/>
          <p:cNvSpPr txBox="1"/>
          <p:nvPr/>
        </p:nvSpPr>
        <p:spPr>
          <a:xfrm>
            <a:off x="8960891" y="3611880"/>
            <a:ext cx="2590724" cy="457200"/>
          </a:xfrm>
          <a:prstGeom prst="rect">
            <a:avLst/>
          </a:prstGeom>
          <a:noFill/>
          <a:ln/>
        </p:spPr>
        <p:txBody>
          <a:bodyPr wrap="square" lIns="0" tIns="0" rIns="0" bIns="0" rtlCol="0" anchor="t"/>
          <a:lstStyle/>
          <a:p>
            <a:pPr rtl="1" algn="ctr" indent="0" marL="0">
              <a:buNone/>
            </a:pPr>
            <a:r>
              <a:rPr lang="ar-SA" altLang="en-US" sz="2000" b="1" dirty="0">
                <a:solidFill>
                  <a:schemeClr val="bg1"/>
                </a:solidFill>
                <a:latin typeface="IBM Plex Sans Arabic" pitchFamily="34" charset="0"/>
                <a:ea typeface="IBM Plex Sans Arabic" pitchFamily="34" charset="-122"/>
                <a:cs typeface="IBM Plex Sans Arabic" pitchFamily="34" charset="-120"/>
              </a:rPr>
              <a:t>الخطأ في الكلمات</a:t>
            </a:r>
            <a:endParaRPr lang="ar-SA" sz="2000" dirty="0"/>
          </a:p>
        </p:txBody>
      </p:sp>
      <p:sp>
        <p:nvSpPr>
          <p:cNvPr id="6" name="Text 4"/>
          <p:cNvSpPr txBox="1"/>
          <p:nvPr/>
        </p:nvSpPr>
        <p:spPr>
          <a:xfrm>
            <a:off x="9098051" y="4114800"/>
            <a:ext cx="2316404" cy="822960"/>
          </a:xfrm>
          <a:prstGeom prst="rect">
            <a:avLst/>
          </a:prstGeom>
          <a:noFill/>
          <a:ln/>
        </p:spPr>
        <p:txBody>
          <a:bodyPr wrap="square" lIns="0" tIns="0" rIns="0" bIns="0" rtlCol="0" anchor="t"/>
          <a:lstStyle/>
          <a:p>
            <a:pPr rtl="1" algn="ctr" indent="0" marL="0">
              <a:lnSpc>
                <a:spcPct val="110000"/>
              </a:lnSpc>
              <a:buNone/>
            </a:pPr>
            <a:r>
              <a:rPr lang="ar-SA" altLang="en-US" sz="1400" dirty="0">
                <a:solidFill>
                  <a:srgbClr val="C9D6CE"/>
                </a:solidFill>
                <a:latin typeface="IBM Plex Sans Arabic" pitchFamily="34" charset="0"/>
                <a:ea typeface="IBM Plex Sans Arabic" pitchFamily="34" charset="-122"/>
                <a:cs typeface="IBM Plex Sans Arabic" pitchFamily="34" charset="-120"/>
              </a:rPr>
              <a:t>بسرعة عادية؛ نموذجنا الأول نحو 25%</a:t>
            </a:r>
            <a:endParaRPr lang="ar-SA" sz="1400" dirty="0"/>
          </a:p>
        </p:txBody>
      </p:sp>
      <p:sp>
        <p:nvSpPr>
          <p:cNvPr id="7" name="Text 5"/>
          <p:cNvSpPr txBox="1"/>
          <p:nvPr/>
        </p:nvSpPr>
        <p:spPr>
          <a:xfrm>
            <a:off x="6187288" y="2377440"/>
            <a:ext cx="2590724" cy="109728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IBM Plex Sans Arabic" pitchFamily="34" charset="0"/>
                <a:ea typeface="IBM Plex Sans Arabic" pitchFamily="34" charset="-122"/>
                <a:cs typeface="IBM Plex Sans Arabic" pitchFamily="34" charset="-120"/>
              </a:rPr>
              <a:t>100%</a:t>
            </a:r>
            <a:endParaRPr lang="ar-SA" sz="6000" dirty="0"/>
          </a:p>
        </p:txBody>
      </p:sp>
      <p:sp>
        <p:nvSpPr>
          <p:cNvPr id="8" name="Text 6"/>
          <p:cNvSpPr txBox="1"/>
          <p:nvPr/>
        </p:nvSpPr>
        <p:spPr>
          <a:xfrm>
            <a:off x="6187288" y="3611880"/>
            <a:ext cx="2590724" cy="457200"/>
          </a:xfrm>
          <a:prstGeom prst="rect">
            <a:avLst/>
          </a:prstGeom>
          <a:noFill/>
          <a:ln/>
        </p:spPr>
        <p:txBody>
          <a:bodyPr wrap="square" lIns="0" tIns="0" rIns="0" bIns="0" rtlCol="0" anchor="t"/>
          <a:lstStyle/>
          <a:p>
            <a:pPr rtl="1" algn="ctr" indent="0" marL="0">
              <a:buNone/>
            </a:pPr>
            <a:r>
              <a:rPr lang="ar-SA" altLang="en-US" sz="2000" b="1" dirty="0">
                <a:solidFill>
                  <a:schemeClr val="bg1"/>
                </a:solidFill>
                <a:latin typeface="IBM Plex Sans Arabic" pitchFamily="34" charset="0"/>
                <a:ea typeface="IBM Plex Sans Arabic" pitchFamily="34" charset="-122"/>
                <a:cs typeface="IBM Plex Sans Arabic" pitchFamily="34" charset="-120"/>
              </a:rPr>
              <a:t>صيغة قالون</a:t>
            </a:r>
            <a:endParaRPr lang="ar-SA" sz="2000" dirty="0"/>
          </a:p>
        </p:txBody>
      </p:sp>
      <p:sp>
        <p:nvSpPr>
          <p:cNvPr id="9" name="Text 7"/>
          <p:cNvSpPr txBox="1"/>
          <p:nvPr/>
        </p:nvSpPr>
        <p:spPr>
          <a:xfrm>
            <a:off x="6324448" y="4114800"/>
            <a:ext cx="2316404" cy="822960"/>
          </a:xfrm>
          <a:prstGeom prst="rect">
            <a:avLst/>
          </a:prstGeom>
          <a:noFill/>
          <a:ln/>
        </p:spPr>
        <p:txBody>
          <a:bodyPr wrap="square" lIns="0" tIns="0" rIns="0" bIns="0" rtlCol="0" anchor="t"/>
          <a:lstStyle/>
          <a:p>
            <a:pPr rtl="1" algn="ctr" indent="0" marL="0">
              <a:lnSpc>
                <a:spcPct val="110000"/>
              </a:lnSpc>
              <a:buNone/>
            </a:pPr>
            <a:r>
              <a:rPr lang="ar-SA" altLang="en-US" sz="1400" dirty="0">
                <a:solidFill>
                  <a:srgbClr val="C9D6CE"/>
                </a:solidFill>
                <a:latin typeface="IBM Plex Sans Arabic" pitchFamily="34" charset="0"/>
                <a:ea typeface="IBM Plex Sans Arabic" pitchFamily="34" charset="-122"/>
                <a:cs typeface="IBM Plex Sans Arabic" pitchFamily="34" charset="-120"/>
              </a:rPr>
              <a:t>في الكلمات الخاصة بقالون؛ النماذج العامة بين 47% و68%</a:t>
            </a:r>
            <a:endParaRPr lang="ar-SA" sz="1400" dirty="0"/>
          </a:p>
        </p:txBody>
      </p:sp>
      <p:sp>
        <p:nvSpPr>
          <p:cNvPr id="10" name="Text 8"/>
          <p:cNvSpPr txBox="1"/>
          <p:nvPr/>
        </p:nvSpPr>
        <p:spPr>
          <a:xfrm>
            <a:off x="3413684" y="2377440"/>
            <a:ext cx="2590724" cy="109728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IBM Plex Sans Arabic" pitchFamily="34" charset="0"/>
                <a:ea typeface="IBM Plex Sans Arabic" pitchFamily="34" charset="-122"/>
                <a:cs typeface="IBM Plex Sans Arabic" pitchFamily="34" charset="-120"/>
              </a:rPr>
              <a:t>0.99</a:t>
            </a:r>
            <a:endParaRPr lang="ar-SA" sz="6000" dirty="0"/>
          </a:p>
        </p:txBody>
      </p:sp>
      <p:sp>
        <p:nvSpPr>
          <p:cNvPr id="11" name="Text 9"/>
          <p:cNvSpPr txBox="1"/>
          <p:nvPr/>
        </p:nvSpPr>
        <p:spPr>
          <a:xfrm>
            <a:off x="3413684" y="3611880"/>
            <a:ext cx="2590724" cy="457200"/>
          </a:xfrm>
          <a:prstGeom prst="rect">
            <a:avLst/>
          </a:prstGeom>
          <a:noFill/>
          <a:ln/>
        </p:spPr>
        <p:txBody>
          <a:bodyPr wrap="square" lIns="0" tIns="0" rIns="0" bIns="0" rtlCol="0" anchor="t"/>
          <a:lstStyle/>
          <a:p>
            <a:pPr rtl="1" algn="ctr" indent="0" marL="0">
              <a:buNone/>
            </a:pPr>
            <a:r>
              <a:rPr lang="ar-SA" altLang="en-US" sz="2000" b="1" dirty="0">
                <a:solidFill>
                  <a:schemeClr val="bg1"/>
                </a:solidFill>
                <a:latin typeface="IBM Plex Sans Arabic" pitchFamily="34" charset="0"/>
                <a:ea typeface="IBM Plex Sans Arabic" pitchFamily="34" charset="-122"/>
                <a:cs typeface="IBM Plex Sans Arabic" pitchFamily="34" charset="-120"/>
              </a:rPr>
              <a:t>دقة رصد التجويد</a:t>
            </a:r>
            <a:endParaRPr lang="ar-SA" sz="2000" dirty="0"/>
          </a:p>
        </p:txBody>
      </p:sp>
      <p:sp>
        <p:nvSpPr>
          <p:cNvPr id="12" name="Text 10"/>
          <p:cNvSpPr txBox="1"/>
          <p:nvPr/>
        </p:nvSpPr>
        <p:spPr>
          <a:xfrm>
            <a:off x="3550844" y="4114800"/>
            <a:ext cx="2316404" cy="822960"/>
          </a:xfrm>
          <a:prstGeom prst="rect">
            <a:avLst/>
          </a:prstGeom>
          <a:noFill/>
          <a:ln/>
        </p:spPr>
        <p:txBody>
          <a:bodyPr wrap="square" lIns="0" tIns="0" rIns="0" bIns="0" rtlCol="0" anchor="t"/>
          <a:lstStyle/>
          <a:p>
            <a:pPr rtl="1" algn="ctr" indent="0" marL="0">
              <a:lnSpc>
                <a:spcPct val="110000"/>
              </a:lnSpc>
              <a:buNone/>
            </a:pPr>
            <a:r>
              <a:rPr lang="ar-SA" altLang="en-US" sz="1400" dirty="0">
                <a:solidFill>
                  <a:srgbClr val="C9D6CE"/>
                </a:solidFill>
                <a:latin typeface="IBM Plex Sans Arabic" pitchFamily="34" charset="0"/>
                <a:ea typeface="IBM Plex Sans Arabic" pitchFamily="34" charset="-122"/>
                <a:cs typeface="IBM Plex Sans Arabic" pitchFamily="34" charset="-120"/>
              </a:rPr>
              <a:t>والاستدعاء 0.94 لعلامات التجويد التسع</a:t>
            </a:r>
            <a:endParaRPr lang="ar-SA" sz="1400" dirty="0"/>
          </a:p>
        </p:txBody>
      </p:sp>
      <p:sp>
        <p:nvSpPr>
          <p:cNvPr id="13" name="Text 11"/>
          <p:cNvSpPr txBox="1"/>
          <p:nvPr/>
        </p:nvSpPr>
        <p:spPr>
          <a:xfrm>
            <a:off x="640080" y="2377440"/>
            <a:ext cx="2590724" cy="1097280"/>
          </a:xfrm>
          <a:prstGeom prst="rect">
            <a:avLst/>
          </a:prstGeom>
          <a:noFill/>
          <a:ln/>
        </p:spPr>
        <p:txBody>
          <a:bodyPr wrap="square" lIns="0" tIns="0" rIns="0" bIns="0" rtlCol="0" anchor="ctr"/>
          <a:lstStyle/>
          <a:p>
            <a:pPr rtl="1" algn="ctr" indent="0" marL="0">
              <a:buNone/>
            </a:pPr>
            <a:r>
              <a:rPr lang="ar-SA" altLang="en-US" sz="6000" b="1" dirty="0">
                <a:solidFill>
                  <a:schemeClr val="accent2"/>
                </a:solidFill>
                <a:latin typeface="IBM Plex Sans Arabic" pitchFamily="34" charset="0"/>
                <a:ea typeface="IBM Plex Sans Arabic" pitchFamily="34" charset="-122"/>
                <a:cs typeface="IBM Plex Sans Arabic" pitchFamily="34" charset="-120"/>
              </a:rPr>
              <a:t>0%</a:t>
            </a:r>
            <a:endParaRPr lang="ar-SA" sz="6000" dirty="0"/>
          </a:p>
        </p:txBody>
      </p:sp>
      <p:sp>
        <p:nvSpPr>
          <p:cNvPr id="14" name="Text 12"/>
          <p:cNvSpPr txBox="1"/>
          <p:nvPr/>
        </p:nvSpPr>
        <p:spPr>
          <a:xfrm>
            <a:off x="640080" y="3611880"/>
            <a:ext cx="2590724" cy="457200"/>
          </a:xfrm>
          <a:prstGeom prst="rect">
            <a:avLst/>
          </a:prstGeom>
          <a:noFill/>
          <a:ln/>
        </p:spPr>
        <p:txBody>
          <a:bodyPr wrap="square" lIns="0" tIns="0" rIns="0" bIns="0" rtlCol="0" anchor="t"/>
          <a:lstStyle/>
          <a:p>
            <a:pPr rtl="1" algn="ctr" indent="0" marL="0">
              <a:buNone/>
            </a:pPr>
            <a:r>
              <a:rPr lang="ar-SA" altLang="en-US" sz="2000" b="1" dirty="0">
                <a:solidFill>
                  <a:schemeClr val="bg1"/>
                </a:solidFill>
                <a:latin typeface="IBM Plex Sans Arabic" pitchFamily="34" charset="0"/>
                <a:ea typeface="IBM Plex Sans Arabic" pitchFamily="34" charset="-122"/>
                <a:cs typeface="IBM Plex Sans Arabic" pitchFamily="34" charset="-120"/>
              </a:rPr>
              <a:t>آيات مختلَقة</a:t>
            </a:r>
            <a:endParaRPr lang="ar-SA" sz="2000" dirty="0"/>
          </a:p>
        </p:txBody>
      </p:sp>
      <p:sp>
        <p:nvSpPr>
          <p:cNvPr id="15" name="Text 13"/>
          <p:cNvSpPr txBox="1"/>
          <p:nvPr/>
        </p:nvSpPr>
        <p:spPr>
          <a:xfrm>
            <a:off x="777240" y="4114800"/>
            <a:ext cx="2316404" cy="822960"/>
          </a:xfrm>
          <a:prstGeom prst="rect">
            <a:avLst/>
          </a:prstGeom>
          <a:noFill/>
          <a:ln/>
        </p:spPr>
        <p:txBody>
          <a:bodyPr wrap="square" lIns="0" tIns="0" rIns="0" bIns="0" rtlCol="0" anchor="t"/>
          <a:lstStyle/>
          <a:p>
            <a:pPr rtl="1" algn="ctr" indent="0" marL="0">
              <a:lnSpc>
                <a:spcPct val="110000"/>
              </a:lnSpc>
              <a:buNone/>
            </a:pPr>
            <a:r>
              <a:rPr lang="ar-SA" altLang="en-US" sz="1400" dirty="0">
                <a:solidFill>
                  <a:srgbClr val="C9D6CE"/>
                </a:solidFill>
                <a:latin typeface="IBM Plex Sans Arabic" pitchFamily="34" charset="0"/>
                <a:ea typeface="IBM Plex Sans Arabic" pitchFamily="34" charset="-122"/>
                <a:cs typeface="IBM Plex Sans Arabic" pitchFamily="34" charset="-120"/>
              </a:rPr>
              <a:t>لم يكتب آية متروكة على أنها تُليت</a:t>
            </a:r>
            <a:endParaRPr lang="ar-SA" sz="1400" dirty="0"/>
          </a:p>
        </p:txBody>
      </p:sp>
      <p:sp>
        <p:nvSpPr>
          <p:cNvPr id="16" name="Text 14"/>
          <p:cNvSpPr txBox="1"/>
          <p:nvPr/>
        </p:nvSpPr>
        <p:spPr>
          <a:xfrm>
            <a:off x="548640" y="5806440"/>
            <a:ext cx="11094415" cy="320040"/>
          </a:xfrm>
          <a:prstGeom prst="rect">
            <a:avLst/>
          </a:prstGeom>
          <a:noFill/>
          <a:ln/>
        </p:spPr>
        <p:txBody>
          <a:bodyPr wrap="square" lIns="0" tIns="0" rIns="0" bIns="0" rtlCol="0" anchor="t"/>
          <a:lstStyle/>
          <a:p>
            <a:pPr rtl="1" algn="ctr" indent="0" marL="0">
              <a:buNone/>
            </a:pPr>
            <a:r>
              <a:rPr lang="ar-SA" altLang="en-US" sz="1100" dirty="0">
                <a:solidFill>
                  <a:srgbClr val="A9BDB2"/>
                </a:solidFill>
                <a:latin typeface="IBM Plex Sans Arabic" pitchFamily="34" charset="0"/>
                <a:ea typeface="IBM Plex Sans Arabic" pitchFamily="34" charset="-122"/>
                <a:cs typeface="IBM Plex Sans Arabic" pitchFamily="34" charset="-120"/>
              </a:rPr>
              <a:t>المصادر: docs/QALOON_MODEL_V1.md · docs/QALOON_MODEL_V2.md · docs/QALOON_TAJWEED.md</a:t>
            </a:r>
            <a:endParaRPr lang="ar-SA" sz="11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DB2"/>
                </a:solidFill>
                <a:latin typeface="IBM Plex Sans Arabic"/>
                <a:ea typeface="IBM Plex Sans Arabic"/>
                <a:cs typeface="IBM Plex Sans Arabic"/>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مبني على المعيار العلمي للحزمة</a:t>
            </a:r>
            <a:endParaRPr lang="ar-SA" sz="3600" dirty="0"/>
          </a:p>
        </p:txBody>
      </p:sp>
      <p:sp>
        <p:nvSpPr>
          <p:cNvPr id="3" name="Standard 1"/>
          <p:cNvSpPr/>
          <p:nvPr/>
        </p:nvSpPr>
        <p:spPr>
          <a:xfrm>
            <a:off x="8122615" y="1463040"/>
            <a:ext cx="3520440" cy="2103120"/>
          </a:xfrm>
          <a:prstGeom prst="roundRect">
            <a:avLst>
              <a:gd name="adj" fmla="val 6087"/>
            </a:avLst>
          </a:prstGeom>
          <a:solidFill>
            <a:schemeClr val="bg2"/>
          </a:solidFill>
          <a:ln/>
        </p:spPr>
      </p:sp>
      <p:sp>
        <p:nvSpPr>
          <p:cNvPr id="4" name="Icon circle LuBadgeCheck"/>
          <p:cNvSpPr/>
          <p:nvPr/>
        </p:nvSpPr>
        <p:spPr>
          <a:xfrm>
            <a:off x="10728655" y="1737360"/>
            <a:ext cx="640080" cy="640080"/>
          </a:xfrm>
          <a:prstGeom prst="ellipse">
            <a:avLst/>
          </a:prstGeom>
          <a:solidFill>
            <a:schemeClr val="accent1"/>
          </a:solidFill>
          <a:ln/>
        </p:spPr>
      </p:sp>
      <p:pic>
        <p:nvPicPr>
          <p:cNvPr id="5" name="Icon LuBadgeCheck" descr="preencoded.png">    </p:cNvPr>
          <p:cNvPicPr>
            <a:picLocks noChangeAspect="1"/>
          </p:cNvPicPr>
          <p:nvPr/>
        </p:nvPicPr>
        <p:blipFill>
          <a:blip r:embed="rId1"/>
          <a:stretch>
            <a:fillRect/>
          </a:stretch>
        </p:blipFill>
        <p:spPr>
          <a:xfrm>
            <a:off x="10895076" y="1903781"/>
            <a:ext cx="307238" cy="307238"/>
          </a:xfrm>
          <a:prstGeom prst="rect">
            <a:avLst/>
          </a:prstGeom>
        </p:spPr>
      </p:pic>
      <p:sp>
        <p:nvSpPr>
          <p:cNvPr id="6" name="Text 3"/>
          <p:cNvSpPr txBox="1"/>
          <p:nvPr/>
        </p:nvSpPr>
        <p:spPr>
          <a:xfrm>
            <a:off x="8396935" y="173736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الموثوقية والإسناد</a:t>
            </a:r>
            <a:endParaRPr lang="ar-SA" sz="1700" dirty="0"/>
          </a:p>
        </p:txBody>
      </p:sp>
      <p:sp>
        <p:nvSpPr>
          <p:cNvPr id="7" name="Text 4"/>
          <p:cNvSpPr txBox="1"/>
          <p:nvPr/>
        </p:nvSpPr>
        <p:spPr>
          <a:xfrm>
            <a:off x="8396935" y="251460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النص من مجمع الملك فهد، والتلاوات من mp3quran.net، وكلاهما في الحزمة</a:t>
            </a:r>
            <a:endParaRPr lang="ar-SA" sz="1400" dirty="0"/>
          </a:p>
        </p:txBody>
      </p:sp>
      <p:sp>
        <p:nvSpPr>
          <p:cNvPr id="8" name="Standard 2"/>
          <p:cNvSpPr/>
          <p:nvPr/>
        </p:nvSpPr>
        <p:spPr>
          <a:xfrm>
            <a:off x="4335628" y="1463040"/>
            <a:ext cx="3520440" cy="2103120"/>
          </a:xfrm>
          <a:prstGeom prst="roundRect">
            <a:avLst>
              <a:gd name="adj" fmla="val 6087"/>
            </a:avLst>
          </a:prstGeom>
          <a:solidFill>
            <a:schemeClr val="bg2"/>
          </a:solidFill>
          <a:ln/>
        </p:spPr>
      </p:sp>
      <p:sp>
        <p:nvSpPr>
          <p:cNvPr id="9" name="Icon circle LuShieldCheck"/>
          <p:cNvSpPr/>
          <p:nvPr/>
        </p:nvSpPr>
        <p:spPr>
          <a:xfrm>
            <a:off x="6941668" y="1737360"/>
            <a:ext cx="640080" cy="640080"/>
          </a:xfrm>
          <a:prstGeom prst="ellipse">
            <a:avLst/>
          </a:prstGeom>
          <a:solidFill>
            <a:schemeClr val="accent1"/>
          </a:solidFill>
          <a:ln/>
        </p:spPr>
      </p:sp>
      <p:pic>
        <p:nvPicPr>
          <p:cNvPr id="10" name="Icon LuShieldCheck" descr="preencoded.png">    </p:cNvPr>
          <p:cNvPicPr>
            <a:picLocks noChangeAspect="1"/>
          </p:cNvPicPr>
          <p:nvPr/>
        </p:nvPicPr>
        <p:blipFill>
          <a:blip r:embed="rId2"/>
          <a:stretch>
            <a:fillRect/>
          </a:stretch>
        </p:blipFill>
        <p:spPr>
          <a:xfrm>
            <a:off x="7108088" y="1903781"/>
            <a:ext cx="307238" cy="307238"/>
          </a:xfrm>
          <a:prstGeom prst="rect">
            <a:avLst/>
          </a:prstGeom>
        </p:spPr>
      </p:pic>
      <p:sp>
        <p:nvSpPr>
          <p:cNvPr id="11" name="Text 7"/>
          <p:cNvSpPr txBox="1"/>
          <p:nvPr/>
        </p:nvSpPr>
        <p:spPr>
          <a:xfrm>
            <a:off x="4609948" y="173736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مقاومة الهلوسة</a:t>
            </a:r>
            <a:endParaRPr lang="ar-SA" sz="1700" dirty="0"/>
          </a:p>
        </p:txBody>
      </p:sp>
      <p:sp>
        <p:nvSpPr>
          <p:cNvPr id="12" name="Text 8"/>
          <p:cNvSpPr txBox="1"/>
          <p:nvPr/>
        </p:nvSpPr>
        <p:spPr>
          <a:xfrm>
            <a:off x="4609948" y="251460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لا يرى النموذج النص المتوقع، وعند الشك يعرض «غير مؤكد»</a:t>
            </a:r>
            <a:endParaRPr lang="ar-SA" sz="1400" dirty="0"/>
          </a:p>
        </p:txBody>
      </p:sp>
      <p:sp>
        <p:nvSpPr>
          <p:cNvPr id="13" name="Standard 3"/>
          <p:cNvSpPr/>
          <p:nvPr/>
        </p:nvSpPr>
        <p:spPr>
          <a:xfrm>
            <a:off x="548640" y="1463040"/>
            <a:ext cx="3520440" cy="2103120"/>
          </a:xfrm>
          <a:prstGeom prst="roundRect">
            <a:avLst>
              <a:gd name="adj" fmla="val 6087"/>
            </a:avLst>
          </a:prstGeom>
          <a:solidFill>
            <a:schemeClr val="bg2"/>
          </a:solidFill>
          <a:ln/>
        </p:spPr>
      </p:sp>
      <p:sp>
        <p:nvSpPr>
          <p:cNvPr id="14" name="Icon circle LuEye"/>
          <p:cNvSpPr/>
          <p:nvPr/>
        </p:nvSpPr>
        <p:spPr>
          <a:xfrm>
            <a:off x="3154680" y="1737360"/>
            <a:ext cx="640080" cy="640080"/>
          </a:xfrm>
          <a:prstGeom prst="ellipse">
            <a:avLst/>
          </a:prstGeom>
          <a:solidFill>
            <a:schemeClr val="accent1"/>
          </a:solidFill>
          <a:ln/>
        </p:spPr>
      </p:sp>
      <p:pic>
        <p:nvPicPr>
          <p:cNvPr id="15" name="Icon LuEye" descr="preencoded.png">    </p:cNvPr>
          <p:cNvPicPr>
            <a:picLocks noChangeAspect="1"/>
          </p:cNvPicPr>
          <p:nvPr/>
        </p:nvPicPr>
        <p:blipFill>
          <a:blip r:embed="rId3"/>
          <a:stretch>
            <a:fillRect/>
          </a:stretch>
        </p:blipFill>
        <p:spPr>
          <a:xfrm>
            <a:off x="3321101" y="1903781"/>
            <a:ext cx="307238" cy="307238"/>
          </a:xfrm>
          <a:prstGeom prst="rect">
            <a:avLst/>
          </a:prstGeom>
        </p:spPr>
      </p:pic>
      <p:sp>
        <p:nvSpPr>
          <p:cNvPr id="16" name="Text 11"/>
          <p:cNvSpPr txBox="1"/>
          <p:nvPr/>
        </p:nvSpPr>
        <p:spPr>
          <a:xfrm>
            <a:off x="822960" y="173736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الشفافية</a:t>
            </a:r>
            <a:endParaRPr lang="ar-SA" sz="1700" dirty="0"/>
          </a:p>
        </p:txBody>
      </p:sp>
      <p:sp>
        <p:nvSpPr>
          <p:cNvPr id="17" name="Text 12"/>
          <p:cNvSpPr txBox="1"/>
          <p:nvPr/>
        </p:nvSpPr>
        <p:spPr>
          <a:xfrm>
            <a:off x="822960" y="251460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تصرّح الواجهة بأنها أداة ذكاء اصطناعي للتدريب، لا معلّم</a:t>
            </a:r>
            <a:endParaRPr lang="ar-SA" sz="1400" dirty="0"/>
          </a:p>
        </p:txBody>
      </p:sp>
      <p:sp>
        <p:nvSpPr>
          <p:cNvPr id="18" name="Standard 4"/>
          <p:cNvSpPr/>
          <p:nvPr/>
        </p:nvSpPr>
        <p:spPr>
          <a:xfrm>
            <a:off x="8122615" y="3840480"/>
            <a:ext cx="3520440" cy="2103120"/>
          </a:xfrm>
          <a:prstGeom prst="roundRect">
            <a:avLst>
              <a:gd name="adj" fmla="val 6087"/>
            </a:avLst>
          </a:prstGeom>
          <a:solidFill>
            <a:schemeClr val="bg2"/>
          </a:solidFill>
          <a:ln/>
        </p:spPr>
      </p:sp>
      <p:sp>
        <p:nvSpPr>
          <p:cNvPr id="19" name="Icon circle LuGraduationCap"/>
          <p:cNvSpPr/>
          <p:nvPr/>
        </p:nvSpPr>
        <p:spPr>
          <a:xfrm>
            <a:off x="10728655" y="4114800"/>
            <a:ext cx="640080" cy="640080"/>
          </a:xfrm>
          <a:prstGeom prst="ellipse">
            <a:avLst/>
          </a:prstGeom>
          <a:solidFill>
            <a:schemeClr val="accent1"/>
          </a:solidFill>
          <a:ln/>
        </p:spPr>
      </p:sp>
      <p:pic>
        <p:nvPicPr>
          <p:cNvPr id="20" name="Icon LuGraduationCap" descr="preencoded.png">    </p:cNvPr>
          <p:cNvPicPr>
            <a:picLocks noChangeAspect="1"/>
          </p:cNvPicPr>
          <p:nvPr/>
        </p:nvPicPr>
        <p:blipFill>
          <a:blip r:embed="rId4"/>
          <a:stretch>
            <a:fillRect/>
          </a:stretch>
        </p:blipFill>
        <p:spPr>
          <a:xfrm>
            <a:off x="10895076" y="4281221"/>
            <a:ext cx="307238" cy="307238"/>
          </a:xfrm>
          <a:prstGeom prst="rect">
            <a:avLst/>
          </a:prstGeom>
        </p:spPr>
      </p:pic>
      <p:sp>
        <p:nvSpPr>
          <p:cNvPr id="21" name="Text 15"/>
          <p:cNvSpPr txBox="1"/>
          <p:nvPr/>
        </p:nvSpPr>
        <p:spPr>
          <a:xfrm>
            <a:off x="8396935" y="411480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عدم الاستقلال بالحكم</a:t>
            </a:r>
            <a:endParaRPr lang="ar-SA" sz="1700" dirty="0"/>
          </a:p>
        </p:txBody>
      </p:sp>
      <p:sp>
        <p:nvSpPr>
          <p:cNvPr id="22" name="Text 16"/>
          <p:cNvSpPr txBox="1"/>
          <p:nvPr/>
        </p:nvSpPr>
        <p:spPr>
          <a:xfrm>
            <a:off x="8396935" y="489204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لا يُجيز ولا يحكم؛ الكلمة الأخيرة للمعلّم المُجاز</a:t>
            </a:r>
            <a:endParaRPr lang="ar-SA" sz="1400" dirty="0"/>
          </a:p>
        </p:txBody>
      </p:sp>
      <p:sp>
        <p:nvSpPr>
          <p:cNvPr id="23" name="Standard 5"/>
          <p:cNvSpPr/>
          <p:nvPr/>
        </p:nvSpPr>
        <p:spPr>
          <a:xfrm>
            <a:off x="4335628" y="3840480"/>
            <a:ext cx="3520440" cy="2103120"/>
          </a:xfrm>
          <a:prstGeom prst="roundRect">
            <a:avLst>
              <a:gd name="adj" fmla="val 6087"/>
            </a:avLst>
          </a:prstGeom>
          <a:solidFill>
            <a:schemeClr val="bg2"/>
          </a:solidFill>
          <a:ln/>
        </p:spPr>
      </p:sp>
      <p:sp>
        <p:nvSpPr>
          <p:cNvPr id="24" name="Icon circle LuLock"/>
          <p:cNvSpPr/>
          <p:nvPr/>
        </p:nvSpPr>
        <p:spPr>
          <a:xfrm>
            <a:off x="6941668" y="4114800"/>
            <a:ext cx="640080" cy="640080"/>
          </a:xfrm>
          <a:prstGeom prst="ellipse">
            <a:avLst/>
          </a:prstGeom>
          <a:solidFill>
            <a:schemeClr val="accent1"/>
          </a:solidFill>
          <a:ln/>
        </p:spPr>
      </p:sp>
      <p:pic>
        <p:nvPicPr>
          <p:cNvPr id="25" name="Icon LuLock" descr="preencoded.png">    </p:cNvPr>
          <p:cNvPicPr>
            <a:picLocks noChangeAspect="1"/>
          </p:cNvPicPr>
          <p:nvPr/>
        </p:nvPicPr>
        <p:blipFill>
          <a:blip r:embed="rId5"/>
          <a:stretch>
            <a:fillRect/>
          </a:stretch>
        </p:blipFill>
        <p:spPr>
          <a:xfrm>
            <a:off x="7108088" y="4281221"/>
            <a:ext cx="307238" cy="307238"/>
          </a:xfrm>
          <a:prstGeom prst="rect">
            <a:avLst/>
          </a:prstGeom>
        </p:spPr>
      </p:pic>
      <p:sp>
        <p:nvSpPr>
          <p:cNvPr id="26" name="Text 19"/>
          <p:cNvSpPr txBox="1"/>
          <p:nvPr/>
        </p:nvSpPr>
        <p:spPr>
          <a:xfrm>
            <a:off x="4609948" y="411480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الخصوصية</a:t>
            </a:r>
            <a:endParaRPr lang="ar-SA" sz="1700" dirty="0"/>
          </a:p>
        </p:txBody>
      </p:sp>
      <p:sp>
        <p:nvSpPr>
          <p:cNvPr id="27" name="Text 20"/>
          <p:cNvSpPr txBox="1"/>
          <p:nvPr/>
        </p:nvSpPr>
        <p:spPr>
          <a:xfrm>
            <a:off x="4609948" y="489204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لا يُحفظ الصوت، والمعالجة على خادم المشروع</a:t>
            </a:r>
            <a:endParaRPr lang="ar-SA" sz="1400" dirty="0"/>
          </a:p>
        </p:txBody>
      </p:sp>
      <p:sp>
        <p:nvSpPr>
          <p:cNvPr id="28" name="Standard 6"/>
          <p:cNvSpPr/>
          <p:nvPr/>
        </p:nvSpPr>
        <p:spPr>
          <a:xfrm>
            <a:off x="548640" y="3840480"/>
            <a:ext cx="3520440" cy="2103120"/>
          </a:xfrm>
          <a:prstGeom prst="roundRect">
            <a:avLst>
              <a:gd name="adj" fmla="val 6087"/>
            </a:avLst>
          </a:prstGeom>
          <a:solidFill>
            <a:srgbClr val="FBF6EA"/>
          </a:solidFill>
          <a:ln/>
        </p:spPr>
      </p:sp>
      <p:sp>
        <p:nvSpPr>
          <p:cNvPr id="29" name="Icon circle LuHourglass"/>
          <p:cNvSpPr/>
          <p:nvPr/>
        </p:nvSpPr>
        <p:spPr>
          <a:xfrm>
            <a:off x="3154680" y="4114800"/>
            <a:ext cx="640080" cy="640080"/>
          </a:xfrm>
          <a:prstGeom prst="ellipse">
            <a:avLst/>
          </a:prstGeom>
          <a:solidFill>
            <a:schemeClr val="accent2"/>
          </a:solidFill>
          <a:ln/>
        </p:spPr>
      </p:sp>
      <p:pic>
        <p:nvPicPr>
          <p:cNvPr id="30" name="Icon LuHourglass" descr="preencoded.png">    </p:cNvPr>
          <p:cNvPicPr>
            <a:picLocks noChangeAspect="1"/>
          </p:cNvPicPr>
          <p:nvPr/>
        </p:nvPicPr>
        <p:blipFill>
          <a:blip r:embed="rId6"/>
          <a:stretch>
            <a:fillRect/>
          </a:stretch>
        </p:blipFill>
        <p:spPr>
          <a:xfrm>
            <a:off x="3321101" y="4281221"/>
            <a:ext cx="307238" cy="307238"/>
          </a:xfrm>
          <a:prstGeom prst="rect">
            <a:avLst/>
          </a:prstGeom>
        </p:spPr>
      </p:pic>
      <p:sp>
        <p:nvSpPr>
          <p:cNvPr id="31" name="Text 23"/>
          <p:cNvSpPr txBox="1"/>
          <p:nvPr/>
        </p:nvSpPr>
        <p:spPr>
          <a:xfrm>
            <a:off x="822960" y="4114800"/>
            <a:ext cx="2103120" cy="685800"/>
          </a:xfrm>
          <a:prstGeom prst="rect">
            <a:avLst/>
          </a:prstGeom>
          <a:noFill/>
          <a:ln/>
        </p:spPr>
        <p:txBody>
          <a:bodyPr wrap="square" lIns="0" tIns="0" rIns="0" bIns="0" rtlCol="0" anchor="ctr"/>
          <a:lstStyle/>
          <a:p>
            <a:pPr rtl="1" algn="r" indent="0" marL="0">
              <a:buNone/>
            </a:pPr>
            <a:r>
              <a:rPr lang="ar-SA" altLang="en-US" sz="1700" b="1" dirty="0">
                <a:solidFill>
                  <a:schemeClr val="tx2"/>
                </a:solidFill>
                <a:latin typeface="IBM Plex Sans Arabic" pitchFamily="34" charset="0"/>
                <a:ea typeface="IBM Plex Sans Arabic" pitchFamily="34" charset="-122"/>
                <a:cs typeface="IBM Plex Sans Arabic" pitchFamily="34" charset="-120"/>
              </a:rPr>
              <a:t>قيد التنفيذ: مصادر التفسير</a:t>
            </a:r>
            <a:endParaRPr lang="ar-SA" sz="1700" dirty="0"/>
          </a:p>
        </p:txBody>
      </p:sp>
      <p:sp>
        <p:nvSpPr>
          <p:cNvPr id="32" name="Text 24"/>
          <p:cNvSpPr txBox="1"/>
          <p:nvPr/>
        </p:nvSpPr>
        <p:spPr>
          <a:xfrm>
            <a:off x="822960" y="4892040"/>
            <a:ext cx="2971800" cy="914400"/>
          </a:xfrm>
          <a:prstGeom prst="rect">
            <a:avLst/>
          </a:prstGeom>
          <a:noFill/>
          <a:ln/>
        </p:spPr>
        <p:txBody>
          <a:bodyPr wrap="square" lIns="0" tIns="0" rIns="0" bIns="0" rtlCol="0" anchor="t"/>
          <a:lstStyle/>
          <a:p>
            <a:pPr rtl="1" algn="r" indent="0" marL="0">
              <a:lnSpc>
                <a:spcPct val="110000"/>
              </a:lnSpc>
              <a:buNone/>
            </a:pPr>
            <a:r>
              <a:rPr lang="ar-SA" altLang="en-US" sz="1400" dirty="0">
                <a:solidFill>
                  <a:schemeClr val="tx1"/>
                </a:solidFill>
                <a:latin typeface="IBM Plex Sans Arabic" pitchFamily="34" charset="0"/>
                <a:ea typeface="IBM Plex Sans Arabic" pitchFamily="34" charset="-122"/>
                <a:cs typeface="IBM Plex Sans Arabic" pitchFamily="34" charset="-120"/>
              </a:rPr>
              <a:t>ننقلهما من api.quran-tafseer.com إلى quranenc.com المعتمدة</a:t>
            </a:r>
            <a:endParaRPr lang="ar-SA" sz="14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868680"/>
          </a:xfrm>
          <a:prstGeom prst="rect">
            <a:avLst/>
          </a:prstGeom>
          <a:noFill/>
          <a:ln/>
        </p:spPr>
        <p:txBody>
          <a:bodyPr wrap="square" lIns="0" tIns="0" rIns="0" bIns="0" rtlCol="0" anchor="ctr"/>
          <a:lstStyle/>
          <a:p>
            <a:pPr rtl="1" algn="r" indent="0" marL="0">
              <a:buNone/>
            </a:pPr>
            <a:r>
              <a:rPr lang="ar-SA" altLang="en-US" sz="3600" b="1" dirty="0">
                <a:solidFill>
                  <a:schemeClr val="tx2"/>
                </a:solidFill>
                <a:latin typeface="Amiri" pitchFamily="34" charset="0"/>
                <a:ea typeface="Amiri" pitchFamily="34" charset="-122"/>
                <a:cs typeface="Amiri" pitchFamily="34" charset="-120"/>
              </a:rPr>
              <a:t>ما لا ندّعيه، وما نعمل عليه</a:t>
            </a:r>
            <a:endParaRPr lang="ar-SA" sz="3600" dirty="0"/>
          </a:p>
        </p:txBody>
      </p:sp>
      <p:sp>
        <p:nvSpPr>
          <p:cNvPr id="3" name="Limits card"/>
          <p:cNvSpPr/>
          <p:nvPr/>
        </p:nvSpPr>
        <p:spPr>
          <a:xfrm>
            <a:off x="6355080" y="1463040"/>
            <a:ext cx="5287975" cy="4572000"/>
          </a:xfrm>
          <a:prstGeom prst="roundRect">
            <a:avLst>
              <a:gd name="adj" fmla="val 2800"/>
            </a:avLst>
          </a:prstGeom>
          <a:solidFill>
            <a:schemeClr val="bg1"/>
          </a:solidFill>
          <a:ln/>
        </p:spPr>
      </p:sp>
      <p:sp>
        <p:nvSpPr>
          <p:cNvPr id="4" name="Text 2"/>
          <p:cNvSpPr txBox="1"/>
          <p:nvPr/>
        </p:nvSpPr>
        <p:spPr>
          <a:xfrm>
            <a:off x="6675120" y="1691640"/>
            <a:ext cx="4647895" cy="457200"/>
          </a:xfrm>
          <a:prstGeom prst="rect">
            <a:avLst/>
          </a:prstGeom>
          <a:noFill/>
          <a:ln/>
        </p:spPr>
        <p:txBody>
          <a:bodyPr wrap="square" lIns="0" tIns="0" rIns="0" bIns="0" rtlCol="0" anchor="t"/>
          <a:lstStyle/>
          <a:p>
            <a:pPr rtl="1" algn="r" indent="0" marL="0">
              <a:buNone/>
            </a:pPr>
            <a:r>
              <a:rPr lang="ar-SA" altLang="en-US" sz="2000" b="1" dirty="0">
                <a:solidFill>
                  <a:schemeClr val="accent3"/>
                </a:solidFill>
                <a:latin typeface="IBM Plex Sans Arabic" pitchFamily="34" charset="0"/>
                <a:ea typeface="IBM Plex Sans Arabic" pitchFamily="34" charset="-122"/>
                <a:cs typeface="IBM Plex Sans Arabic" pitchFamily="34" charset="-120"/>
              </a:rPr>
              <a:t>حدود الإصدار الحالي</a:t>
            </a:r>
            <a:endParaRPr lang="ar-SA" sz="2000" dirty="0"/>
          </a:p>
        </p:txBody>
      </p:sp>
      <p:sp>
        <p:nvSpPr>
          <p:cNvPr id="5" name="Limit dot 1"/>
          <p:cNvSpPr/>
          <p:nvPr/>
        </p:nvSpPr>
        <p:spPr>
          <a:xfrm>
            <a:off x="11176711" y="2487168"/>
            <a:ext cx="146304" cy="146304"/>
          </a:xfrm>
          <a:prstGeom prst="ellipse">
            <a:avLst/>
          </a:prstGeom>
          <a:solidFill>
            <a:schemeClr val="accent3"/>
          </a:solidFill>
          <a:ln/>
        </p:spPr>
      </p:sp>
      <p:sp>
        <p:nvSpPr>
          <p:cNvPr id="6" name="Text 4"/>
          <p:cNvSpPr txBox="1"/>
          <p:nvPr/>
        </p:nvSpPr>
        <p:spPr>
          <a:xfrm>
            <a:off x="6675120" y="2331720"/>
            <a:ext cx="4419295" cy="777240"/>
          </a:xfrm>
          <a:prstGeom prst="rect">
            <a:avLst/>
          </a:prstGeom>
          <a:noFill/>
          <a:ln/>
        </p:spPr>
        <p:txBody>
          <a:bodyPr wrap="square" lIns="0" tIns="0" rIns="0" bIns="0" rtlCol="0" anchor="t"/>
          <a:lstStyle/>
          <a:p>
            <a:pPr rtl="1" algn="r" indent="0" marL="0">
              <a:lnSpc>
                <a:spcPct val="110000"/>
              </a:lnSpc>
              <a:buNone/>
            </a:pPr>
            <a:r>
              <a:rPr lang="ar-SA" altLang="en-US" sz="1550" dirty="0">
                <a:solidFill>
                  <a:schemeClr val="tx1"/>
                </a:solidFill>
                <a:latin typeface="IBM Plex Sans Arabic" pitchFamily="34" charset="0"/>
                <a:ea typeface="IBM Plex Sans Arabic" pitchFamily="34" charset="-122"/>
                <a:cs typeface="IBM Plex Sans Arabic" pitchFamily="34" charset="-120"/>
              </a:rPr>
              <a:t>لا يُجيز ولا يحكم على التلاوة؛ الكلمة الأخيرة للمعلّم المُجاز</a:t>
            </a:r>
            <a:endParaRPr lang="ar-SA" sz="1550" dirty="0"/>
          </a:p>
        </p:txBody>
      </p:sp>
      <p:sp>
        <p:nvSpPr>
          <p:cNvPr id="7" name="Limit dot 2"/>
          <p:cNvSpPr/>
          <p:nvPr/>
        </p:nvSpPr>
        <p:spPr>
          <a:xfrm>
            <a:off x="11176711" y="3355848"/>
            <a:ext cx="146304" cy="146304"/>
          </a:xfrm>
          <a:prstGeom prst="ellipse">
            <a:avLst/>
          </a:prstGeom>
          <a:solidFill>
            <a:schemeClr val="accent3"/>
          </a:solidFill>
          <a:ln/>
        </p:spPr>
      </p:sp>
      <p:sp>
        <p:nvSpPr>
          <p:cNvPr id="8" name="Text 6"/>
          <p:cNvSpPr txBox="1"/>
          <p:nvPr/>
        </p:nvSpPr>
        <p:spPr>
          <a:xfrm>
            <a:off x="6675120" y="3200400"/>
            <a:ext cx="4419295" cy="777240"/>
          </a:xfrm>
          <a:prstGeom prst="rect">
            <a:avLst/>
          </a:prstGeom>
          <a:noFill/>
          <a:ln/>
        </p:spPr>
        <p:txBody>
          <a:bodyPr wrap="square" lIns="0" tIns="0" rIns="0" bIns="0" rtlCol="0" anchor="t"/>
          <a:lstStyle/>
          <a:p>
            <a:pPr rtl="1" algn="r" indent="0" marL="0">
              <a:lnSpc>
                <a:spcPct val="110000"/>
              </a:lnSpc>
              <a:buNone/>
            </a:pPr>
            <a:r>
              <a:rPr lang="ar-SA" altLang="en-US" sz="1550" dirty="0">
                <a:solidFill>
                  <a:schemeClr val="tx1"/>
                </a:solidFill>
                <a:latin typeface="IBM Plex Sans Arabic" pitchFamily="34" charset="0"/>
                <a:ea typeface="IBM Plex Sans Arabic" pitchFamily="34" charset="-122"/>
                <a:cs typeface="IBM Plex Sans Arabic" pitchFamily="34" charset="-120"/>
              </a:rPr>
              <a:t>التعرّف على الفاتحة وجزء عمّ (38 سورة)، وبقية السور للاسترشاد</a:t>
            </a:r>
            <a:endParaRPr lang="ar-SA" sz="1550" dirty="0"/>
          </a:p>
        </p:txBody>
      </p:sp>
      <p:sp>
        <p:nvSpPr>
          <p:cNvPr id="9" name="Limit dot 3"/>
          <p:cNvSpPr/>
          <p:nvPr/>
        </p:nvSpPr>
        <p:spPr>
          <a:xfrm>
            <a:off x="11176711" y="4224528"/>
            <a:ext cx="146304" cy="146304"/>
          </a:xfrm>
          <a:prstGeom prst="ellipse">
            <a:avLst/>
          </a:prstGeom>
          <a:solidFill>
            <a:schemeClr val="accent3"/>
          </a:solidFill>
          <a:ln/>
        </p:spPr>
      </p:sp>
      <p:sp>
        <p:nvSpPr>
          <p:cNvPr id="10" name="Text 8"/>
          <p:cNvSpPr txBox="1"/>
          <p:nvPr/>
        </p:nvSpPr>
        <p:spPr>
          <a:xfrm>
            <a:off x="6675120" y="4069080"/>
            <a:ext cx="4419295" cy="777240"/>
          </a:xfrm>
          <a:prstGeom prst="rect">
            <a:avLst/>
          </a:prstGeom>
          <a:noFill/>
          <a:ln/>
        </p:spPr>
        <p:txBody>
          <a:bodyPr wrap="square" lIns="0" tIns="0" rIns="0" bIns="0" rtlCol="0" anchor="t"/>
          <a:lstStyle/>
          <a:p>
            <a:pPr rtl="1" algn="r" indent="0" marL="0">
              <a:lnSpc>
                <a:spcPct val="110000"/>
              </a:lnSpc>
              <a:buNone/>
            </a:pPr>
            <a:r>
              <a:rPr lang="ar-SA" altLang="en-US" sz="1550" dirty="0">
                <a:solidFill>
                  <a:schemeClr val="tx1"/>
                </a:solidFill>
                <a:latin typeface="IBM Plex Sans Arabic" pitchFamily="34" charset="0"/>
                <a:ea typeface="IBM Plex Sans Arabic" pitchFamily="34" charset="-122"/>
                <a:cs typeface="IBM Plex Sans Arabic" pitchFamily="34" charset="-120"/>
              </a:rPr>
              <a:t>اختُبر على قرّاء محترفين، ولم يُختبر بعد على متعلّمين</a:t>
            </a:r>
            <a:endParaRPr lang="ar-SA" sz="1550" dirty="0"/>
          </a:p>
        </p:txBody>
      </p:sp>
      <p:sp>
        <p:nvSpPr>
          <p:cNvPr id="11" name="Limit dot 4"/>
          <p:cNvSpPr/>
          <p:nvPr/>
        </p:nvSpPr>
        <p:spPr>
          <a:xfrm>
            <a:off x="11176711" y="5093208"/>
            <a:ext cx="146304" cy="146304"/>
          </a:xfrm>
          <a:prstGeom prst="ellipse">
            <a:avLst/>
          </a:prstGeom>
          <a:solidFill>
            <a:schemeClr val="accent3"/>
          </a:solidFill>
          <a:ln/>
        </p:spPr>
      </p:sp>
      <p:sp>
        <p:nvSpPr>
          <p:cNvPr id="12" name="Text 10"/>
          <p:cNvSpPr txBox="1"/>
          <p:nvPr/>
        </p:nvSpPr>
        <p:spPr>
          <a:xfrm>
            <a:off x="6675120" y="4937760"/>
            <a:ext cx="4419295" cy="777240"/>
          </a:xfrm>
          <a:prstGeom prst="rect">
            <a:avLst/>
          </a:prstGeom>
          <a:noFill/>
          <a:ln/>
        </p:spPr>
        <p:txBody>
          <a:bodyPr wrap="square" lIns="0" tIns="0" rIns="0" bIns="0" rtlCol="0" anchor="t"/>
          <a:lstStyle/>
          <a:p>
            <a:pPr rtl="1" algn="r" indent="0" marL="0">
              <a:lnSpc>
                <a:spcPct val="110000"/>
              </a:lnSpc>
              <a:buNone/>
            </a:pPr>
            <a:r>
              <a:rPr lang="ar-SA" altLang="en-US" sz="1550" dirty="0">
                <a:solidFill>
                  <a:schemeClr val="tx1"/>
                </a:solidFill>
                <a:latin typeface="IBM Plex Sans Arabic" pitchFamily="34" charset="0"/>
                <a:ea typeface="IBM Plex Sans Arabic" pitchFamily="34" charset="-122"/>
                <a:cs typeface="IBM Plex Sans Arabic" pitchFamily="34" charset="-120"/>
              </a:rPr>
              <a:t>نموذج التجويد لم يسمع أخطاء حقيقية بعد، فغياب العلامة يعني «لم يُسمع»</a:t>
            </a:r>
            <a:endParaRPr lang="ar-SA" sz="1550" dirty="0"/>
          </a:p>
        </p:txBody>
      </p:sp>
      <p:sp>
        <p:nvSpPr>
          <p:cNvPr id="13" name="Text 11"/>
          <p:cNvSpPr txBox="1"/>
          <p:nvPr/>
        </p:nvSpPr>
        <p:spPr>
          <a:xfrm>
            <a:off x="548640" y="1691640"/>
            <a:ext cx="5394960" cy="457200"/>
          </a:xfrm>
          <a:prstGeom prst="rect">
            <a:avLst/>
          </a:prstGeom>
          <a:noFill/>
          <a:ln/>
        </p:spPr>
        <p:txBody>
          <a:bodyPr wrap="square" lIns="0" tIns="0" rIns="0" bIns="0" rtlCol="0" anchor="t"/>
          <a:lstStyle/>
          <a:p>
            <a:pPr rtl="1" algn="r" indent="0" marL="0">
              <a:buNone/>
            </a:pPr>
            <a:r>
              <a:rPr lang="ar-SA" altLang="en-US" sz="2000" b="1" dirty="0">
                <a:solidFill>
                  <a:schemeClr val="accent1"/>
                </a:solidFill>
                <a:latin typeface="IBM Plex Sans Arabic" pitchFamily="34" charset="0"/>
                <a:ea typeface="IBM Plex Sans Arabic" pitchFamily="34" charset="-122"/>
                <a:cs typeface="IBM Plex Sans Arabic" pitchFamily="34" charset="-120"/>
              </a:rPr>
              <a:t>الخطوات التالية</a:t>
            </a:r>
            <a:endParaRPr lang="ar-SA" sz="2000" dirty="0"/>
          </a:p>
        </p:txBody>
      </p:sp>
      <p:sp>
        <p:nvSpPr>
          <p:cNvPr id="14" name="Medallion ١"/>
          <p:cNvSpPr/>
          <p:nvPr/>
        </p:nvSpPr>
        <p:spPr>
          <a:xfrm>
            <a:off x="5285232" y="2331720"/>
            <a:ext cx="658368" cy="658368"/>
          </a:xfrm>
          <a:prstGeom prst="ellipse">
            <a:avLst/>
          </a:prstGeom>
          <a:solidFill>
            <a:schemeClr val="bg1"/>
          </a:solidFill>
          <a:ln w="25400">
            <a:solidFill>
              <a:schemeClr val="accent2"/>
            </a:solidFill>
            <a:prstDash val="solid"/>
          </a:ln>
        </p:spPr>
      </p:sp>
      <p:sp>
        <p:nvSpPr>
          <p:cNvPr id="15" name="Text 13"/>
          <p:cNvSpPr txBox="1"/>
          <p:nvPr/>
        </p:nvSpPr>
        <p:spPr>
          <a:xfrm>
            <a:off x="5285232" y="2331720"/>
            <a:ext cx="658368" cy="658368"/>
          </a:xfrm>
          <a:prstGeom prst="rect">
            <a:avLst/>
          </a:prstGeom>
          <a:noFill/>
          <a:ln/>
        </p:spPr>
        <p:txBody>
          <a:bodyPr wrap="square" lIns="0" tIns="0" rIns="0" bIns="0" rtlCol="0" anchor="ctr"/>
          <a:lstStyle/>
          <a:p>
            <a:pPr rtl="1" algn="ctr" indent="0" marL="0">
              <a:buNone/>
            </a:pPr>
            <a:r>
              <a:rPr lang="ar-SA" altLang="en-US" sz="1900" b="1" dirty="0">
                <a:solidFill>
                  <a:schemeClr val="accent2"/>
                </a:solidFill>
                <a:latin typeface="Amiri" pitchFamily="34" charset="0"/>
                <a:ea typeface="Amiri" pitchFamily="34" charset="-122"/>
                <a:cs typeface="Amiri" pitchFamily="34" charset="-120"/>
              </a:rPr>
              <a:t>١</a:t>
            </a:r>
            <a:endParaRPr lang="ar-SA" sz="1900" dirty="0"/>
          </a:p>
        </p:txBody>
      </p:sp>
      <p:sp>
        <p:nvSpPr>
          <p:cNvPr id="16" name="Text 14"/>
          <p:cNvSpPr txBox="1"/>
          <p:nvPr/>
        </p:nvSpPr>
        <p:spPr>
          <a:xfrm>
            <a:off x="548640" y="2331720"/>
            <a:ext cx="4526280" cy="658368"/>
          </a:xfrm>
          <a:prstGeom prst="rect">
            <a:avLst/>
          </a:prstGeom>
          <a:noFill/>
          <a:ln/>
        </p:spPr>
        <p:txBody>
          <a:bodyPr wrap="square" lIns="0" tIns="0" rIns="0" bIns="0" rtlCol="0" anchor="ctr"/>
          <a:lstStyle/>
          <a:p>
            <a:pPr rtl="1" algn="r" indent="0" marL="0">
              <a:buNone/>
            </a:pPr>
            <a:r>
              <a:rPr lang="ar-SA" altLang="en-US" sz="1550" dirty="0">
                <a:solidFill>
                  <a:schemeClr val="tx1"/>
                </a:solidFill>
                <a:latin typeface="IBM Plex Sans Arabic" pitchFamily="34" charset="0"/>
                <a:ea typeface="IBM Plex Sans Arabic" pitchFamily="34" charset="-122"/>
                <a:cs typeface="IBM Plex Sans Arabic" pitchFamily="34" charset="-120"/>
              </a:rPr>
              <a:t>مراجعة معلّم مُجاز في قالون لألوان التجويد واعتمادها</a:t>
            </a:r>
            <a:endParaRPr lang="ar-SA" sz="1550" dirty="0"/>
          </a:p>
        </p:txBody>
      </p:sp>
      <p:sp>
        <p:nvSpPr>
          <p:cNvPr id="17" name="Medallion ٢"/>
          <p:cNvSpPr/>
          <p:nvPr/>
        </p:nvSpPr>
        <p:spPr>
          <a:xfrm>
            <a:off x="5285232" y="3246120"/>
            <a:ext cx="658368" cy="658368"/>
          </a:xfrm>
          <a:prstGeom prst="ellipse">
            <a:avLst/>
          </a:prstGeom>
          <a:solidFill>
            <a:schemeClr val="bg1"/>
          </a:solidFill>
          <a:ln w="25400">
            <a:solidFill>
              <a:schemeClr val="accent2"/>
            </a:solidFill>
            <a:prstDash val="solid"/>
          </a:ln>
        </p:spPr>
      </p:sp>
      <p:sp>
        <p:nvSpPr>
          <p:cNvPr id="18" name="Text 16"/>
          <p:cNvSpPr txBox="1"/>
          <p:nvPr/>
        </p:nvSpPr>
        <p:spPr>
          <a:xfrm>
            <a:off x="5285232" y="3246120"/>
            <a:ext cx="658368" cy="658368"/>
          </a:xfrm>
          <a:prstGeom prst="rect">
            <a:avLst/>
          </a:prstGeom>
          <a:noFill/>
          <a:ln/>
        </p:spPr>
        <p:txBody>
          <a:bodyPr wrap="square" lIns="0" tIns="0" rIns="0" bIns="0" rtlCol="0" anchor="ctr"/>
          <a:lstStyle/>
          <a:p>
            <a:pPr rtl="1" algn="ctr" indent="0" marL="0">
              <a:buNone/>
            </a:pPr>
            <a:r>
              <a:rPr lang="ar-SA" altLang="en-US" sz="1900" b="1" dirty="0">
                <a:solidFill>
                  <a:schemeClr val="accent2"/>
                </a:solidFill>
                <a:latin typeface="Amiri" pitchFamily="34" charset="0"/>
                <a:ea typeface="Amiri" pitchFamily="34" charset="-122"/>
                <a:cs typeface="Amiri" pitchFamily="34" charset="-120"/>
              </a:rPr>
              <a:t>٢</a:t>
            </a:r>
            <a:endParaRPr lang="ar-SA" sz="1900" dirty="0"/>
          </a:p>
        </p:txBody>
      </p:sp>
      <p:sp>
        <p:nvSpPr>
          <p:cNvPr id="19" name="Text 17"/>
          <p:cNvSpPr txBox="1"/>
          <p:nvPr/>
        </p:nvSpPr>
        <p:spPr>
          <a:xfrm>
            <a:off x="548640" y="3246120"/>
            <a:ext cx="4526280" cy="658368"/>
          </a:xfrm>
          <a:prstGeom prst="rect">
            <a:avLst/>
          </a:prstGeom>
          <a:noFill/>
          <a:ln/>
        </p:spPr>
        <p:txBody>
          <a:bodyPr wrap="square" lIns="0" tIns="0" rIns="0" bIns="0" rtlCol="0" anchor="ctr"/>
          <a:lstStyle/>
          <a:p>
            <a:pPr rtl="1" algn="r" indent="0" marL="0">
              <a:buNone/>
            </a:pPr>
            <a:r>
              <a:rPr lang="ar-SA" altLang="en-US" sz="1550" dirty="0">
                <a:solidFill>
                  <a:schemeClr val="tx1"/>
                </a:solidFill>
                <a:latin typeface="IBM Plex Sans Arabic" pitchFamily="34" charset="0"/>
                <a:ea typeface="IBM Plex Sans Arabic" pitchFamily="34" charset="-122"/>
                <a:cs typeface="IBM Plex Sans Arabic" pitchFamily="34" charset="-120"/>
              </a:rPr>
              <a:t>تسجيل 20 إلى 30 متعلّماً بموافقتهم لقياس الدقة على المبتدئين</a:t>
            </a:r>
            <a:endParaRPr lang="ar-SA" sz="1550" dirty="0"/>
          </a:p>
        </p:txBody>
      </p:sp>
      <p:sp>
        <p:nvSpPr>
          <p:cNvPr id="20" name="Medallion ٣"/>
          <p:cNvSpPr/>
          <p:nvPr/>
        </p:nvSpPr>
        <p:spPr>
          <a:xfrm>
            <a:off x="5285232" y="4160520"/>
            <a:ext cx="658368" cy="658368"/>
          </a:xfrm>
          <a:prstGeom prst="ellipse">
            <a:avLst/>
          </a:prstGeom>
          <a:solidFill>
            <a:schemeClr val="bg1"/>
          </a:solidFill>
          <a:ln w="25400">
            <a:solidFill>
              <a:schemeClr val="accent2"/>
            </a:solidFill>
            <a:prstDash val="solid"/>
          </a:ln>
        </p:spPr>
      </p:sp>
      <p:sp>
        <p:nvSpPr>
          <p:cNvPr id="21" name="Text 19"/>
          <p:cNvSpPr txBox="1"/>
          <p:nvPr/>
        </p:nvSpPr>
        <p:spPr>
          <a:xfrm>
            <a:off x="5285232" y="4160520"/>
            <a:ext cx="658368" cy="658368"/>
          </a:xfrm>
          <a:prstGeom prst="rect">
            <a:avLst/>
          </a:prstGeom>
          <a:noFill/>
          <a:ln/>
        </p:spPr>
        <p:txBody>
          <a:bodyPr wrap="square" lIns="0" tIns="0" rIns="0" bIns="0" rtlCol="0" anchor="ctr"/>
          <a:lstStyle/>
          <a:p>
            <a:pPr rtl="1" algn="ctr" indent="0" marL="0">
              <a:buNone/>
            </a:pPr>
            <a:r>
              <a:rPr lang="ar-SA" altLang="en-US" sz="1900" b="1" dirty="0">
                <a:solidFill>
                  <a:schemeClr val="accent2"/>
                </a:solidFill>
                <a:latin typeface="Amiri" pitchFamily="34" charset="0"/>
                <a:ea typeface="Amiri" pitchFamily="34" charset="-122"/>
                <a:cs typeface="Amiri" pitchFamily="34" charset="-120"/>
              </a:rPr>
              <a:t>٣</a:t>
            </a:r>
            <a:endParaRPr lang="ar-SA" sz="1900" dirty="0"/>
          </a:p>
        </p:txBody>
      </p:sp>
      <p:sp>
        <p:nvSpPr>
          <p:cNvPr id="22" name="Text 20"/>
          <p:cNvSpPr txBox="1"/>
          <p:nvPr/>
        </p:nvSpPr>
        <p:spPr>
          <a:xfrm>
            <a:off x="548640" y="4160520"/>
            <a:ext cx="4526280" cy="658368"/>
          </a:xfrm>
          <a:prstGeom prst="rect">
            <a:avLst/>
          </a:prstGeom>
          <a:noFill/>
          <a:ln/>
        </p:spPr>
        <p:txBody>
          <a:bodyPr wrap="square" lIns="0" tIns="0" rIns="0" bIns="0" rtlCol="0" anchor="ctr"/>
          <a:lstStyle/>
          <a:p>
            <a:pPr rtl="1" algn="r" indent="0" marL="0">
              <a:buNone/>
            </a:pPr>
            <a:r>
              <a:rPr lang="ar-SA" altLang="en-US" sz="1550" dirty="0">
                <a:solidFill>
                  <a:schemeClr val="tx1"/>
                </a:solidFill>
                <a:latin typeface="IBM Plex Sans Arabic" pitchFamily="34" charset="0"/>
                <a:ea typeface="IBM Plex Sans Arabic" pitchFamily="34" charset="-122"/>
                <a:cs typeface="IBM Plex Sans Arabic" pitchFamily="34" charset="-120"/>
              </a:rPr>
              <a:t>أمثلة أخطاء حقيقية لنموذج التجويد: نمط حفص وقصر المد</a:t>
            </a:r>
            <a:endParaRPr lang="ar-SA" sz="1550" dirty="0"/>
          </a:p>
        </p:txBody>
      </p:sp>
      <p:sp>
        <p:nvSpPr>
          <p:cNvPr id="23" name="Medallion ٤"/>
          <p:cNvSpPr/>
          <p:nvPr/>
        </p:nvSpPr>
        <p:spPr>
          <a:xfrm>
            <a:off x="5285232" y="5074920"/>
            <a:ext cx="658368" cy="658368"/>
          </a:xfrm>
          <a:prstGeom prst="ellipse">
            <a:avLst/>
          </a:prstGeom>
          <a:solidFill>
            <a:schemeClr val="bg1"/>
          </a:solidFill>
          <a:ln w="25400">
            <a:solidFill>
              <a:schemeClr val="accent2"/>
            </a:solidFill>
            <a:prstDash val="solid"/>
          </a:ln>
        </p:spPr>
      </p:sp>
      <p:sp>
        <p:nvSpPr>
          <p:cNvPr id="24" name="Text 22"/>
          <p:cNvSpPr txBox="1"/>
          <p:nvPr/>
        </p:nvSpPr>
        <p:spPr>
          <a:xfrm>
            <a:off x="5285232" y="5074920"/>
            <a:ext cx="658368" cy="658368"/>
          </a:xfrm>
          <a:prstGeom prst="rect">
            <a:avLst/>
          </a:prstGeom>
          <a:noFill/>
          <a:ln/>
        </p:spPr>
        <p:txBody>
          <a:bodyPr wrap="square" lIns="0" tIns="0" rIns="0" bIns="0" rtlCol="0" anchor="ctr"/>
          <a:lstStyle/>
          <a:p>
            <a:pPr rtl="1" algn="ctr" indent="0" marL="0">
              <a:buNone/>
            </a:pPr>
            <a:r>
              <a:rPr lang="ar-SA" altLang="en-US" sz="1900" b="1" dirty="0">
                <a:solidFill>
                  <a:schemeClr val="accent2"/>
                </a:solidFill>
                <a:latin typeface="Amiri" pitchFamily="34" charset="0"/>
                <a:ea typeface="Amiri" pitchFamily="34" charset="-122"/>
                <a:cs typeface="Amiri" pitchFamily="34" charset="-120"/>
              </a:rPr>
              <a:t>٤</a:t>
            </a:r>
            <a:endParaRPr lang="ar-SA" sz="1900" dirty="0"/>
          </a:p>
        </p:txBody>
      </p:sp>
      <p:sp>
        <p:nvSpPr>
          <p:cNvPr id="25" name="Text 23"/>
          <p:cNvSpPr txBox="1"/>
          <p:nvPr/>
        </p:nvSpPr>
        <p:spPr>
          <a:xfrm>
            <a:off x="548640" y="5074920"/>
            <a:ext cx="4526280" cy="658368"/>
          </a:xfrm>
          <a:prstGeom prst="rect">
            <a:avLst/>
          </a:prstGeom>
          <a:noFill/>
          <a:ln/>
        </p:spPr>
        <p:txBody>
          <a:bodyPr wrap="square" lIns="0" tIns="0" rIns="0" bIns="0" rtlCol="0" anchor="ctr"/>
          <a:lstStyle/>
          <a:p>
            <a:pPr rtl="1" algn="r" indent="0" marL="0">
              <a:buNone/>
            </a:pPr>
            <a:r>
              <a:rPr lang="ar-SA" altLang="en-US" sz="1550" dirty="0">
                <a:solidFill>
                  <a:schemeClr val="tx1"/>
                </a:solidFill>
                <a:latin typeface="IBM Plex Sans Arabic" pitchFamily="34" charset="0"/>
                <a:ea typeface="IBM Plex Sans Arabic" pitchFamily="34" charset="-122"/>
                <a:cs typeface="IBM Plex Sans Arabic" pitchFamily="34" charset="-120"/>
              </a:rPr>
              <a:t>القرآن كاملاً، وترجمات معتمدة من quranenc.com</a:t>
            </a:r>
            <a:endParaRPr lang="ar-SA" sz="155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D8A80"/>
                </a:solidFill>
                <a:latin typeface="IBM Plex Sans Arabic"/>
                <a:ea typeface="IBM Plex Sans Arabic"/>
                <a:cs typeface="IBM Plex Sans Arabic"/>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640080"/>
            <a:ext cx="11094415" cy="1645920"/>
          </a:xfrm>
          <a:prstGeom prst="rect">
            <a:avLst/>
          </a:prstGeom>
          <a:noFill/>
          <a:ln/>
        </p:spPr>
        <p:txBody>
          <a:bodyPr wrap="square" lIns="0" tIns="0" rIns="0" bIns="0" rtlCol="0" anchor="ctr"/>
          <a:lstStyle/>
          <a:p>
            <a:pPr rtl="1" algn="ctr" indent="0" marL="0">
              <a:buNone/>
            </a:pPr>
            <a:r>
              <a:rPr lang="ar-SA" altLang="en-US" sz="8800" b="1" dirty="0">
                <a:solidFill>
                  <a:schemeClr val="bg1"/>
                </a:solidFill>
                <a:latin typeface="Amiri" pitchFamily="34" charset="0"/>
                <a:ea typeface="Amiri" pitchFamily="34" charset="-122"/>
                <a:cs typeface="Amiri" pitchFamily="34" charset="-120"/>
              </a:rPr>
              <a:t>رَتِّل</a:t>
            </a:r>
            <a:endParaRPr lang="ar-SA" sz="8800" dirty="0"/>
          </a:p>
        </p:txBody>
      </p:sp>
      <p:sp>
        <p:nvSpPr>
          <p:cNvPr id="3" name="Text 1"/>
          <p:cNvSpPr txBox="1"/>
          <p:nvPr/>
        </p:nvSpPr>
        <p:spPr>
          <a:xfrm>
            <a:off x="548640" y="2697480"/>
            <a:ext cx="11094415" cy="640080"/>
          </a:xfrm>
          <a:prstGeom prst="rect">
            <a:avLst/>
          </a:prstGeom>
          <a:noFill/>
          <a:ln/>
        </p:spPr>
        <p:txBody>
          <a:bodyPr wrap="square" lIns="0" tIns="0" rIns="0" bIns="0" rtlCol="0" anchor="t"/>
          <a:lstStyle/>
          <a:p>
            <a:pPr rtl="1" algn="ctr" indent="0" marL="0">
              <a:buNone/>
            </a:pPr>
            <a:r>
              <a:rPr lang="ar-SA" altLang="en-US" sz="2600" dirty="0">
                <a:solidFill>
                  <a:schemeClr val="accent2"/>
                </a:solidFill>
                <a:latin typeface="IBM Plex Sans Arabic" pitchFamily="34" charset="0"/>
                <a:ea typeface="IBM Plex Sans Arabic" pitchFamily="34" charset="-122"/>
                <a:cs typeface="IBM Plex Sans Arabic" pitchFamily="34" charset="-120"/>
              </a:rPr>
              <a:t>شريك تدريب يستمع إليك، والكلمة الأخيرة للمعلّم المُجاز</a:t>
            </a:r>
            <a:endParaRPr lang="ar-SA" sz="2600" dirty="0"/>
          </a:p>
        </p:txBody>
      </p:sp>
      <p:sp>
        <p:nvSpPr>
          <p:cNvPr id="4" name="Text 2"/>
          <p:cNvSpPr txBox="1"/>
          <p:nvPr/>
        </p:nvSpPr>
        <p:spPr>
          <a:xfrm>
            <a:off x="548640" y="3383280"/>
            <a:ext cx="1109441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latin typeface="IBM Plex Sans Arabic" pitchFamily="34" charset="0"/>
                <a:ea typeface="IBM Plex Sans Arabic" pitchFamily="34" charset="-122"/>
                <a:cs typeface="IBM Plex Sans Arabic" pitchFamily="34" charset="-120"/>
              </a:rPr>
              <a:t>جرّبوه الآن: نتلو أمامكم وتتابعون الكلمات وهي تتلوّن</a:t>
            </a:r>
            <a:endParaRPr lang="ar-SA" sz="1800" dirty="0"/>
          </a:p>
        </p:txBody>
      </p:sp>
      <p:sp>
        <p:nvSpPr>
          <p:cNvPr id="5" name="Word chip ok"/>
          <p:cNvSpPr/>
          <p:nvPr/>
        </p:nvSpPr>
        <p:spPr>
          <a:xfrm>
            <a:off x="6556248" y="4160520"/>
            <a:ext cx="1463040" cy="566928"/>
          </a:xfrm>
          <a:prstGeom prst="roundRect">
            <a:avLst>
              <a:gd name="adj" fmla="val 16129"/>
            </a:avLst>
          </a:prstGeom>
          <a:solidFill>
            <a:schemeClr val="accent4"/>
          </a:solidFill>
          <a:ln/>
        </p:spPr>
        <p:txBody>
          <a:bodyPr wrap="square" lIns="0" tIns="0" rIns="0" bIns="0" rtlCol="0" anchor="ctr"/>
          <a:lstStyle/>
          <a:p>
            <a:pPr rtl="1" algn="ctr" indent="0" marL="0">
              <a:buNone/>
            </a:pPr>
            <a:r>
              <a:rPr lang="ar-SA" altLang="en-US" sz="2000" dirty="0">
                <a:solidFill>
                  <a:srgbClr val="23563B"/>
                </a:solidFill>
                <a:latin typeface="Amiri" pitchFamily="34" charset="0"/>
                <a:ea typeface="Amiri" pitchFamily="34" charset="-122"/>
                <a:cs typeface="Amiri" pitchFamily="34" charset="-120"/>
              </a:rPr>
              <a:t>قُلْ هُوَ</a:t>
            </a:r>
            <a:endParaRPr lang="ar-SA" sz="2000" dirty="0"/>
          </a:p>
        </p:txBody>
      </p:sp>
      <p:sp>
        <p:nvSpPr>
          <p:cNvPr id="6" name="Word chip ok"/>
          <p:cNvSpPr/>
          <p:nvPr/>
        </p:nvSpPr>
        <p:spPr>
          <a:xfrm>
            <a:off x="5367528" y="4160520"/>
            <a:ext cx="1051560" cy="566928"/>
          </a:xfrm>
          <a:prstGeom prst="roundRect">
            <a:avLst>
              <a:gd name="adj" fmla="val 16129"/>
            </a:avLst>
          </a:prstGeom>
          <a:solidFill>
            <a:schemeClr val="accent4"/>
          </a:solidFill>
          <a:ln/>
        </p:spPr>
        <p:txBody>
          <a:bodyPr wrap="square" lIns="0" tIns="0" rIns="0" bIns="0" rtlCol="0" anchor="ctr"/>
          <a:lstStyle/>
          <a:p>
            <a:pPr rtl="1" algn="ctr" indent="0" marL="0">
              <a:buNone/>
            </a:pPr>
            <a:r>
              <a:rPr lang="ar-SA" altLang="en-US" sz="2000" dirty="0">
                <a:solidFill>
                  <a:srgbClr val="23563B"/>
                </a:solidFill>
                <a:latin typeface="Amiri" pitchFamily="34" charset="0"/>
                <a:ea typeface="Amiri" pitchFamily="34" charset="-122"/>
                <a:cs typeface="Amiri" pitchFamily="34" charset="-120"/>
              </a:rPr>
              <a:t>اَللَّهُ</a:t>
            </a:r>
            <a:endParaRPr lang="ar-SA" sz="2000" dirty="0"/>
          </a:p>
        </p:txBody>
      </p:sp>
      <p:sp>
        <p:nvSpPr>
          <p:cNvPr id="7" name="Word chip ok"/>
          <p:cNvSpPr/>
          <p:nvPr/>
        </p:nvSpPr>
        <p:spPr>
          <a:xfrm>
            <a:off x="4178808" y="4160520"/>
            <a:ext cx="1051560" cy="566928"/>
          </a:xfrm>
          <a:prstGeom prst="roundRect">
            <a:avLst>
              <a:gd name="adj" fmla="val 16129"/>
            </a:avLst>
          </a:prstGeom>
          <a:solidFill>
            <a:schemeClr val="accent4"/>
          </a:solidFill>
          <a:ln/>
        </p:spPr>
        <p:txBody>
          <a:bodyPr wrap="square" lIns="0" tIns="0" rIns="0" bIns="0" rtlCol="0" anchor="ctr"/>
          <a:lstStyle/>
          <a:p>
            <a:pPr rtl="1" algn="ctr" indent="0" marL="0">
              <a:buNone/>
            </a:pPr>
            <a:r>
              <a:rPr lang="ar-SA" altLang="en-US" sz="2000" dirty="0">
                <a:solidFill>
                  <a:srgbClr val="23563B"/>
                </a:solidFill>
                <a:latin typeface="Amiri" pitchFamily="34" charset="0"/>
                <a:ea typeface="Amiri" pitchFamily="34" charset="-122"/>
                <a:cs typeface="Amiri" pitchFamily="34" charset="-120"/>
              </a:rPr>
              <a:t>أَحَدٌ</a:t>
            </a:r>
            <a:endParaRPr lang="ar-SA" sz="2000" dirty="0"/>
          </a:p>
        </p:txBody>
      </p:sp>
      <p:sp>
        <p:nvSpPr>
          <p:cNvPr id="8" name="Text 6"/>
          <p:cNvSpPr txBox="1"/>
          <p:nvPr/>
        </p:nvSpPr>
        <p:spPr>
          <a:xfrm>
            <a:off x="548640" y="5257800"/>
            <a:ext cx="11094415" cy="365760"/>
          </a:xfrm>
          <a:prstGeom prst="rect">
            <a:avLst/>
          </a:prstGeom>
          <a:noFill/>
          <a:ln/>
        </p:spPr>
        <p:txBody>
          <a:bodyPr wrap="square" lIns="0" tIns="0" rIns="0" bIns="0" rtlCol="0" anchor="t"/>
          <a:lstStyle/>
          <a:p>
            <a:pPr rtl="1" algn="ctr" indent="0" marL="0">
              <a:buNone/>
            </a:pPr>
            <a:r>
              <a:rPr lang="ar-SA" altLang="en-US" sz="1500" dirty="0">
                <a:solidFill>
                  <a:schemeClr val="bg1"/>
                </a:solidFill>
                <a:latin typeface="IBM Plex Sans Arabic" pitchFamily="34" charset="0"/>
                <a:ea typeface="IBM Plex Sans Arabic" pitchFamily="34" charset="-122"/>
                <a:cs typeface="IBM Plex Sans Arabic" pitchFamily="34" charset="-120"/>
              </a:rPr>
              <a:t>[اسم الفريق] · أبوبكر ناجي · بدر · طه</a:t>
            </a:r>
            <a:endParaRPr lang="ar-SA" sz="1500" dirty="0"/>
          </a:p>
        </p:txBody>
      </p:sp>
      <p:sp>
        <p:nvSpPr>
          <p:cNvPr id="9" name="Text 7"/>
          <p:cNvSpPr txBox="1"/>
          <p:nvPr/>
        </p:nvSpPr>
        <p:spPr>
          <a:xfrm>
            <a:off x="548640" y="5669280"/>
            <a:ext cx="11094415" cy="365760"/>
          </a:xfrm>
          <a:prstGeom prst="rect">
            <a:avLst/>
          </a:prstGeom>
          <a:noFill/>
          <a:ln/>
        </p:spPr>
        <p:txBody>
          <a:bodyPr wrap="square" lIns="0" tIns="0" rIns="0" bIns="0" rtlCol="0" anchor="t"/>
          <a:lstStyle/>
          <a:p>
            <a:pPr rtl="1" algn="ctr" indent="0" marL="0">
              <a:buNone/>
            </a:pPr>
            <a:r>
              <a:rPr lang="ar-SA" altLang="en-US" sz="1300" dirty="0">
                <a:solidFill>
                  <a:srgbClr val="A9BDB2"/>
                </a:solidFill>
                <a:latin typeface="IBM Plex Sans Arabic" pitchFamily="34" charset="0"/>
                <a:ea typeface="IBM Plex Sans Arabic" pitchFamily="34" charset="-122"/>
                <a:cs typeface="IBM Plex Sans Arabic" pitchFamily="34" charset="-120"/>
              </a:rPr>
              <a:t>[رابط العرض التجريبي أو وسيلة التواصل]</a:t>
            </a:r>
            <a:endParaRPr lang="ar-SA" sz="1300" dirty="0"/>
          </a:p>
        </p:txBody>
      </p:sp>
      <p:sp>
        <p:nvSpPr>
          <p:cNvPr id="25" name="Slide Number Placeholder 0"/>
          <p:cNvSpPr>
            <a:spLocks noGrp="1"/>
          </p:cNvSpPr>
          <p:nvPr>
            <p:ph type="sldNum" sz="quarter" idx="4294967295"/>
          </p:nvPr>
        </p:nvSpPr>
        <p:spPr>
          <a:xfrm>
            <a:off x="5486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DB2"/>
                </a:solidFill>
                <a:latin typeface="IBM Plex Sans Arabic"/>
                <a:ea typeface="IBM Plex Sans Arabic"/>
                <a:cs typeface="IBM Plex Sans Arabic"/>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Rattil">
  <a:themeElements>
    <a:clrScheme name="Rattil">
      <a:dk1>
        <a:srgbClr val="1F332A"/>
      </a:dk1>
      <a:lt1>
        <a:srgbClr val="FFFFFF"/>
      </a:lt1>
      <a:dk2>
        <a:srgbClr val="164937"/>
      </a:dk2>
      <a:lt2>
        <a:srgbClr val="F3F7F1"/>
      </a:lt2>
      <a:accent1>
        <a:srgbClr val="17634B"/>
      </a:accent1>
      <a:accent2>
        <a:srgbClr val="B5A277"/>
      </a:accent2>
      <a:accent3>
        <a:srgbClr val="B96760"/>
      </a:accent3>
      <a:accent4>
        <a:srgbClr val="DCEDD7"/>
      </a:accent4>
      <a:accent5>
        <a:srgbClr val="F5DED7"/>
      </a:accent5>
      <a:accent6>
        <a:srgbClr val="7D8A80"/>
      </a:accent6>
      <a:hlink>
        <a:srgbClr val="17634B"/>
      </a:hlink>
      <a:folHlink>
        <a:srgbClr val="164937"/>
      </a:folHlink>
    </a:clrScheme>
    <a:fontScheme name="Rattil">
      <a:majorFont>
        <a:latin typeface="Ami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رتّل · Rattil</dc:title>
  <dc:subject>PptxGenJS Presentation</dc:subject>
  <dc:creator>Rattil team</dc:creator>
  <cp:lastModifiedBy>Rattil team</cp:lastModifiedBy>
  <cp:revision>1</cp:revision>
  <dcterms:created xsi:type="dcterms:W3CDTF">2026-10-06T01:13:20Z</dcterms:created>
  <dcterms:modified xsi:type="dcterms:W3CDTF">2026-10-06T01:13:20Z</dcterms:modified>
</cp:coreProperties>
</file>